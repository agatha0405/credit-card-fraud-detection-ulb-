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5a883bd420e43b0" /><Relationship Type="http://schemas.openxmlformats.org/officeDocument/2006/relationships/extended-properties" Target="/docProps/app.xml" Id="Rb9b68f6a53d04a05" /><Relationship Type="http://schemas.openxmlformats.org/officeDocument/2006/relationships/officeDocument" Target="/ppt/presentation.xml" Id="Rd8ec92d6ca14419c" /></Relationships>
</file>

<file path=ppt/presentation.xml><?xml version="1.0" encoding="utf-8"?>
<p:presentation xmlns:p="http://schemas.openxmlformats.org/presentationml/2006/main">
  <p:sldMasterIdLst>
    <p:sldMasterId xmlns:r="http://schemas.openxmlformats.org/officeDocument/2006/relationships" id="2147483648" r:id="R426c792e927b4318"/>
  </p:sldMasterIdLst>
  <p:notesMasterIdLst>
    <p:notesMasterId xmlns:r="http://schemas.openxmlformats.org/officeDocument/2006/relationships" r:id="R3fa19d1ffa3149f0"/>
  </p:notesMasterIdLst>
  <p:sldIdLst>
    <p:sldId xmlns:r="http://schemas.openxmlformats.org/officeDocument/2006/relationships" id="256" r:id="R1ba8f91fab9f4195"/>
    <p:sldId xmlns:r="http://schemas.openxmlformats.org/officeDocument/2006/relationships" id="257" r:id="R47d1412f0e4248f2"/>
    <p:sldId xmlns:r="http://schemas.openxmlformats.org/officeDocument/2006/relationships" id="258" r:id="R17373f0e6daa43b9"/>
    <p:sldId xmlns:r="http://schemas.openxmlformats.org/officeDocument/2006/relationships" id="259" r:id="R4f4a7177efe24325"/>
    <p:sldId xmlns:r="http://schemas.openxmlformats.org/officeDocument/2006/relationships" id="260" r:id="R2886cef854d64ac8"/>
    <p:sldId xmlns:r="http://schemas.openxmlformats.org/officeDocument/2006/relationships" id="261" r:id="R1593bf6382cc42e6"/>
    <p:sldId xmlns:r="http://schemas.openxmlformats.org/officeDocument/2006/relationships" id="262" r:id="Rf1d9588580e14d6d"/>
    <p:sldId xmlns:r="http://schemas.openxmlformats.org/officeDocument/2006/relationships" id="263" r:id="R51345b0ea1f6431d"/>
    <p:sldId xmlns:r="http://schemas.openxmlformats.org/officeDocument/2006/relationships" id="264" r:id="Rad23603fd20d4046"/>
    <p:sldId xmlns:r="http://schemas.openxmlformats.org/officeDocument/2006/relationships" id="265" r:id="Rca46cdbabdb742c2"/>
    <p:sldId xmlns:r="http://schemas.openxmlformats.org/officeDocument/2006/relationships" id="266" r:id="R0fec3265f81542a3"/>
    <p:sldId xmlns:r="http://schemas.openxmlformats.org/officeDocument/2006/relationships" id="267" r:id="R5beefad21ba74e32"/>
    <p:sldId xmlns:r="http://schemas.openxmlformats.org/officeDocument/2006/relationships" id="268" r:id="R443561d7a7324bf3"/>
    <p:sldId xmlns:r="http://schemas.openxmlformats.org/officeDocument/2006/relationships" id="269" r:id="Rc0dac18fd7614a25"/>
    <p:sldId xmlns:r="http://schemas.openxmlformats.org/officeDocument/2006/relationships" id="270" r:id="R068f6d7df656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994052dc174ec3" /><Relationship Type="http://schemas.openxmlformats.org/officeDocument/2006/relationships/slideMaster" Target="/ppt/slideMasters/slideMaster1.xml" Id="R426c792e927b4318" /><Relationship Type="http://schemas.openxmlformats.org/officeDocument/2006/relationships/notesMaster" Target="/ppt/notesMasters/notesMaster1.xml" Id="R3fa19d1ffa3149f0" /><Relationship Type="http://schemas.openxmlformats.org/officeDocument/2006/relationships/presProps" Target="/ppt/presProps.xml" Id="R69b27c38cf024135" /><Relationship Type="http://schemas.openxmlformats.org/officeDocument/2006/relationships/tableStyles" Target="/ppt/tableStyles.xml" Id="R4e5cecee86074ed5" /><Relationship Type="http://schemas.openxmlformats.org/officeDocument/2006/relationships/slide" Target="/ppt/slides/slide1.xml" Id="R1ba8f91fab9f4195" /><Relationship Type="http://schemas.openxmlformats.org/officeDocument/2006/relationships/slide" Target="/ppt/slides/slide2.xml" Id="R47d1412f0e4248f2" /><Relationship Type="http://schemas.openxmlformats.org/officeDocument/2006/relationships/slide" Target="/ppt/slides/slide3.xml" Id="R17373f0e6daa43b9" /><Relationship Type="http://schemas.openxmlformats.org/officeDocument/2006/relationships/slide" Target="/ppt/slides/slide4.xml" Id="R4f4a7177efe24325" /><Relationship Type="http://schemas.openxmlformats.org/officeDocument/2006/relationships/slide" Target="/ppt/slides/slide5.xml" Id="R2886cef854d64ac8" /><Relationship Type="http://schemas.openxmlformats.org/officeDocument/2006/relationships/slide" Target="/ppt/slides/slide6.xml" Id="R1593bf6382cc42e6" /><Relationship Type="http://schemas.openxmlformats.org/officeDocument/2006/relationships/slide" Target="/ppt/slides/slide7.xml" Id="Rf1d9588580e14d6d" /><Relationship Type="http://schemas.openxmlformats.org/officeDocument/2006/relationships/slide" Target="/ppt/slides/slide8.xml" Id="R51345b0ea1f6431d" /><Relationship Type="http://schemas.openxmlformats.org/officeDocument/2006/relationships/slide" Target="/ppt/slides/slide9.xml" Id="Rad23603fd20d4046" /><Relationship Type="http://schemas.openxmlformats.org/officeDocument/2006/relationships/slide" Target="/ppt/slides/slide10.xml" Id="Rca46cdbabdb742c2" /><Relationship Type="http://schemas.openxmlformats.org/officeDocument/2006/relationships/slide" Target="/ppt/slides/slide11.xml" Id="R0fec3265f81542a3" /><Relationship Type="http://schemas.openxmlformats.org/officeDocument/2006/relationships/slide" Target="/ppt/slides/slide12.xml" Id="R5beefad21ba74e32" /><Relationship Type="http://schemas.openxmlformats.org/officeDocument/2006/relationships/slide" Target="/ppt/slides/slide13.xml" Id="R443561d7a7324bf3" /><Relationship Type="http://schemas.openxmlformats.org/officeDocument/2006/relationships/slide" Target="/ppt/slides/slide14.xml" Id="Rc0dac18fd7614a25" /><Relationship Type="http://schemas.openxmlformats.org/officeDocument/2006/relationships/slide" Target="/ppt/slides/slide15.xml" Id="R068f6d7df656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33f7c4d6b24a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75857bca934d0f" /><Relationship Type="http://schemas.openxmlformats.org/officeDocument/2006/relationships/notesMaster" Target="/ppt/notesMasters/notesMaster1.xml" Id="R656cf8c601c842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84f6ef423045c2" /><Relationship Type="http://schemas.openxmlformats.org/officeDocument/2006/relationships/notesMaster" Target="/ppt/notesMasters/notesMaster1.xml" Id="R96222f962df742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c6575825074882" /><Relationship Type="http://schemas.openxmlformats.org/officeDocument/2006/relationships/notesMaster" Target="/ppt/notesMasters/notesMaster1.xml" Id="R460dff42cb8542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5c81d680284d7f" /><Relationship Type="http://schemas.openxmlformats.org/officeDocument/2006/relationships/notesMaster" Target="/ppt/notesMasters/notesMaster1.xml" Id="R90281890e5dd43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9e821af614d57" /><Relationship Type="http://schemas.openxmlformats.org/officeDocument/2006/relationships/notesMaster" Target="/ppt/notesMasters/notesMaster1.xml" Id="R79424576ccf440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3ca025cde747d7" /><Relationship Type="http://schemas.openxmlformats.org/officeDocument/2006/relationships/notesMaster" Target="/ppt/notesMasters/notesMaster1.xml" Id="R198ca441a4b2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80865b024440bc" /><Relationship Type="http://schemas.openxmlformats.org/officeDocument/2006/relationships/notesMaster" Target="/ppt/notesMasters/notesMaster1.xml" Id="R2b1bcc226f814c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95105c3e5846b6" /><Relationship Type="http://schemas.openxmlformats.org/officeDocument/2006/relationships/notesMaster" Target="/ppt/notesMasters/notesMaster1.xml" Id="R60c416a88ff740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19615172984806" /><Relationship Type="http://schemas.openxmlformats.org/officeDocument/2006/relationships/notesMaster" Target="/ppt/notesMasters/notesMaster1.xml" Id="Rdea9ca44cc744a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b1d1bab6b44d9b" /><Relationship Type="http://schemas.openxmlformats.org/officeDocument/2006/relationships/notesMaster" Target="/ppt/notesMasters/notesMaster1.xml" Id="Rebdf1a78a42748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1f95e1aca406b" /><Relationship Type="http://schemas.openxmlformats.org/officeDocument/2006/relationships/notesMaster" Target="/ppt/notesMasters/notesMaster1.xml" Id="R78cface8e1e44c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1616e0d1f2444a" /><Relationship Type="http://schemas.openxmlformats.org/officeDocument/2006/relationships/notesMaster" Target="/ppt/notesMasters/notesMaster1.xml" Id="Re8e987345fe045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377ca23a3c4176" /><Relationship Type="http://schemas.openxmlformats.org/officeDocument/2006/relationships/notesMaster" Target="/ppt/notesMasters/notesMaster1.xml" Id="R53b2ed7753f147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7d66c5e98443b3" /><Relationship Type="http://schemas.openxmlformats.org/officeDocument/2006/relationships/notesMaster" Target="/ppt/notesMasters/notesMaster1.xml" Id="R292ee5e0dd6045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b25a7ce7214470" /><Relationship Type="http://schemas.openxmlformats.org/officeDocument/2006/relationships/notesMaster" Target="/ppt/notesMasters/notesMaster1.xml" Id="R51df0eb5d66d4f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40 giây.</a:t>
            </a:r>
          </a:p>
          <a:p xmlns:a="http://schemas.openxmlformats.org/drawingml/2006/main">
            <a:r>
              <a:t/>
            </a:r>
          </a:p>
          <a:p xmlns:a="http://schemas.openxmlformats.org/drawingml/2006/main">
            <a:r>
              <a:t>Kính chào thầy và các bạn. Nhóm 6 trình bày project phát hiện gian lận giao dịch thẻ tín dụng bằng Machine Learning. Nhóm đã hoàn thành từ phân tích dữ liệu đến ứng dụng Streamlit. Bài trình bày tập trung vào quy trình và kết quả thực nghiệm trong project. Hai người thuyết trình có thể tự điền tên phân công: người 1 phụ trách slide 1–8, người 2 phụ trách slide 9–15.</a:t>
            </a:r>
          </a:p>
          <a:p xmlns:a="http://schemas.openxmlformats.org/drawingml/2006/main">
            <a:r>
              <a:t/>
            </a:r>
          </a:p>
          <a:p xmlns:a="http://schemas.openxmlformats.org/drawingml/2006/main">
            <a:r>
              <a:t>Nguồn: Thuyết trình/req.txt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Vấn đề không chỉ là dự đoán đúng đa số giao dịch. Tập dữ liệu có rất ít giao dịch gian lận nên mô hình có thể đạt accuracy cao mà vẫn bỏ sót nhiều ca quan trọng. Hệ thống của nhóm trả về điểm dự đoán và cảnh báo để hỗ trợ kiểm tra, không khẳng định chắc chắn một giao dịch là gian lận. Sơ đồ bên phải chỉ minh họa luồng xử lý.</a:t>
            </a:r>
          </a:p>
          <a:p xmlns:a="http://schemas.openxmlformats.org/drawingml/2006/main">
            <a:r>
              <a:t/>
            </a:r>
          </a:p>
          <a:p xmlns:a="http://schemas.openxmlformats.org/drawingml/2006/main">
            <a:r>
              <a:t>Nguồn: README.md; notebooks/01_eda.ipynb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Project đi theo sáu bước trên sơ đồ. EDA giúp nhóm hiểu mất cân bằng, tiền xử lý tạo một phân hoạch dùng chung, huấn luyện lựa chọn cấu hình bằng validation, đánh giá cuối chỉ thực hiện khi đã chốt mô hình và ngưỡng. Streamlit nạp các file đã lưu để dự đoán, hoàn toàn không huấn luyện lại.</a:t>
            </a:r>
          </a:p>
          <a:p xmlns:a="http://schemas.openxmlformats.org/drawingml/2006/main">
            <a:r>
              <a:t/>
            </a:r>
          </a:p>
          <a:p xmlns:a="http://schemas.openxmlformats.org/drawingml/2006/main">
            <a:r>
              <a:t>Nguồn: notebooks/01_eda.ipynb; notebooks/02_preprocessing.ipynb; notebooks/03_model_training.ipynb; notebooks/04_model_evaluation.ipynb; 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Các số liệu bên trái là trước khi loại bản sao trùng. CSV có 31 cột: 30 đầu vào và nhãn Class. V1 đến V28 là các thành phần đã biến đổi PCA theo mô tả dataset ULB, không phải nhóm tự chạy PCA trong project. Time và Amount còn giữ ý nghĩa thời gian trôi qua và giá trị giao dịch. Không suy diễn Time thành giờ trong ngày.</a:t>
            </a:r>
          </a:p>
          <a:p xmlns:a="http://schemas.openxmlformats.org/drawingml/2006/main">
            <a:r>
              <a:t/>
            </a:r>
          </a:p>
          <a:p xmlns:a="http://schemas.openxmlformats.org/drawingml/2006/main">
            <a:r>
              <a:t>Nguồn: notebooks/01_eda.ipynb; https://www.kaggle.com/datasets/mlg-ulb/creditcardfraud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Biểu đồ bên trái dùng thang log để nhìn rõ lớp thiểu số, không làm thay đổi số lượng. Chỉ có 492 ca gian lận trong gần 285 nghìn giao dịch. Histogram bên phải là log1p Amount nhằm quan sát các khoản tiền nhỏ rõ hơn. EDA không loại giao dịch giá trị lớn chỉ vì bất thường. Kết quả khác: không có ô thiếu, có 1.081 bản sao, khoảng quan sát gần 48 giờ, skewness Amount khoảng 16,98.</a:t>
            </a:r>
          </a:p>
          <a:p xmlns:a="http://schemas.openxmlformats.org/drawingml/2006/main">
            <a:r>
              <a:t/>
            </a:r>
          </a:p>
          <a:p xmlns:a="http://schemas.openxmlformats.org/drawingml/2006/main">
            <a:r>
              <a:t>Nguồn: reports/figures/01_class_distribution.png; reports/figures/02_amount_distribution.png; notebooks/01_eda.ipynb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Nhóm bỏ các bản sao trùng hoàn toàn trên 31 cột, giữ lần xuất hiện đầu. Trong 1.081 bản sao có 1.062 thuộc Class 0 và 19 thuộc Class 1. Việc bỏ bản sao trước khi chia giúp tránh giao dịch giống hệt nhau lọt vào hai tập. Bộ dữ liệu còn 283.726 dòng. Giai đoạn 2 tạo cả file raw và file chuẩn hóa Time/Amount; giai đoạn 3 dùng raw rồi fit scaler trong Pipeline chỉ trên training subset của Logistic Regression. Hai mô hình cây không cần scaler. Không dùng SMOTE trong các thử nghiệm này.</a:t>
            </a:r>
          </a:p>
          <a:p xmlns:a="http://schemas.openxmlformats.org/drawingml/2006/main">
            <a:r>
              <a:t/>
            </a:r>
          </a:p>
          <a:p xmlns:a="http://schemas.openxmlformats.org/drawingml/2006/main">
            <a:r>
              <a:t>Nguồn: notebooks/02_preprocessing.ipynb; notebooks/03_model_training.ipynb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Logistic Regression là mô hình tuyến tính dùng làm baseline dễ giải thích. Random Forest trung bình xác suất từ nhiều cây, giúp học tương tác phi tuyến và giảm biến động so với một cây riêng lẻ. XGBoost thêm cây theo hướng giảm hàm mất mát bằng boosting. Việc chọn ba mô hình nhằm so sánh những cách tiếp cận khác nhau trên cùng dữ liệu. Thông số đầy đủ của mỗi candidate nằm trong báo cáo training metadata.</a:t>
            </a:r>
          </a:p>
          <a:p xmlns:a="http://schemas.openxmlformats.org/drawingml/2006/main">
            <a:r>
              <a:t/>
            </a:r>
          </a:p>
          <a:p xmlns:a="http://schemas.openxmlformats.org/drawingml/2006/main">
            <a:r>
              <a:t>Nguồn: notebooks/03_model_training.ipynb; https://scikit-learn.org/stable/modules/linear_model.html#logistic-regression; https://scikit-learn.org/stable/modules/ensemble.html#forest; https://xgboost.readthedocs.io/en/stable/tutorials/model.html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1. Thời lượng gợi ý: 60 giây.</a:t>
            </a:r>
          </a:p>
          <a:p xmlns:a="http://schemas.openxmlformats.org/drawingml/2006/main">
            <a:r>
              <a:t/>
            </a:r>
          </a:p>
          <a:p xmlns:a="http://schemas.openxmlformats.org/drawingml/2006/main">
            <a:r>
              <a:t>Các sơ đồ minh họa nguyên lý, không phải kết quả mô phỏng. LR kết hợp đặc trưng bằng một hàm tuyến tính rồi chuyển thành xác suất. RF huấn luyện nhiều cây trên các mẫu bootstrap và chọn ngẫu nhiên đặc trưng; dự đoán là trung bình xác suất của các cây. XGBoost bổ sung cây tuần tự nhằm giảm hàm mất mát, khác với cơ chế trung bình các cây của RF. Chuyển lời cho người thuyết trình 2: từ nguyên lý, phần tiếp theo trình bày cách huấn luyện và kết quả thực tế.</a:t>
            </a:r>
          </a:p>
          <a:p xmlns:a="http://schemas.openxmlformats.org/drawingml/2006/main">
            <a:r>
              <a:t/>
            </a:r>
          </a:p>
          <a:p xmlns:a="http://schemas.openxmlformats.org/drawingml/2006/main">
            <a:r>
              <a:t>Nguồn: notebooks/03_model_training.ipynb; https://scikit-learn.org/stable/modules/ensemble.html; https://xgboost.readthedocs.io/en/stable/tutorials/model.html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Tôi tiếp nối phần trình bày với thiết lập thực nghiệm. Validation được lấy từ train, không dùng tập test. Logistic Regression và Random Forest dùng class_weight balanced. XGBoost dùng scale_pos_weight bằng số Class 0 chia Class 1 của training subset, giá trị khoảng 600,2715. Nhóm thử thêm đúng một cấu hình cho mỗi thuật toán, tổng sáu cấu hình. Ở giai đoạn này mọi cấu hình dùng ngưỡng 0,5; AP xếp hạng cấu hình, đồng thời theo dõi Precision, Recall và F1.</a:t>
            </a:r>
          </a:p>
          <a:p xmlns:a="http://schemas.openxmlformats.org/drawingml/2006/main">
            <a:r>
              <a:t/>
            </a:r>
          </a:p>
          <a:p xmlns:a="http://schemas.openxmlformats.org/drawingml/2006/main">
            <a:r>
              <a:t>Nguồn: notebooks/03_model_training.ipynb; reports/training_metadata.json; reports/validation_results.csv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Bảng chỉ dùng kết quả validation, không trộn test. Mỗi dòng là cấu hình được chọn của một loại mô hình sau sáu thử nghiệm: lr_c1, rf_leaf2 và xgb_depth4. Random Forest có AP 0,8778, cao nhất trong các cấu hình đã thử. LR có Recall cao nhưng Precision ở ngưỡng 0,5 thấp, tạo nhiều cảnh báo nhầm. AP tính từ xác suất trên toàn bộ đường Precision–Recall, khác với F1 gắn với một ngưỡng cụ thể.</a:t>
            </a:r>
          </a:p>
          <a:p xmlns:a="http://schemas.openxmlformats.org/drawingml/2006/main">
            <a:r>
              <a:t/>
            </a:r>
          </a:p>
          <a:p xmlns:a="http://schemas.openxmlformats.org/drawingml/2006/main">
            <a:r>
              <a:t>Nguồn: reports/best_validation_by_model.csv; reports/validation_results.csv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Random Forest được chọn từ AP validation ở giai đoạn 3. Giai đoạn 4 tải đúng candidate rồi thử ngưỡng từ 0,05 đến 0,95, bước 0,01. Ngưỡng 0,37 đạt F1 validation cao nhất là 0,8966. Nếu nhiều ngưỡng hòa, chọn gần 0,5 nhất, sau đó ngưỡng nhỏ hơn nếu vẫn hòa. Các quyết định đều hoàn tất trước khi đọc test. Nhóm refit cùng bộ tham số RF trên toàn bộ train. Accuracy không phải tiêu chí chính vì dự đoán mọi giao dịch bình thường cũng đạt accuracy rất cao trên dữ liệu mất cân bằng.</a:t>
            </a:r>
          </a:p>
          <a:p xmlns:a="http://schemas.openxmlformats.org/drawingml/2006/main">
            <a:r>
              <a:t/>
            </a:r>
          </a:p>
          <a:p xmlns:a="http://schemas.openxmlformats.org/drawingml/2006/main">
            <a:r>
              <a:t>Nguồn: reports/validation_threshold_metrics.csv; reports/validation_threshold_search.csv; reports/evaluation_metadata.json; reports/figures/04_validation_thresholds.png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100 giây.</a:t>
            </a:r>
          </a:p>
          <a:p xmlns:a="http://schemas.openxmlformats.org/drawingml/2006/main">
            <a:r>
              <a:t/>
            </a:r>
          </a:p>
          <a:p xmlns:a="http://schemas.openxmlformats.org/drawingml/2006/main">
            <a:r>
              <a:t>Đây là đánh giá cuối trên 56.746 giao dịch test, gồm 95 ca gian lận. Ở ngưỡng 0,37, mô hình phát hiện đúng 70 ca, bỏ sót 25 ca và cảnh báo nhầm 3 giao dịch bình thường. Precision 0,9589 cho biết phần lớn cảnh báo là đúng, nhưng Recall 0,7368 cho thấy vẫn bỏ sót hơn một phần tư số ca gian lận. F1 là 0,8333, AP 0,8128, ROC-AUC 0,9293. Accuracy là 0,9995 nhưng không phản ánh đầy đủ vấn đề bỏ sót. Hai đường cong được dựng thành chart chỉnh sửa được từ xác suất thật trong test_predictions.csv. So với ngưỡng 0,5 trên test, ngưỡng đã chọn phát hiện thêm 1 ca và tăng thêm 1 cảnh báo nhầm. Không dùng kết quả này để thay đổi ngưỡng. Validation dùng candidate training subset còn test dùng mô hình refit, nên việc đối chiếu chỉ mang tính tham khảo.</a:t>
            </a:r>
          </a:p>
          <a:p xmlns:a="http://schemas.openxmlformats.org/drawingml/2006/main">
            <a:r>
              <a:t/>
            </a:r>
          </a:p>
          <a:p xmlns:a="http://schemas.openxmlformats.org/drawingml/2006/main">
            <a:r>
              <a:t>Nguồn: reports/test_metrics.csv; reports/test_predictions.csv; reports/validation_test_comparison.csv; notebooks/04_model_evaluation.ipynb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Ứng dụng đã hoàn thành và có thể chạy cục bộ bằng Streamlit. Ảnh là giao diện thật, không phải mockup. Khi demo trực tiếp: chọn Dùng dữ liệu demo, nhấn Phân tích giao dịch, chỉ ra tổng số dòng, số cảnh báo, lọc nhóm Nghi gian lận và tải CSV kết quả. Mẫu có 10 giao dịch mỗi lớp nên tỷ lệ cảnh báo không phản ánh tỷ lệ gian lận của dataset. Ứng dụng cache model, chỉ xử lý trong bộ nhớ phiên và dùng predict_proba với ngưỡng JSON. Bộ kiểm thử hiện có 21 ca đã đạt. Trước buổi bảo vệ, mở server và thử trước CSV demo.</a:t>
            </a:r>
          </a:p>
          <a:p xmlns:a="http://schemas.openxmlformats.org/drawingml/2006/main">
            <a:r>
              <a:t/>
            </a:r>
          </a:p>
          <a:p xmlns:a="http://schemas.openxmlformats.org/drawingml/2006/main">
            <a:r>
              <a:t>Nguồn: app.py; tests/test_app.py; data/demo_transactions.csv; C:/Users/thanh/.codex/visualizations/2026/10/24/01a16d09-f98a-7cf2-bd5f-42cfccc9b423/streamlit-dashboard.png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Hạn chế quan trọng nhất là số ca gian lận ít và mô hình còn bỏ sót 25 ca trên test. Các đặc trưng PCA khó diễn giải thành nguyên nhân nghiệp vụ. Random stratified split kiểm soát tỷ lệ lớp nhưng chưa kiểm chứng được tình huống triển khai theo thời gian hoặc dữ liệu thay đổi. Hướng phát triển là thử các cách cân bằng chỉ trên train, chọn ngưỡng theo chi phí thực tế, kiểm thử dữ liệu mới và bổ sung giải thích mô hình. Không tiếp tục tinh chỉnh dựa trên test đã xem; cần bộ kiểm chứng mới khi phát triển tiếp.</a:t>
            </a:r>
          </a:p>
          <a:p xmlns:a="http://schemas.openxmlformats.org/drawingml/2006/main">
            <a:r>
              <a:t/>
            </a:r>
          </a:p>
          <a:p xmlns:a="http://schemas.openxmlformats.org/drawingml/2006/main">
            <a:r>
              <a:t>Nguồn: notebooks/04_model_evaluation.ipynb; reports/test_metrics.csv; reports/evaluation_metadata.json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thuyết trình 2. Thời lượng gợi ý: 60 giây.</a:t>
            </a:r>
          </a:p>
          <a:p xmlns:a="http://schemas.openxmlformats.org/drawingml/2006/main">
            <a:r>
              <a:t/>
            </a:r>
          </a:p>
          <a:p xmlns:a="http://schemas.openxmlformats.org/drawingml/2006/main">
            <a:r>
              <a:t>Nhóm đã hoàn thành toàn bộ quy trình từ dữ liệu đến ứng dụng. Kết quả cho thấy mô hình có thể hỗ trợ sàng lọc cảnh báo với Precision cao, nhưng vẫn cần cải thiện việc phát hiện các ca bị bỏ sót. Hệ thống nên được xem là công cụ hỗ trợ kiểm tra. Xin cảm ơn thầy và các bạn đã lắng nghe. Cả hai người thuyết trình có thể cùng tham gia phần hỏi đáp, đặc biệt các câu hỏi về leakage, chọn threshold và ý nghĩa AP so với accuracy.</a:t>
            </a:r>
          </a:p>
          <a:p xmlns:a="http://schemas.openxmlformats.org/drawingml/2006/main">
            <a:r>
              <a:t/>
            </a:r>
          </a:p>
          <a:p xmlns:a="http://schemas.openxmlformats.org/drawingml/2006/main">
            <a:r>
              <a:t>Nguồn: notebooks/01_eda.ipynb; notebooks/02_preprocessing.ipynb; notebooks/03_model_training.ipynb; notebooks/04_model_evaluation.ipynb; 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cf5ab3c4ea4e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c4219d6bd342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098432212147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d9d873a5d44b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fb508a52d74f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76c89e61c344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3BBF0D-2380-48F4-8011-E53BB2C439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AC67BC-B619-46B5-88E8-34B6BF154E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9391F9F-47C1-4F87-B9BA-3FFDAB4A40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0DBDD-C9DB-4CD7-A254-CD007E750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1F7BEE-3BAE-4F0C-A88E-71DE2FA673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7F6106-E45D-4596-848E-A85881F413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F760D5-A87A-4E97-9822-EBFFE6601C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A830DA-C9DA-4DB8-BE73-3AFA53F8FC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C2E470-5BCF-40A5-B0C8-990F581EC4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4A1E08-6E10-433B-B448-4320C0E67C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963a144e5e4446" /><Relationship Type="http://schemas.openxmlformats.org/officeDocument/2006/relationships/slideLayout" Target="/ppt/slideLayouts/slideLayout1.xml" Id="R782868ea94e94d72" /><Relationship Type="http://schemas.openxmlformats.org/officeDocument/2006/relationships/slideLayout" Target="/ppt/slideLayouts/slideLayout2.xml" Id="R14a3156e8cc84e08" /><Relationship Type="http://schemas.openxmlformats.org/officeDocument/2006/relationships/slideLayout" Target="/ppt/slideLayouts/slideLayout3.xml" Id="R74c7272588b341b3" /><Relationship Type="http://schemas.openxmlformats.org/officeDocument/2006/relationships/slideLayout" Target="/ppt/slideLayouts/slideLayout4.xml" Id="R0c2536291ea64ab2" /><Relationship Type="http://schemas.openxmlformats.org/officeDocument/2006/relationships/slideLayout" Target="/ppt/slideLayouts/slideLayout5.xml" Id="R7c6de321bae84abf" /><Relationship Type="http://schemas.openxmlformats.org/officeDocument/2006/relationships/slideLayout" Target="/ppt/slideLayouts/slideLayout6.xml" Id="R40045ccf77f94b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868ea94e94d72"/>
    <p:sldLayoutId xmlns:r="http://schemas.openxmlformats.org/officeDocument/2006/relationships" id="2147483650" r:id="R14a3156e8cc84e08"/>
    <p:sldLayoutId xmlns:r="http://schemas.openxmlformats.org/officeDocument/2006/relationships" id="2147483651" r:id="R74c7272588b341b3"/>
    <p:sldLayoutId xmlns:r="http://schemas.openxmlformats.org/officeDocument/2006/relationships" id="2147483652" r:id="R0c2536291ea64ab2"/>
    <p:sldLayoutId xmlns:r="http://schemas.openxmlformats.org/officeDocument/2006/relationships" id="2147483653" r:id="R7c6de321bae84abf"/>
    <p:sldLayoutId xmlns:r="http://schemas.openxmlformats.org/officeDocument/2006/relationships" id="2147483654" r:id="R40045ccf77f94b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5a520061ba4119" /><Relationship Type="http://schemas.openxmlformats.org/officeDocument/2006/relationships/image" Target="/ppt/media/image.png" Id="R104e774bbf5f421f" /><Relationship Type="http://schemas.openxmlformats.org/officeDocument/2006/relationships/notesSlide" Target="/ppt/notesSlides/notesSlide1.xml" Id="R8d874325794b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17b03109284d68" /><Relationship Type="http://schemas.openxmlformats.org/officeDocument/2006/relationships/image" Target="/ppt/media/image2.png" Id="Rb7d22369b04a4ec7" /><Relationship Type="http://schemas.openxmlformats.org/officeDocument/2006/relationships/notesSlide" Target="/ppt/notesSlides/notesSlide2.xml" Id="Rdddc584d0c4142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2e915629de4417" /><Relationship Type="http://schemas.openxmlformats.org/officeDocument/2006/relationships/image" Target="/ppt/media/image3.png" Id="R7cc6510418854880" /><Relationship Type="http://schemas.openxmlformats.org/officeDocument/2006/relationships/notesSlide" Target="/ppt/notesSlides/notesSlide3.xml" Id="R7b5dd90e089a4d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ffd36f163f4938" /><Relationship Type="http://schemas.openxmlformats.org/officeDocument/2006/relationships/image" Target="/ppt/media/image4.png" Id="Rbdcb767ed65242af" /><Relationship Type="http://schemas.openxmlformats.org/officeDocument/2006/relationships/notesSlide" Target="/ppt/notesSlides/notesSlide4.xml" Id="R38caa115ec3b40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c80c70b7b149b0" /><Relationship Type="http://schemas.openxmlformats.org/officeDocument/2006/relationships/image" Target="/ppt/media/image5.png" Id="Rfb8e60f49ee94d3b" /><Relationship Type="http://schemas.openxmlformats.org/officeDocument/2006/relationships/image" Target="/ppt/media/image6.png" Id="R1fb8ad75a6c04191" /><Relationship Type="http://schemas.openxmlformats.org/officeDocument/2006/relationships/image" Target="/ppt/media/image7.png" Id="Ra714730e23f84234" /><Relationship Type="http://schemas.openxmlformats.org/officeDocument/2006/relationships/notesSlide" Target="/ppt/notesSlides/notesSlide5.xml" Id="Rc923c912f78048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812c5a1d0b4a52" /><Relationship Type="http://schemas.openxmlformats.org/officeDocument/2006/relationships/image" Target="/ppt/media/image8.png" Id="R3feb9a5834d746f6" /><Relationship Type="http://schemas.openxmlformats.org/officeDocument/2006/relationships/notesSlide" Target="/ppt/notesSlides/notesSlide6.xml" Id="Rc4eb053fa2714b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15564562b8474f" /><Relationship Type="http://schemas.openxmlformats.org/officeDocument/2006/relationships/image" Target="/ppt/media/image9.png" Id="R5afbc98c069b4140" /><Relationship Type="http://schemas.openxmlformats.org/officeDocument/2006/relationships/notesSlide" Target="/ppt/notesSlides/notesSlide7.xml" Id="Rd5208a8eb24e45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0c1c5403e44740" /><Relationship Type="http://schemas.openxmlformats.org/officeDocument/2006/relationships/image" Target="/ppt/media/image10.png" Id="Rf8b0224dd9d149bf" /><Relationship Type="http://schemas.openxmlformats.org/officeDocument/2006/relationships/notesSlide" Target="/ppt/notesSlides/notesSlide8.xml" Id="R6f8666391a5449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3cb1acd61034554" /><Relationship Type="http://schemas.openxmlformats.org/officeDocument/2006/relationships/image" Target="/ppt/media/image11.png" Id="R8d9d7243d3d64530" /><Relationship Type="http://schemas.openxmlformats.org/officeDocument/2006/relationships/notesSlide" Target="/ppt/notesSlides/notesSlide9.xml" Id="R585e3aa872af47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f8876c4d4b462c" /><Relationship Type="http://schemas.openxmlformats.org/officeDocument/2006/relationships/image" Target="/ppt/media/image12.png" Id="R22a902ac60534128" /><Relationship Type="http://schemas.openxmlformats.org/officeDocument/2006/relationships/chart" Target="/ppt/slides/charts/chart1.xml" Id="Rc6967c83c7fc46e5" /><Relationship Type="http://schemas.openxmlformats.org/officeDocument/2006/relationships/notesSlide" Target="/ppt/notesSlides/notesSlide10.xml" Id="R2c2e78d3922941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e8ad8e03494f9c" /><Relationship Type="http://schemas.openxmlformats.org/officeDocument/2006/relationships/image" Target="/ppt/media/image13.png" Id="R10526861c96f477b" /><Relationship Type="http://schemas.openxmlformats.org/officeDocument/2006/relationships/image" Target="/ppt/media/image14.png" Id="R177987fbf55e4d99" /><Relationship Type="http://schemas.openxmlformats.org/officeDocument/2006/relationships/notesSlide" Target="/ppt/notesSlides/notesSlide11.xml" Id="Red5fadc417ef4d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74c4d541004c82" /><Relationship Type="http://schemas.openxmlformats.org/officeDocument/2006/relationships/image" Target="/ppt/media/image15.png" Id="Rda63e3d87c0a4c1d" /><Relationship Type="http://schemas.openxmlformats.org/officeDocument/2006/relationships/chart" Target="/ppt/slides/charts/chart2.xml" Id="R8e6e1a0110c74edd" /><Relationship Type="http://schemas.openxmlformats.org/officeDocument/2006/relationships/chart" Target="/ppt/slides/charts/chart3.xml" Id="R9722e6c6259d4fd1" /><Relationship Type="http://schemas.openxmlformats.org/officeDocument/2006/relationships/notesSlide" Target="/ppt/notesSlides/notesSlide12.xml" Id="R518643e083e148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92e483747f451e" /><Relationship Type="http://schemas.openxmlformats.org/officeDocument/2006/relationships/image" Target="/ppt/media/image16.png" Id="R18d8fd2d9ee64c63" /><Relationship Type="http://schemas.openxmlformats.org/officeDocument/2006/relationships/image" Target="/ppt/media/image.jpeg" Id="R37ed380320514ae2" /><Relationship Type="http://schemas.openxmlformats.org/officeDocument/2006/relationships/notesSlide" Target="/ppt/notesSlides/notesSlide13.xml" Id="R204437387f6a40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b9a83b826a4835" /><Relationship Type="http://schemas.openxmlformats.org/officeDocument/2006/relationships/image" Target="/ppt/media/image17.png" Id="Ra0c1ce8b33294e8a" /><Relationship Type="http://schemas.openxmlformats.org/officeDocument/2006/relationships/notesSlide" Target="/ppt/notesSlides/notesSlide14.xml" Id="Reb21a2245c1244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5eb474d5866497c" /><Relationship Type="http://schemas.openxmlformats.org/officeDocument/2006/relationships/image" Target="/ppt/media/image18.png" Id="Rfaca6269bd8e4a5a" /><Relationship Type="http://schemas.openxmlformats.org/officeDocument/2006/relationships/notesSlide" Target="/ppt/notesSlides/notesSlide15.xml" Id="R04db31f4fbb942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Precision</c:v>
          </c:tx>
          <c:spPr>
            <a:solidFill xmlns:a="http://schemas.openxmlformats.org/drawingml/2006/main">
              <a:srgbClr val="3168CD"/>
            </a:solidFill>
          </c:spPr>
          <c:invertIfNegative val="0"/>
          <c:cat>
            <c:strRef>
              <c:f>'Chart Data'!$A$2:$A$4</c:f>
              <c:strCache>
                <c:ptCount val="3"/>
                <c:pt idx="0">
                  <c:v>Logistic Regression</c:v>
                </c:pt>
                <c:pt idx="1">
                  <c:v>Random Forest</c:v>
                </c:pt>
                <c:pt idx="2">
                  <c:v>XGBoost</c:v>
                </c:pt>
              </c:strCache>
            </c:strRef>
          </c:cat>
          <c:val>
            <c:numRef>
              <c:f>'Chart Data'!$B$2:$B$4</c:f>
              <c:numCache>
                <c:formatCode>General</c:formatCode>
                <c:ptCount val="3"/>
                <c:pt idx="0">
                  <c:v>0.81365298</c:v>
                </c:pt>
                <c:pt idx="1">
                  <c:v>0.87778112</c:v>
                </c:pt>
                <c:pt idx="2">
                  <c:v>0.86162408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500" b="1">
                  <a:solidFill>
                    <a:srgbClr val="113E7A"/>
                  </a:solidFill>
                  <a:latin typeface="Arial"/>
                  <a:ea typeface="Arial"/>
                  <a:cs typeface="Arial"/>
                </a:defRPr>
              </a:pPr>
            </a:p>
          </c:txPr>
          <c:dLblPos val="outEnd"/>
          <c:showLegendKey val="0"/>
          <c:showVal val="1"/>
          <c:showCatName val="0"/>
          <c:showSerName val="0"/>
          <c:showPercent val="0"/>
          <c:showBubbleSize val="0"/>
          <c:showLeaderLines val="0"/>
        </c:dLbls>
        <c:gapWidth val="1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4D9F0"/>
            </a:solidFill>
          </a:ln>
        </c:spPr>
        <c:txPr>
          <a:bodyPr xmlns:a="http://schemas.openxmlformats.org/drawingml/2006/main" anchorCtr="1"/>
          <a:lstStyle xmlns:a="http://schemas.openxmlformats.org/drawingml/2006/main"/>
          <a:p xmlns:a="http://schemas.openxmlformats.org/drawingml/2006/main">
            <a:pPr>
              <a:defRPr sz="1425">
                <a:solidFill>
                  <a:srgbClr val="0D2648"/>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7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718E"/>
                </a:solidFill>
                <a:latin typeface="Arial"/>
                <a:ea typeface="Arial"/>
                <a:cs typeface="Arial"/>
              </a:defRPr>
            </a:pPr>
          </a:p>
        </c:txPr>
        <c:crossAx val="48650112"/>
        <c:crossBetween val="between"/>
        <c:majorUnit val="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13E7A"/>
                </a:solidFill>
                <a:latin typeface="Arial"/>
                <a:ea typeface="Arial"/>
                <a:cs typeface="Arial"/>
              </a:rPr>
              <a:t>PR (AP=0,8128)</a:t>
            </a:r>
          </a:p>
        </c:rich>
      </c:tx>
      <c:overlay val="0"/>
      <c:txPr>
        <a:bodyPr xmlns:a="http://schemas.openxmlformats.org/drawingml/2006/main" anchorCtr="1"/>
        <a:lstStyle xmlns:a="http://schemas.openxmlformats.org/drawingml/2006/main"/>
        <a:p xmlns:a="http://schemas.openxmlformats.org/drawingml/2006/main">
          <a:pPr>
            <a:defRPr sz="1575" b="1">
              <a:solidFill>
                <a:srgbClr val="113E7A"/>
              </a:solidFill>
              <a:latin typeface="Arial"/>
              <a:ea typeface="Arial"/>
              <a:cs typeface="Arial"/>
            </a:defRPr>
          </a:pPr>
        </a:p>
      </c:txPr>
    </c:title>
    <c:plotArea>
      <c:scatterChart>
        <c:scatterStyle val="line"/>
        <c:varyColors val="0"/>
        <c:ser>
          <c:idx val="0"/>
          <c:order val="0"/>
          <c:tx>
            <c:v>Precision–Recall</c:v>
          </c:tx>
          <c:spPr>
            <a:solidFill xmlns:a="http://schemas.openxmlformats.org/drawingml/2006/main">
              <a:srgbClr val="3168CD"/>
            </a:solidFill>
            <a:ln xmlns:a="http://schemas.openxmlformats.org/drawingml/2006/main" w="19050">
              <a:solidFill>
                <a:srgbClr val="3168CD"/>
              </a:solidFill>
            </a:ln>
          </c:spPr>
          <c:xVal>
            <c:numRef>
              <c:f>'Chart Data'!$A$2:$A$96</c:f>
              <c:numCache>
                <c:formatCode>General</c:formatCode>
                <c:ptCount val="95"/>
                <c:pt idx="0">
                  <c:v>1</c:v>
                </c:pt>
                <c:pt idx="1">
                  <c:v>0.86315789</c:v>
                </c:pt>
                <c:pt idx="2">
                  <c:v>0.86315789</c:v>
                </c:pt>
                <c:pt idx="3">
                  <c:v>0.83157895</c:v>
                </c:pt>
                <c:pt idx="4">
                  <c:v>0.83157895</c:v>
                </c:pt>
                <c:pt idx="5">
                  <c:v>0.82105263</c:v>
                </c:pt>
                <c:pt idx="6">
                  <c:v>0.82105263</c:v>
                </c:pt>
                <c:pt idx="7">
                  <c:v>0.81052632</c:v>
                </c:pt>
                <c:pt idx="8">
                  <c:v>0.81052632</c:v>
                </c:pt>
                <c:pt idx="9">
                  <c:v>0.8</c:v>
                </c:pt>
                <c:pt idx="10">
                  <c:v>0.8</c:v>
                </c:pt>
                <c:pt idx="11">
                  <c:v>0.78947368</c:v>
                </c:pt>
                <c:pt idx="12">
                  <c:v>0.78947368</c:v>
                </c:pt>
                <c:pt idx="13">
                  <c:v>0.77894737</c:v>
                </c:pt>
                <c:pt idx="14">
                  <c:v>0.77894737</c:v>
                </c:pt>
                <c:pt idx="15">
                  <c:v>0.76842105</c:v>
                </c:pt>
                <c:pt idx="16">
                  <c:v>0.76842105</c:v>
                </c:pt>
                <c:pt idx="17">
                  <c:v>0.75789474</c:v>
                </c:pt>
                <c:pt idx="18">
                  <c:v>0.75789474</c:v>
                </c:pt>
                <c:pt idx="19">
                  <c:v>0.74736842</c:v>
                </c:pt>
                <c:pt idx="20">
                  <c:v>0.74736842</c:v>
                </c:pt>
                <c:pt idx="21">
                  <c:v>0.73684211</c:v>
                </c:pt>
                <c:pt idx="22">
                  <c:v>0.72631579</c:v>
                </c:pt>
                <c:pt idx="23">
                  <c:v>0.72631579</c:v>
                </c:pt>
                <c:pt idx="24">
                  <c:v>0.71578947</c:v>
                </c:pt>
                <c:pt idx="25">
                  <c:v>0.70526316</c:v>
                </c:pt>
                <c:pt idx="26">
                  <c:v>0.70526316</c:v>
                </c:pt>
                <c:pt idx="27">
                  <c:v>0.69473684</c:v>
                </c:pt>
                <c:pt idx="28">
                  <c:v>0.68421053</c:v>
                </c:pt>
                <c:pt idx="29">
                  <c:v>0.67368421</c:v>
                </c:pt>
                <c:pt idx="30">
                  <c:v>0.66315789</c:v>
                </c:pt>
                <c:pt idx="31">
                  <c:v>0.65263158</c:v>
                </c:pt>
                <c:pt idx="32">
                  <c:v>0.64210526</c:v>
                </c:pt>
                <c:pt idx="33">
                  <c:v>0.63157895</c:v>
                </c:pt>
                <c:pt idx="34">
                  <c:v>0.62105263</c:v>
                </c:pt>
                <c:pt idx="35">
                  <c:v>0.61052632</c:v>
                </c:pt>
                <c:pt idx="36">
                  <c:v>0.6</c:v>
                </c:pt>
                <c:pt idx="37">
                  <c:v>0.58947368</c:v>
                </c:pt>
                <c:pt idx="38">
                  <c:v>0.57894737</c:v>
                </c:pt>
                <c:pt idx="39">
                  <c:v>0.56842105</c:v>
                </c:pt>
                <c:pt idx="40">
                  <c:v>0.55789474</c:v>
                </c:pt>
                <c:pt idx="41">
                  <c:v>0.54736842</c:v>
                </c:pt>
                <c:pt idx="42">
                  <c:v>0.53684211</c:v>
                </c:pt>
                <c:pt idx="43">
                  <c:v>0.52631579</c:v>
                </c:pt>
                <c:pt idx="44">
                  <c:v>0.51578947</c:v>
                </c:pt>
                <c:pt idx="45">
                  <c:v>0.50526316</c:v>
                </c:pt>
                <c:pt idx="46">
                  <c:v>0.49473684</c:v>
                </c:pt>
                <c:pt idx="47">
                  <c:v>0.48421053</c:v>
                </c:pt>
                <c:pt idx="48">
                  <c:v>0.47368421</c:v>
                </c:pt>
                <c:pt idx="49">
                  <c:v>0.46315789</c:v>
                </c:pt>
                <c:pt idx="50">
                  <c:v>0.45263158</c:v>
                </c:pt>
                <c:pt idx="51">
                  <c:v>0.44210526</c:v>
                </c:pt>
                <c:pt idx="52">
                  <c:v>0.43157895</c:v>
                </c:pt>
                <c:pt idx="53">
                  <c:v>0.42105263</c:v>
                </c:pt>
                <c:pt idx="54">
                  <c:v>0.41052632</c:v>
                </c:pt>
                <c:pt idx="55">
                  <c:v>0.4</c:v>
                </c:pt>
                <c:pt idx="56">
                  <c:v>0.38947368</c:v>
                </c:pt>
                <c:pt idx="57">
                  <c:v>0.37894737</c:v>
                </c:pt>
                <c:pt idx="58">
                  <c:v>0.37894737</c:v>
                </c:pt>
                <c:pt idx="59">
                  <c:v>0.36842105</c:v>
                </c:pt>
                <c:pt idx="60">
                  <c:v>0.35789474</c:v>
                </c:pt>
                <c:pt idx="61">
                  <c:v>0.34736842</c:v>
                </c:pt>
                <c:pt idx="62">
                  <c:v>0.33684211</c:v>
                </c:pt>
                <c:pt idx="63">
                  <c:v>0.32631579</c:v>
                </c:pt>
                <c:pt idx="64">
                  <c:v>0.31578947</c:v>
                </c:pt>
                <c:pt idx="65">
                  <c:v>0.30526316</c:v>
                </c:pt>
                <c:pt idx="66">
                  <c:v>0.29473684</c:v>
                </c:pt>
                <c:pt idx="67">
                  <c:v>0.28421053</c:v>
                </c:pt>
                <c:pt idx="68">
                  <c:v>0.27368421</c:v>
                </c:pt>
                <c:pt idx="69">
                  <c:v>0.26315789</c:v>
                </c:pt>
                <c:pt idx="70">
                  <c:v>0.25263158</c:v>
                </c:pt>
                <c:pt idx="71">
                  <c:v>0.24210526</c:v>
                </c:pt>
                <c:pt idx="72">
                  <c:v>0.23157895</c:v>
                </c:pt>
                <c:pt idx="73">
                  <c:v>0.22105263</c:v>
                </c:pt>
                <c:pt idx="74">
                  <c:v>0.21052632</c:v>
                </c:pt>
                <c:pt idx="75">
                  <c:v>0.2</c:v>
                </c:pt>
                <c:pt idx="76">
                  <c:v>0.18947368</c:v>
                </c:pt>
                <c:pt idx="77">
                  <c:v>0.17894737</c:v>
                </c:pt>
                <c:pt idx="78">
                  <c:v>0.16842105</c:v>
                </c:pt>
                <c:pt idx="79">
                  <c:v>0.15789474</c:v>
                </c:pt>
                <c:pt idx="80">
                  <c:v>0.14736842</c:v>
                </c:pt>
                <c:pt idx="81">
                  <c:v>0.13684211</c:v>
                </c:pt>
                <c:pt idx="82">
                  <c:v>0.12631579</c:v>
                </c:pt>
                <c:pt idx="83">
                  <c:v>0.11578947</c:v>
                </c:pt>
                <c:pt idx="84">
                  <c:v>0.10526316</c:v>
                </c:pt>
                <c:pt idx="85">
                  <c:v>0.09473684</c:v>
                </c:pt>
                <c:pt idx="86">
                  <c:v>0.08421053</c:v>
                </c:pt>
                <c:pt idx="87">
                  <c:v>0.07368421</c:v>
                </c:pt>
                <c:pt idx="88">
                  <c:v>0.06315789</c:v>
                </c:pt>
                <c:pt idx="89">
                  <c:v>0.05263158</c:v>
                </c:pt>
                <c:pt idx="90">
                  <c:v>0.04210526</c:v>
                </c:pt>
                <c:pt idx="91">
                  <c:v>0.03157895</c:v>
                </c:pt>
                <c:pt idx="92">
                  <c:v>0.02105263</c:v>
                </c:pt>
                <c:pt idx="93">
                  <c:v>0.01052632</c:v>
                </c:pt>
                <c:pt idx="94">
                  <c:v>0</c:v>
                </c:pt>
              </c:numCache>
            </c:numRef>
          </c:xVal>
          <c:yVal>
            <c:numRef>
              <c:f>'Chart Data'!$B$2:$B$96</c:f>
              <c:numCache>
                <c:formatCode>0.0</c:formatCode>
                <c:ptCount val="95"/>
                <c:pt idx="0">
                  <c:v>0.00167413</c:v>
                </c:pt>
                <c:pt idx="1">
                  <c:v>0.04945718</c:v>
                </c:pt>
                <c:pt idx="2">
                  <c:v>0.10314465</c:v>
                </c:pt>
                <c:pt idx="3">
                  <c:v>0.18244804</c:v>
                </c:pt>
                <c:pt idx="4">
                  <c:v>0.49068323</c:v>
                </c:pt>
                <c:pt idx="5">
                  <c:v>0.4875</c:v>
                </c:pt>
                <c:pt idx="6">
                  <c:v>0.79591837</c:v>
                </c:pt>
                <c:pt idx="7">
                  <c:v>0.79381443</c:v>
                </c:pt>
                <c:pt idx="8">
                  <c:v>0.82795699</c:v>
                </c:pt>
                <c:pt idx="9">
                  <c:v>0.82608696</c:v>
                </c:pt>
                <c:pt idx="10">
                  <c:v>0.88372093</c:v>
                </c:pt>
                <c:pt idx="11">
                  <c:v>0.88235294</c:v>
                </c:pt>
                <c:pt idx="12">
                  <c:v>0.89285714</c:v>
                </c:pt>
                <c:pt idx="13">
                  <c:v>0.89156627</c:v>
                </c:pt>
                <c:pt idx="14">
                  <c:v>0.90243902</c:v>
                </c:pt>
                <c:pt idx="15">
                  <c:v>0.90123457</c:v>
                </c:pt>
                <c:pt idx="16">
                  <c:v>0.9125</c:v>
                </c:pt>
                <c:pt idx="17">
                  <c:v>0.91139241</c:v>
                </c:pt>
                <c:pt idx="18">
                  <c:v>0.92307692</c:v>
                </c:pt>
                <c:pt idx="19">
                  <c:v>0.92207792</c:v>
                </c:pt>
                <c:pt idx="20">
                  <c:v>0.95945946</c:v>
                </c:pt>
                <c:pt idx="21">
                  <c:v>0.95890411</c:v>
                </c:pt>
                <c:pt idx="22">
                  <c:v>0.95833333</c:v>
                </c:pt>
                <c:pt idx="23">
                  <c:v>0.97183099</c:v>
                </c:pt>
                <c:pt idx="24">
                  <c:v>0.97142857</c:v>
                </c:pt>
                <c:pt idx="25">
                  <c:v>0.97101449</c:v>
                </c:pt>
                <c:pt idx="26">
                  <c:v>0.98529412</c:v>
                </c:pt>
                <c:pt idx="27">
                  <c:v>0.98507463</c:v>
                </c:pt>
                <c:pt idx="28">
                  <c:v>0.98484848</c:v>
                </c:pt>
                <c:pt idx="29">
                  <c:v>0.98461538</c:v>
                </c:pt>
                <c:pt idx="30">
                  <c:v>0.984375</c:v>
                </c:pt>
                <c:pt idx="31">
                  <c:v>0.98412698</c:v>
                </c:pt>
                <c:pt idx="32">
                  <c:v>0.98387097</c:v>
                </c:pt>
                <c:pt idx="33">
                  <c:v>0.98360656</c:v>
                </c:pt>
                <c:pt idx="34">
                  <c:v>0.98333333</c:v>
                </c:pt>
                <c:pt idx="35">
                  <c:v>0.98305085</c:v>
                </c:pt>
                <c:pt idx="36">
                  <c:v>0.98275862</c:v>
                </c:pt>
                <c:pt idx="37">
                  <c:v>0.98245614</c:v>
                </c:pt>
                <c:pt idx="38">
                  <c:v>0.98214286</c:v>
                </c:pt>
                <c:pt idx="39">
                  <c:v>0.98181818</c:v>
                </c:pt>
                <c:pt idx="40">
                  <c:v>0.98148148</c:v>
                </c:pt>
                <c:pt idx="41">
                  <c:v>0.98113208</c:v>
                </c:pt>
                <c:pt idx="42">
                  <c:v>0.98076923</c:v>
                </c:pt>
                <c:pt idx="43">
                  <c:v>0.98039216</c:v>
                </c:pt>
                <c:pt idx="44">
                  <c:v>0.98</c:v>
                </c:pt>
                <c:pt idx="45">
                  <c:v>0.97959184</c:v>
                </c:pt>
                <c:pt idx="46">
                  <c:v>0.97916667</c:v>
                </c:pt>
                <c:pt idx="47">
                  <c:v>0.9787234</c:v>
                </c:pt>
                <c:pt idx="48">
                  <c:v>0.97826087</c:v>
                </c:pt>
                <c:pt idx="49">
                  <c:v>0.97777778</c:v>
                </c:pt>
                <c:pt idx="50">
                  <c:v>0.97727273</c:v>
                </c:pt>
                <c:pt idx="51">
                  <c:v>0.97674419</c:v>
                </c:pt>
                <c:pt idx="52">
                  <c:v>0.97619048</c:v>
                </c:pt>
                <c:pt idx="53">
                  <c:v>0.97560976</c:v>
                </c:pt>
                <c:pt idx="54">
                  <c:v>0.975</c:v>
                </c:pt>
                <c:pt idx="55">
                  <c:v>0.97435897</c:v>
                </c:pt>
                <c:pt idx="56">
                  <c:v>0.97368421</c:v>
                </c:pt>
                <c:pt idx="57">
                  <c:v>0.97297297</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BF2"/>
              </a:solidFill>
            </a:ln>
          </c:spPr>
        </c:majorGridlines>
        <c:title>
          <c:tx>
            <c:rich>
              <a:bodyPr xmlns:a="http://schemas.openxmlformats.org/drawingml/2006/main"/>
              <a:lstStyle xmlns:a="http://schemas.openxmlformats.org/drawingml/2006/main"/>
              <a:p xmlns:a="http://schemas.openxmlformats.org/drawingml/2006/main">
                <a:r>
                  <a:rPr sz="1350">
                    <a:solidFill>
                      <a:srgbClr val="0D2648"/>
                    </a:solidFill>
                    <a:latin typeface="Arial"/>
                    <a:ea typeface="Arial"/>
                    <a:cs typeface="Arial"/>
                  </a:rPr>
                  <a:t>Precision</a:t>
                </a:r>
              </a:p>
            </c:rich>
          </c:tx>
          <c:overlay val="0"/>
          <c:txPr>
            <a:bodyPr xmlns:a="http://schemas.openxmlformats.org/drawingml/2006/main" anchorCtr="1"/>
            <a:lstStyle xmlns:a="http://schemas.openxmlformats.org/drawingml/2006/main"/>
            <a:p xmlns:a="http://schemas.openxmlformats.org/drawingml/2006/main">
              <a:pPr>
                <a:defRPr sz="1350">
                  <a:solidFill>
                    <a:srgbClr val="0D2648"/>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D2648"/>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solidFill>
                      <a:srgbClr val="0D2648"/>
                    </a:solidFill>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sz="1350">
                  <a:solidFill>
                    <a:srgbClr val="0D2648"/>
                  </a:solidFill>
                  <a:latin typeface="Arial"/>
                  <a:ea typeface="Arial"/>
                  <a:cs typeface="Arial"/>
                </a:defRPr>
              </a:pPr>
            </a:p>
          </c:txPr>
        </c:title>
        <c:numFmt formatCode="0.0"/>
        <c:majorTickMark val="none"/>
        <c:minorTickMark val="none"/>
        <c:spPr>
          <a:ln xmlns:a="http://schemas.openxmlformats.org/drawingml/2006/main" w="9525">
            <a:solidFill>
              <a:srgbClr val="A4D9F0"/>
            </a:solidFill>
          </a:ln>
        </c:spPr>
        <c:txPr>
          <a:bodyPr xmlns:a="http://schemas.openxmlformats.org/drawingml/2006/main" anchorCtr="1"/>
          <a:lstStyle xmlns:a="http://schemas.openxmlformats.org/drawingml/2006/main"/>
          <a:p xmlns:a="http://schemas.openxmlformats.org/drawingml/2006/main">
            <a:pPr>
              <a:defRPr sz="1200">
                <a:solidFill>
                  <a:srgbClr val="0D2648"/>
                </a:solidFill>
                <a:latin typeface="Arial"/>
                <a:ea typeface="Arial"/>
                <a:cs typeface="Arial"/>
              </a:defRPr>
            </a:pPr>
          </a:p>
        </c:txPr>
        <c:crossAx val="48672768"/>
        <c:majorUnit val="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13E7A"/>
                </a:solidFill>
                <a:latin typeface="Arial"/>
                <a:ea typeface="Arial"/>
                <a:cs typeface="Arial"/>
              </a:rPr>
              <a:t>ROC (AUC=0,9293)</a:t>
            </a:r>
          </a:p>
        </c:rich>
      </c:tx>
      <c:overlay val="0"/>
      <c:txPr>
        <a:bodyPr xmlns:a="http://schemas.openxmlformats.org/drawingml/2006/main" anchorCtr="1"/>
        <a:lstStyle xmlns:a="http://schemas.openxmlformats.org/drawingml/2006/main"/>
        <a:p xmlns:a="http://schemas.openxmlformats.org/drawingml/2006/main">
          <a:pPr>
            <a:defRPr sz="1575" b="1">
              <a:solidFill>
                <a:srgbClr val="113E7A"/>
              </a:solidFill>
              <a:latin typeface="Arial"/>
              <a:ea typeface="Arial"/>
              <a:cs typeface="Arial"/>
            </a:defRPr>
          </a:pPr>
        </a:p>
      </c:txPr>
    </c:title>
    <c:plotArea>
      <c:scatterChart>
        <c:scatterStyle val="line"/>
        <c:varyColors val="0"/>
        <c:ser>
          <c:idx val="0"/>
          <c:order val="0"/>
          <c:tx>
            <c:v>ROC</c:v>
          </c:tx>
          <c:spPr>
            <a:solidFill xmlns:a="http://schemas.openxmlformats.org/drawingml/2006/main">
              <a:srgbClr val="3168CD"/>
            </a:solidFill>
            <a:ln xmlns:a="http://schemas.openxmlformats.org/drawingml/2006/main" w="19050">
              <a:solidFill>
                <a:srgbClr val="3168CD"/>
              </a:solidFill>
            </a:ln>
          </c:spPr>
          <c:xVal>
            <c:numRef>
              <c:f>'Chart Data'!$A$2:$A$104</c:f>
              <c:numCache>
                <c:formatCode>General</c:formatCode>
                <c:ptCount val="103"/>
                <c:pt idx="0">
                  <c:v>0</c:v>
                </c:pt>
                <c:pt idx="1">
                  <c:v>0</c:v>
                </c:pt>
                <c:pt idx="2">
                  <c:v>0</c:v>
                </c:pt>
                <c:pt idx="3">
                  <c:v>1.765E-05</c:v>
                </c:pt>
                <c:pt idx="4">
                  <c:v>1.765E-05</c:v>
                </c:pt>
                <c:pt idx="5">
                  <c:v>3.53E-05</c:v>
                </c:pt>
                <c:pt idx="6">
                  <c:v>3.53E-05</c:v>
                </c:pt>
                <c:pt idx="7">
                  <c:v>5.296E-05</c:v>
                </c:pt>
                <c:pt idx="8">
                  <c:v>5.296E-05</c:v>
                </c:pt>
                <c:pt idx="9">
                  <c:v>0.00010591</c:v>
                </c:pt>
                <c:pt idx="10">
                  <c:v>0.00010591</c:v>
                </c:pt>
                <c:pt idx="11">
                  <c:v>0.00012356</c:v>
                </c:pt>
                <c:pt idx="12">
                  <c:v>0.00012356</c:v>
                </c:pt>
                <c:pt idx="13">
                  <c:v>0.00014122</c:v>
                </c:pt>
                <c:pt idx="14">
                  <c:v>0.00014122</c:v>
                </c:pt>
                <c:pt idx="15">
                  <c:v>0.00015887</c:v>
                </c:pt>
                <c:pt idx="16">
                  <c:v>0.00015887</c:v>
                </c:pt>
                <c:pt idx="17">
                  <c:v>0.00017652</c:v>
                </c:pt>
                <c:pt idx="18">
                  <c:v>0.00017652</c:v>
                </c:pt>
                <c:pt idx="19">
                  <c:v>0.00028243</c:v>
                </c:pt>
                <c:pt idx="20">
                  <c:v>0.00028243</c:v>
                </c:pt>
                <c:pt idx="21">
                  <c:v>0.00035304</c:v>
                </c:pt>
                <c:pt idx="22">
                  <c:v>0.00035304</c:v>
                </c:pt>
                <c:pt idx="23">
                  <c:v>0.00065312</c:v>
                </c:pt>
                <c:pt idx="24">
                  <c:v>0.00068843</c:v>
                </c:pt>
                <c:pt idx="25">
                  <c:v>0.00075903</c:v>
                </c:pt>
                <c:pt idx="26">
                  <c:v>0.00079434</c:v>
                </c:pt>
                <c:pt idx="27">
                  <c:v>0.0008826</c:v>
                </c:pt>
                <c:pt idx="28">
                  <c:v>0.0009179</c:v>
                </c:pt>
                <c:pt idx="29">
                  <c:v>0.00097086</c:v>
                </c:pt>
                <c:pt idx="30">
                  <c:v>0.00102381</c:v>
                </c:pt>
                <c:pt idx="31">
                  <c:v>0.00105912</c:v>
                </c:pt>
                <c:pt idx="32">
                  <c:v>0.00109442</c:v>
                </c:pt>
                <c:pt idx="33">
                  <c:v>0.00116503</c:v>
                </c:pt>
                <c:pt idx="34">
                  <c:v>0.00120033</c:v>
                </c:pt>
                <c:pt idx="35">
                  <c:v>0.00123564</c:v>
                </c:pt>
                <c:pt idx="36">
                  <c:v>0.00128859</c:v>
                </c:pt>
                <c:pt idx="37">
                  <c:v>0.00144746</c:v>
                </c:pt>
                <c:pt idx="38">
                  <c:v>0.00144746</c:v>
                </c:pt>
                <c:pt idx="39">
                  <c:v>0.00150041</c:v>
                </c:pt>
                <c:pt idx="40">
                  <c:v>0.00162398</c:v>
                </c:pt>
                <c:pt idx="41">
                  <c:v>0.00164163</c:v>
                </c:pt>
                <c:pt idx="42">
                  <c:v>0.00169459</c:v>
                </c:pt>
                <c:pt idx="43">
                  <c:v>0.0018358</c:v>
                </c:pt>
                <c:pt idx="44">
                  <c:v>0.00188876</c:v>
                </c:pt>
                <c:pt idx="45">
                  <c:v>0.00195937</c:v>
                </c:pt>
                <c:pt idx="46">
                  <c:v>0.00204762</c:v>
                </c:pt>
                <c:pt idx="47">
                  <c:v>0.00215354</c:v>
                </c:pt>
                <c:pt idx="48">
                  <c:v>0.00220649</c:v>
                </c:pt>
                <c:pt idx="49">
                  <c:v>0.0022771</c:v>
                </c:pt>
                <c:pt idx="50">
                  <c:v>0.00234771</c:v>
                </c:pt>
                <c:pt idx="51">
                  <c:v>0.00240066</c:v>
                </c:pt>
                <c:pt idx="52">
                  <c:v>0.00247127</c:v>
                </c:pt>
                <c:pt idx="53">
                  <c:v>0.00250658</c:v>
                </c:pt>
                <c:pt idx="54">
                  <c:v>0.00254188</c:v>
                </c:pt>
                <c:pt idx="55">
                  <c:v>0.00257718</c:v>
                </c:pt>
                <c:pt idx="56">
                  <c:v>0.00264779</c:v>
                </c:pt>
                <c:pt idx="57">
                  <c:v>0.0032303</c:v>
                </c:pt>
                <c:pt idx="58">
                  <c:v>0.00326561</c:v>
                </c:pt>
                <c:pt idx="59">
                  <c:v>0.00335387</c:v>
                </c:pt>
                <c:pt idx="60">
                  <c:v>0.00358334</c:v>
                </c:pt>
                <c:pt idx="61">
                  <c:v>0.00365395</c:v>
                </c:pt>
                <c:pt idx="62">
                  <c:v>0.00370691</c:v>
                </c:pt>
                <c:pt idx="63">
                  <c:v>0.00441298</c:v>
                </c:pt>
                <c:pt idx="64">
                  <c:v>0.00444829</c:v>
                </c:pt>
                <c:pt idx="65">
                  <c:v>0.0045542</c:v>
                </c:pt>
                <c:pt idx="66">
                  <c:v>0.00457185</c:v>
                </c:pt>
                <c:pt idx="67">
                  <c:v>0.00476602</c:v>
                </c:pt>
                <c:pt idx="68">
                  <c:v>0.00494254</c:v>
                </c:pt>
                <c:pt idx="69">
                  <c:v>0.00522497</c:v>
                </c:pt>
                <c:pt idx="70">
                  <c:v>0.00526028</c:v>
                </c:pt>
                <c:pt idx="71">
                  <c:v>0.00536619</c:v>
                </c:pt>
                <c:pt idx="72">
                  <c:v>0.00538384</c:v>
                </c:pt>
                <c:pt idx="73">
                  <c:v>0.0055074</c:v>
                </c:pt>
                <c:pt idx="74">
                  <c:v>0.00584279</c:v>
                </c:pt>
                <c:pt idx="75">
                  <c:v>0.0058781</c:v>
                </c:pt>
                <c:pt idx="76">
                  <c:v>0.0059134</c:v>
                </c:pt>
                <c:pt idx="77">
                  <c:v>0.00601931</c:v>
                </c:pt>
                <c:pt idx="78">
                  <c:v>0.00610757</c:v>
                </c:pt>
                <c:pt idx="79">
                  <c:v>0.00614287</c:v>
                </c:pt>
                <c:pt idx="80">
                  <c:v>0.00617818</c:v>
                </c:pt>
                <c:pt idx="81">
                  <c:v>0.00621348</c:v>
                </c:pt>
                <c:pt idx="82">
                  <c:v>0.00624879</c:v>
                </c:pt>
                <c:pt idx="83">
                  <c:v>0.01258583</c:v>
                </c:pt>
                <c:pt idx="84">
                  <c:v>0.01267409</c:v>
                </c:pt>
                <c:pt idx="85">
                  <c:v>0.01290357</c:v>
                </c:pt>
                <c:pt idx="86">
                  <c:v>0.01360965</c:v>
                </c:pt>
                <c:pt idx="87">
                  <c:v>0.0136273</c:v>
                </c:pt>
                <c:pt idx="88">
                  <c:v>0.0159044</c:v>
                </c:pt>
                <c:pt idx="89">
                  <c:v>0.01595735</c:v>
                </c:pt>
                <c:pt idx="90">
                  <c:v>0.01616918</c:v>
                </c:pt>
                <c:pt idx="91">
                  <c:v>0.01622213</c:v>
                </c:pt>
                <c:pt idx="92">
                  <c:v>0.023177</c:v>
                </c:pt>
                <c:pt idx="93">
                  <c:v>0.0232123</c:v>
                </c:pt>
                <c:pt idx="94">
                  <c:v>0.02356534</c:v>
                </c:pt>
                <c:pt idx="95">
                  <c:v>0.02360064</c:v>
                </c:pt>
                <c:pt idx="96">
                  <c:v>0.02633669</c:v>
                </c:pt>
                <c:pt idx="97">
                  <c:v>0.02746642</c:v>
                </c:pt>
                <c:pt idx="98">
                  <c:v>0.02751937</c:v>
                </c:pt>
                <c:pt idx="99">
                  <c:v>0.02766059</c:v>
                </c:pt>
                <c:pt idx="100">
                  <c:v>0.02774885</c:v>
                </c:pt>
                <c:pt idx="101">
                  <c:v>0.02781946</c:v>
                </c:pt>
                <c:pt idx="102">
                  <c:v>1</c:v>
                </c:pt>
              </c:numCache>
            </c:numRef>
          </c:xVal>
          <c:yVal>
            <c:numRef>
              <c:f>'Chart Data'!$B$2:$B$104</c:f>
              <c:numCache>
                <c:formatCode>0.0</c:formatCode>
                <c:ptCount val="103"/>
                <c:pt idx="0">
                  <c:v>0</c:v>
                </c:pt>
                <c:pt idx="1">
                  <c:v>0.01052632</c:v>
                </c:pt>
                <c:pt idx="2">
                  <c:v>0.37894737</c:v>
                </c:pt>
                <c:pt idx="3">
                  <c:v>0.37894737</c:v>
                </c:pt>
                <c:pt idx="4">
                  <c:v>0.70526316</c:v>
                </c:pt>
                <c:pt idx="5">
                  <c:v>0.70526316</c:v>
                </c:pt>
                <c:pt idx="6">
                  <c:v>0.72631579</c:v>
                </c:pt>
                <c:pt idx="7">
                  <c:v>0.72631579</c:v>
                </c:pt>
                <c:pt idx="8">
                  <c:v>0.74736842</c:v>
                </c:pt>
                <c:pt idx="9">
                  <c:v>0.74736842</c:v>
                </c:pt>
                <c:pt idx="10">
                  <c:v>0.75789474</c:v>
                </c:pt>
                <c:pt idx="11">
                  <c:v>0.75789474</c:v>
                </c:pt>
                <c:pt idx="12">
                  <c:v>0.76842105</c:v>
                </c:pt>
                <c:pt idx="13">
                  <c:v>0.76842105</c:v>
                </c:pt>
                <c:pt idx="14">
                  <c:v>0.77894737</c:v>
                </c:pt>
                <c:pt idx="15">
                  <c:v>0.77894737</c:v>
                </c:pt>
                <c:pt idx="16">
                  <c:v>0.78947368</c:v>
                </c:pt>
                <c:pt idx="17">
                  <c:v>0.78947368</c:v>
                </c:pt>
                <c:pt idx="18">
                  <c:v>0.8</c:v>
                </c:pt>
                <c:pt idx="19">
                  <c:v>0.8</c:v>
                </c:pt>
                <c:pt idx="20">
                  <c:v>0.81052632</c:v>
                </c:pt>
                <c:pt idx="21">
                  <c:v>0.81052632</c:v>
                </c:pt>
                <c:pt idx="22">
                  <c:v>0.82105263</c:v>
                </c:pt>
                <c:pt idx="23">
                  <c:v>0.82105263</c:v>
                </c:pt>
                <c:pt idx="24">
                  <c:v>0.82105263</c:v>
                </c:pt>
                <c:pt idx="25">
                  <c:v>0.82105263</c:v>
                </c:pt>
                <c:pt idx="26">
                  <c:v>0.82105263</c:v>
                </c:pt>
                <c:pt idx="27">
                  <c:v>0.82105263</c:v>
                </c:pt>
                <c:pt idx="28">
                  <c:v>0.82105263</c:v>
                </c:pt>
                <c:pt idx="29">
                  <c:v>0.82105263</c:v>
                </c:pt>
                <c:pt idx="30">
                  <c:v>0.82105263</c:v>
                </c:pt>
                <c:pt idx="31">
                  <c:v>0.82105263</c:v>
                </c:pt>
                <c:pt idx="32">
                  <c:v>0.82105263</c:v>
                </c:pt>
                <c:pt idx="33">
                  <c:v>0.82105263</c:v>
                </c:pt>
                <c:pt idx="34">
                  <c:v>0.82105263</c:v>
                </c:pt>
                <c:pt idx="35">
                  <c:v>0.82105263</c:v>
                </c:pt>
                <c:pt idx="36">
                  <c:v>0.82105263</c:v>
                </c:pt>
                <c:pt idx="37">
                  <c:v>0.82105263</c:v>
                </c:pt>
                <c:pt idx="38">
                  <c:v>0.83157895</c:v>
                </c:pt>
                <c:pt idx="39">
                  <c:v>0.83157895</c:v>
                </c:pt>
                <c:pt idx="40">
                  <c:v>0.83157895</c:v>
                </c:pt>
                <c:pt idx="41">
                  <c:v>0.83157895</c:v>
                </c:pt>
                <c:pt idx="42">
                  <c:v>0.83157895</c:v>
                </c:pt>
                <c:pt idx="43">
                  <c:v>0.83157895</c:v>
                </c:pt>
                <c:pt idx="44">
                  <c:v>0.83157895</c:v>
                </c:pt>
                <c:pt idx="45">
                  <c:v>0.83157895</c:v>
                </c:pt>
                <c:pt idx="46">
                  <c:v>0.83157895</c:v>
                </c:pt>
                <c:pt idx="47">
                  <c:v>0.83157895</c:v>
                </c:pt>
                <c:pt idx="48">
                  <c:v>0.83157895</c:v>
                </c:pt>
                <c:pt idx="49">
                  <c:v>0.83157895</c:v>
                </c:pt>
                <c:pt idx="50">
                  <c:v>0.83157895</c:v>
                </c:pt>
                <c:pt idx="51">
                  <c:v>0.83157895</c:v>
                </c:pt>
                <c:pt idx="52">
                  <c:v>0.83157895</c:v>
                </c:pt>
                <c:pt idx="53">
                  <c:v>0.83157895</c:v>
                </c:pt>
                <c:pt idx="54">
                  <c:v>0.83157895</c:v>
                </c:pt>
                <c:pt idx="55">
                  <c:v>0.83157895</c:v>
                </c:pt>
                <c:pt idx="56">
                  <c:v>0.83157895</c:v>
                </c:pt>
                <c:pt idx="57">
                  <c:v>0.83157895</c:v>
                </c:pt>
                <c:pt idx="58">
                  <c:v>0.83157895</c:v>
                </c:pt>
                <c:pt idx="59">
                  <c:v>0.83157895</c:v>
                </c:pt>
                <c:pt idx="60">
                  <c:v>0.83157895</c:v>
                </c:pt>
                <c:pt idx="61">
                  <c:v>0.83157895</c:v>
                </c:pt>
                <c:pt idx="62">
                  <c:v>0.83157895</c:v>
                </c:pt>
                <c:pt idx="63">
                  <c:v>0.83157895</c:v>
                </c:pt>
                <c:pt idx="64">
                  <c:v>0.83157895</c:v>
                </c:pt>
                <c:pt idx="65">
                  <c:v>0.83157895</c:v>
                </c:pt>
                <c:pt idx="66">
                  <c:v>0.83157895</c:v>
                </c:pt>
                <c:pt idx="67">
                  <c:v>0.83157895</c:v>
                </c:pt>
                <c:pt idx="68">
                  <c:v>0.83157895</c:v>
                </c:pt>
                <c:pt idx="69">
                  <c:v>0.83157895</c:v>
                </c:pt>
                <c:pt idx="70">
                  <c:v>0.83157895</c:v>
                </c:pt>
                <c:pt idx="71">
                  <c:v>0.83157895</c:v>
                </c:pt>
                <c:pt idx="72">
                  <c:v>0.83157895</c:v>
                </c:pt>
                <c:pt idx="73">
                  <c:v>0.83157895</c:v>
                </c:pt>
                <c:pt idx="74">
                  <c:v>0.83157895</c:v>
                </c:pt>
                <c:pt idx="75">
                  <c:v>0.83157895</c:v>
                </c:pt>
                <c:pt idx="76">
                  <c:v>0.83157895</c:v>
                </c:pt>
                <c:pt idx="77">
                  <c:v>0.83157895</c:v>
                </c:pt>
                <c:pt idx="78">
                  <c:v>0.83157895</c:v>
                </c:pt>
                <c:pt idx="79">
                  <c:v>0.83157895</c:v>
                </c:pt>
                <c:pt idx="80">
                  <c:v>0.83157895</c:v>
                </c:pt>
                <c:pt idx="81">
                  <c:v>0.83157895</c:v>
                </c:pt>
                <c:pt idx="82">
                  <c:v>0.83157895</c:v>
                </c:pt>
                <c:pt idx="83">
                  <c:v>0.86315789</c:v>
                </c:pt>
                <c:pt idx="84">
                  <c:v>0.86315789</c:v>
                </c:pt>
                <c:pt idx="85">
                  <c:v>0.86315789</c:v>
                </c:pt>
                <c:pt idx="86">
                  <c:v>0.86315789</c:v>
                </c:pt>
                <c:pt idx="87">
                  <c:v>0.86315789</c:v>
                </c:pt>
                <c:pt idx="88">
                  <c:v>0.86315789</c:v>
                </c:pt>
                <c:pt idx="89">
                  <c:v>0.86315789</c:v>
                </c:pt>
                <c:pt idx="90">
                  <c:v>0.86315789</c:v>
                </c:pt>
                <c:pt idx="91">
                  <c:v>0.86315789</c:v>
                </c:pt>
                <c:pt idx="92">
                  <c:v>0.86315789</c:v>
                </c:pt>
                <c:pt idx="93">
                  <c:v>0.86315789</c:v>
                </c:pt>
                <c:pt idx="94">
                  <c:v>0.86315789</c:v>
                </c:pt>
                <c:pt idx="95">
                  <c:v>0.86315789</c:v>
                </c:pt>
                <c:pt idx="96">
                  <c:v>0.86315789</c:v>
                </c:pt>
                <c:pt idx="97">
                  <c:v>0.86315789</c:v>
                </c:pt>
                <c:pt idx="98">
                  <c:v>0.86315789</c:v>
                </c:pt>
                <c:pt idx="99">
                  <c:v>0.86315789</c:v>
                </c:pt>
                <c:pt idx="100">
                  <c:v>0.86315789</c:v>
                </c:pt>
                <c:pt idx="101">
                  <c:v>0.86315789</c:v>
                </c:pt>
                <c:pt idx="102">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BF2"/>
              </a:solidFill>
            </a:ln>
          </c:spPr>
        </c:majorGridlines>
        <c:title>
          <c:tx>
            <c:rich>
              <a:bodyPr xmlns:a="http://schemas.openxmlformats.org/drawingml/2006/main"/>
              <a:lstStyle xmlns:a="http://schemas.openxmlformats.org/drawingml/2006/main"/>
              <a:p xmlns:a="http://schemas.openxmlformats.org/drawingml/2006/main">
                <a:r>
                  <a:rPr sz="1350">
                    <a:solidFill>
                      <a:srgbClr val="0D2648"/>
                    </a:solidFill>
                    <a:latin typeface="Arial"/>
                    <a:ea typeface="Arial"/>
                    <a:cs typeface="Arial"/>
                  </a:rPr>
                  <a:t>TPR</a:t>
                </a:r>
              </a:p>
            </c:rich>
          </c:tx>
          <c:overlay val="0"/>
          <c:txPr>
            <a:bodyPr xmlns:a="http://schemas.openxmlformats.org/drawingml/2006/main" anchorCtr="1"/>
            <a:lstStyle xmlns:a="http://schemas.openxmlformats.org/drawingml/2006/main"/>
            <a:p xmlns:a="http://schemas.openxmlformats.org/drawingml/2006/main">
              <a:pPr>
                <a:defRPr sz="1350">
                  <a:solidFill>
                    <a:srgbClr val="0D2648"/>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D2648"/>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solidFill>
                      <a:srgbClr val="0D2648"/>
                    </a:solidFill>
                    <a:latin typeface="Arial"/>
                    <a:ea typeface="Arial"/>
                    <a:cs typeface="Arial"/>
                  </a:rPr>
                  <a:t>FPR</a:t>
                </a:r>
              </a:p>
            </c:rich>
          </c:tx>
          <c:overlay val="0"/>
          <c:txPr>
            <a:bodyPr xmlns:a="http://schemas.openxmlformats.org/drawingml/2006/main" anchorCtr="1"/>
            <a:lstStyle xmlns:a="http://schemas.openxmlformats.org/drawingml/2006/main"/>
            <a:p xmlns:a="http://schemas.openxmlformats.org/drawingml/2006/main">
              <a:pPr>
                <a:defRPr sz="1350">
                  <a:solidFill>
                    <a:srgbClr val="0D2648"/>
                  </a:solidFill>
                  <a:latin typeface="Arial"/>
                  <a:ea typeface="Arial"/>
                  <a:cs typeface="Arial"/>
                </a:defRPr>
              </a:pPr>
            </a:p>
          </c:txPr>
        </c:title>
        <c:numFmt formatCode="0.0"/>
        <c:majorTickMark val="none"/>
        <c:minorTickMark val="none"/>
        <c:spPr>
          <a:ln xmlns:a="http://schemas.openxmlformats.org/drawingml/2006/main" w="9525">
            <a:solidFill>
              <a:srgbClr val="A4D9F0"/>
            </a:solidFill>
          </a:ln>
        </c:spPr>
        <c:txPr>
          <a:bodyPr xmlns:a="http://schemas.openxmlformats.org/drawingml/2006/main" anchorCtr="1"/>
          <a:lstStyle xmlns:a="http://schemas.openxmlformats.org/drawingml/2006/main"/>
          <a:p xmlns:a="http://schemas.openxmlformats.org/drawingml/2006/main">
            <a:pPr>
              <a:defRPr sz="1200">
                <a:solidFill>
                  <a:srgbClr val="0D2648"/>
                </a:solidFill>
                <a:latin typeface="Arial"/>
                <a:ea typeface="Arial"/>
                <a:cs typeface="Arial"/>
              </a:defRPr>
            </a:pPr>
          </a:p>
        </c:txPr>
        <c:crossAx val="48672768"/>
        <c:majorUnit val="0.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B235EC-6284-44E2-8DA7-E0A00ECA5DF8}"/>
              </a:ext>
            </a:extLst>
          </p:cNvPr>
          <p:cNvPicPr>
            <a:picLocks xmlns:a="http://schemas.openxmlformats.org/drawingml/2006/main" noChangeAspect="1"/>
          </p:cNvPicPr>
          <p:nvPr/>
        </p:nvPicPr>
        <p:blipFill>
          <a:blip xmlns:r="http://schemas.openxmlformats.org/officeDocument/2006/relationships" xmlns:a="http://schemas.openxmlformats.org/drawingml/2006/main" r:embed="R104e774bbf5f421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24C616B-1D2C-4BB9-B2EF-7A91FA3C3F1B}"/>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1A8A90ED-CC86-4CA4-8686-F53D0DE97015}"/>
              </a:ext>
            </a:extLst>
          </p:cNvPr>
          <p:cNvSpPr>
            <a:spLocks xmlns:a="http://schemas.openxmlformats.org/drawingml/2006/main" noGrp="1"/>
          </p:cNvSpPr>
          <p:nvPr/>
        </p:nvSpPr>
        <p:spPr>
          <a:xfrm xmlns:a="http://schemas.openxmlformats.org/drawingml/2006/main">
            <a:off x="1809750" y="80962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3E7A"/>
                </a:solidFill>
                <a:latin typeface="Arial"/>
                <a:ea typeface="Arial"/>
                <a:cs typeface="Arial"/>
              </a:defRPr>
            </a:defPPr>
            <a:lvl1pPr algn="ctr">
              <a:defRPr sz="1875" b="1">
                <a:solidFill>
                  <a:srgbClr val="113E7A"/>
                </a:solidFill>
                <a:latin typeface="Arial"/>
                <a:ea typeface="Arial"/>
                <a:cs typeface="Arial"/>
              </a:defRPr>
            </a:lvl1pPr>
            <a:lvl2pPr algn="ctr">
              <a:defRPr sz="1875" b="1">
                <a:solidFill>
                  <a:srgbClr val="113E7A"/>
                </a:solidFill>
                <a:latin typeface="Arial"/>
                <a:ea typeface="Arial"/>
                <a:cs typeface="Arial"/>
              </a:defRPr>
            </a:lvl2pPr>
            <a:lvl3pPr algn="ctr">
              <a:defRPr sz="1875" b="1">
                <a:solidFill>
                  <a:srgbClr val="113E7A"/>
                </a:solidFill>
                <a:latin typeface="Arial"/>
                <a:ea typeface="Arial"/>
                <a:cs typeface="Arial"/>
              </a:defRPr>
            </a:lvl3pPr>
            <a:lvl4pPr algn="ctr">
              <a:defRPr sz="1875" b="1">
                <a:solidFill>
                  <a:srgbClr val="113E7A"/>
                </a:solidFill>
                <a:latin typeface="Arial"/>
                <a:ea typeface="Arial"/>
                <a:cs typeface="Arial"/>
              </a:defRPr>
            </a:lvl4pPr>
            <a:lvl5pPr algn="ctr">
              <a:defRPr sz="1875" b="1">
                <a:solidFill>
                  <a:srgbClr val="113E7A"/>
                </a:solidFill>
                <a:latin typeface="Arial"/>
                <a:ea typeface="Arial"/>
                <a:cs typeface="Arial"/>
              </a:defRPr>
            </a:lvl5pPr>
            <a:lvl6pPr algn="ctr">
              <a:defRPr sz="1875" b="1">
                <a:solidFill>
                  <a:srgbClr val="113E7A"/>
                </a:solidFill>
                <a:latin typeface="Arial"/>
                <a:ea typeface="Arial"/>
                <a:cs typeface="Arial"/>
              </a:defRPr>
            </a:lvl6pPr>
            <a:lvl7pPr algn="ctr">
              <a:defRPr sz="1875" b="1">
                <a:solidFill>
                  <a:srgbClr val="113E7A"/>
                </a:solidFill>
                <a:latin typeface="Arial"/>
                <a:ea typeface="Arial"/>
                <a:cs typeface="Arial"/>
              </a:defRPr>
            </a:lvl7pPr>
            <a:lvl8pPr algn="ctr">
              <a:defRPr sz="1875" b="1">
                <a:solidFill>
                  <a:srgbClr val="113E7A"/>
                </a:solidFill>
                <a:latin typeface="Arial"/>
                <a:ea typeface="Arial"/>
                <a:cs typeface="Arial"/>
              </a:defRPr>
            </a:lvl8pPr>
            <a:lvl9pPr algn="ctr">
              <a:defRPr sz="1875" b="1">
                <a:solidFill>
                  <a:srgbClr val="113E7A"/>
                </a:solidFill>
                <a:latin typeface="Arial"/>
                <a:ea typeface="Arial"/>
                <a:cs typeface="Arial"/>
              </a:defRPr>
            </a:lvl9pPr>
          </a:lstStyle>
          <a:p xmlns:a="http://schemas.openxmlformats.org/drawingml/2006/main">
            <a:pPr algn="ctr">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TRƯỜNG ĐẠI HỌC PHENIKAA</a:t>
            </a:r>
          </a:p>
        </p:txBody>
      </p:sp>
      <p:sp>
        <p:nvSpPr>
          <p:cNvPr id="4" name="text-3">
            <a:extLst xmlns:a="http://schemas.openxmlformats.org/drawingml/2006/main">
              <a:ext uri="{FF2B5EF4-FFF2-40B4-BE49-F238E27FC236}">
                <a16:creationId xmlns:a16="http://schemas.microsoft.com/office/drawing/2014/main" id="{A420E2EB-DBB1-4BF6-84E3-26534E7766E1}"/>
              </a:ext>
            </a:extLst>
          </p:cNvPr>
          <p:cNvSpPr>
            <a:spLocks xmlns:a="http://schemas.openxmlformats.org/drawingml/2006/main" noGrp="1"/>
          </p:cNvSpPr>
          <p:nvPr/>
        </p:nvSpPr>
        <p:spPr>
          <a:xfrm xmlns:a="http://schemas.openxmlformats.org/drawingml/2006/main">
            <a:off x="1809750" y="12192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0D2648"/>
                </a:solidFill>
                <a:latin typeface="Arial"/>
                <a:ea typeface="Arial"/>
                <a:cs typeface="Arial"/>
              </a:defRPr>
            </a:defPPr>
            <a:lvl1pPr algn="ctr">
              <a:defRPr sz="1650" b="0">
                <a:solidFill>
                  <a:srgbClr val="0D2648"/>
                </a:solidFill>
                <a:latin typeface="Arial"/>
                <a:ea typeface="Arial"/>
                <a:cs typeface="Arial"/>
              </a:defRPr>
            </a:lvl1pPr>
            <a:lvl2pPr algn="ctr">
              <a:defRPr sz="1650" b="0">
                <a:solidFill>
                  <a:srgbClr val="0D2648"/>
                </a:solidFill>
                <a:latin typeface="Arial"/>
                <a:ea typeface="Arial"/>
                <a:cs typeface="Arial"/>
              </a:defRPr>
            </a:lvl2pPr>
            <a:lvl3pPr algn="ctr">
              <a:defRPr sz="1650" b="0">
                <a:solidFill>
                  <a:srgbClr val="0D2648"/>
                </a:solidFill>
                <a:latin typeface="Arial"/>
                <a:ea typeface="Arial"/>
                <a:cs typeface="Arial"/>
              </a:defRPr>
            </a:lvl3pPr>
            <a:lvl4pPr algn="ctr">
              <a:defRPr sz="1650" b="0">
                <a:solidFill>
                  <a:srgbClr val="0D2648"/>
                </a:solidFill>
                <a:latin typeface="Arial"/>
                <a:ea typeface="Arial"/>
                <a:cs typeface="Arial"/>
              </a:defRPr>
            </a:lvl4pPr>
            <a:lvl5pPr algn="ctr">
              <a:defRPr sz="1650" b="0">
                <a:solidFill>
                  <a:srgbClr val="0D2648"/>
                </a:solidFill>
                <a:latin typeface="Arial"/>
                <a:ea typeface="Arial"/>
                <a:cs typeface="Arial"/>
              </a:defRPr>
            </a:lvl5pPr>
            <a:lvl6pPr algn="ctr">
              <a:defRPr sz="1650" b="0">
                <a:solidFill>
                  <a:srgbClr val="0D2648"/>
                </a:solidFill>
                <a:latin typeface="Arial"/>
                <a:ea typeface="Arial"/>
                <a:cs typeface="Arial"/>
              </a:defRPr>
            </a:lvl6pPr>
            <a:lvl7pPr algn="ctr">
              <a:defRPr sz="1650" b="0">
                <a:solidFill>
                  <a:srgbClr val="0D2648"/>
                </a:solidFill>
                <a:latin typeface="Arial"/>
                <a:ea typeface="Arial"/>
                <a:cs typeface="Arial"/>
              </a:defRPr>
            </a:lvl7pPr>
            <a:lvl8pPr algn="ctr">
              <a:defRPr sz="1650" b="0">
                <a:solidFill>
                  <a:srgbClr val="0D2648"/>
                </a:solidFill>
                <a:latin typeface="Arial"/>
                <a:ea typeface="Arial"/>
                <a:cs typeface="Arial"/>
              </a:defRPr>
            </a:lvl8pPr>
            <a:lvl9pPr algn="ctr">
              <a:defRPr sz="1650" b="0">
                <a:solidFill>
                  <a:srgbClr val="0D2648"/>
                </a:solidFill>
                <a:latin typeface="Arial"/>
                <a:ea typeface="Arial"/>
                <a:cs typeface="Arial"/>
              </a:defRPr>
            </a:lvl9pPr>
          </a:lstStyle>
          <a:p xmlns:a="http://schemas.openxmlformats.org/drawingml/2006/main">
            <a:pPr algn="ctr">
              <a:lnSpc>
                <a:spcPct val="113000"/>
              </a:lnSpc>
              <a:buNone/>
              <a:defRPr sz="1650" b="0">
                <a:solidFill>
                  <a:srgbClr val="0D2648"/>
                </a:solidFill>
                <a:latin typeface="Arial"/>
                <a:ea typeface="Arial"/>
                <a:cs typeface="Arial"/>
              </a:defRPr>
            </a:pPr>
            <a:r>
              <a:rPr sz="1650" b="0">
                <a:solidFill>
                  <a:srgbClr val="0D2648"/>
                </a:solidFill>
                <a:latin typeface="Arial"/>
                <a:ea typeface="Arial"/>
                <a:cs typeface="Arial"/>
              </a:rPr>
              <a:t>BÀI TẬP LỚN MÔN HỌC MÁY</a:t>
            </a:r>
          </a:p>
        </p:txBody>
      </p:sp>
      <p:sp>
        <p:nvSpPr>
          <p:cNvPr id="5" name="text-4">
            <a:extLst xmlns:a="http://schemas.openxmlformats.org/drawingml/2006/main">
              <a:ext uri="{FF2B5EF4-FFF2-40B4-BE49-F238E27FC236}">
                <a16:creationId xmlns:a16="http://schemas.microsoft.com/office/drawing/2014/main" id="{BF1D9438-C711-42EC-9FF3-188165B63E02}"/>
              </a:ext>
            </a:extLst>
          </p:cNvPr>
          <p:cNvSpPr>
            <a:spLocks xmlns:a="http://schemas.openxmlformats.org/drawingml/2006/main" noGrp="1"/>
          </p:cNvSpPr>
          <p:nvPr/>
        </p:nvSpPr>
        <p:spPr>
          <a:xfrm xmlns:a="http://schemas.openxmlformats.org/drawingml/2006/main">
            <a:off x="1190625" y="1971675"/>
            <a:ext cx="981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113E7A"/>
                </a:solidFill>
                <a:latin typeface="Arial"/>
                <a:ea typeface="Arial"/>
                <a:cs typeface="Arial"/>
              </a:defRPr>
            </a:defPPr>
            <a:lvl1pPr algn="ctr">
              <a:defRPr sz="3375" b="1">
                <a:solidFill>
                  <a:srgbClr val="113E7A"/>
                </a:solidFill>
                <a:latin typeface="Arial"/>
                <a:ea typeface="Arial"/>
                <a:cs typeface="Arial"/>
              </a:defRPr>
            </a:lvl1pPr>
            <a:lvl2pPr algn="ctr">
              <a:defRPr sz="3375" b="1">
                <a:solidFill>
                  <a:srgbClr val="113E7A"/>
                </a:solidFill>
                <a:latin typeface="Arial"/>
                <a:ea typeface="Arial"/>
                <a:cs typeface="Arial"/>
              </a:defRPr>
            </a:lvl2pPr>
            <a:lvl3pPr algn="ctr">
              <a:defRPr sz="3375" b="1">
                <a:solidFill>
                  <a:srgbClr val="113E7A"/>
                </a:solidFill>
                <a:latin typeface="Arial"/>
                <a:ea typeface="Arial"/>
                <a:cs typeface="Arial"/>
              </a:defRPr>
            </a:lvl3pPr>
            <a:lvl4pPr algn="ctr">
              <a:defRPr sz="3375" b="1">
                <a:solidFill>
                  <a:srgbClr val="113E7A"/>
                </a:solidFill>
                <a:latin typeface="Arial"/>
                <a:ea typeface="Arial"/>
                <a:cs typeface="Arial"/>
              </a:defRPr>
            </a:lvl4pPr>
            <a:lvl5pPr algn="ctr">
              <a:defRPr sz="3375" b="1">
                <a:solidFill>
                  <a:srgbClr val="113E7A"/>
                </a:solidFill>
                <a:latin typeface="Arial"/>
                <a:ea typeface="Arial"/>
                <a:cs typeface="Arial"/>
              </a:defRPr>
            </a:lvl5pPr>
            <a:lvl6pPr algn="ctr">
              <a:defRPr sz="3375" b="1">
                <a:solidFill>
                  <a:srgbClr val="113E7A"/>
                </a:solidFill>
                <a:latin typeface="Arial"/>
                <a:ea typeface="Arial"/>
                <a:cs typeface="Arial"/>
              </a:defRPr>
            </a:lvl6pPr>
            <a:lvl7pPr algn="ctr">
              <a:defRPr sz="3375" b="1">
                <a:solidFill>
                  <a:srgbClr val="113E7A"/>
                </a:solidFill>
                <a:latin typeface="Arial"/>
                <a:ea typeface="Arial"/>
                <a:cs typeface="Arial"/>
              </a:defRPr>
            </a:lvl7pPr>
            <a:lvl8pPr algn="ctr">
              <a:defRPr sz="3375" b="1">
                <a:solidFill>
                  <a:srgbClr val="113E7A"/>
                </a:solidFill>
                <a:latin typeface="Arial"/>
                <a:ea typeface="Arial"/>
                <a:cs typeface="Arial"/>
              </a:defRPr>
            </a:lvl8pPr>
            <a:lvl9pPr algn="ctr">
              <a:defRPr sz="3375" b="1">
                <a:solidFill>
                  <a:srgbClr val="113E7A"/>
                </a:solidFill>
                <a:latin typeface="Arial"/>
                <a:ea typeface="Arial"/>
                <a:cs typeface="Arial"/>
              </a:defRPr>
            </a:lvl9pPr>
          </a:lstStyle>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PHÁT HIỆN GIAN LẬN</a:t>
            </a:r>
          </a:p>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GIAO DỊCH THẺ TÍN DỤNG</a:t>
            </a:r>
          </a:p>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BẰNG MACHINE LEARNING</a:t>
            </a:r>
          </a:p>
        </p:txBody>
      </p:sp>
      <p:sp>
        <p:nvSpPr>
          <p:cNvPr id="6" name="text-5">
            <a:extLst xmlns:a="http://schemas.openxmlformats.org/drawingml/2006/main">
              <a:ext uri="{FF2B5EF4-FFF2-40B4-BE49-F238E27FC236}">
                <a16:creationId xmlns:a16="http://schemas.microsoft.com/office/drawing/2014/main" id="{532AEC1B-588C-4B54-9A0A-F0E55BE6F048}"/>
              </a:ext>
            </a:extLst>
          </p:cNvPr>
          <p:cNvSpPr>
            <a:spLocks xmlns:a="http://schemas.openxmlformats.org/drawingml/2006/main" noGrp="1"/>
          </p:cNvSpPr>
          <p:nvPr/>
        </p:nvSpPr>
        <p:spPr>
          <a:xfrm xmlns:a="http://schemas.openxmlformats.org/drawingml/2006/main">
            <a:off x="1905000" y="372427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3168CD"/>
                </a:solidFill>
                <a:latin typeface="Arial"/>
                <a:ea typeface="Arial"/>
                <a:cs typeface="Arial"/>
              </a:defRPr>
            </a:defPPr>
            <a:lvl1pPr algn="ctr">
              <a:defRPr sz="2100" b="0">
                <a:solidFill>
                  <a:srgbClr val="3168CD"/>
                </a:solidFill>
                <a:latin typeface="Arial"/>
                <a:ea typeface="Arial"/>
                <a:cs typeface="Arial"/>
              </a:defRPr>
            </a:lvl1pPr>
            <a:lvl2pPr algn="ctr">
              <a:defRPr sz="2100" b="0">
                <a:solidFill>
                  <a:srgbClr val="3168CD"/>
                </a:solidFill>
                <a:latin typeface="Arial"/>
                <a:ea typeface="Arial"/>
                <a:cs typeface="Arial"/>
              </a:defRPr>
            </a:lvl2pPr>
            <a:lvl3pPr algn="ctr">
              <a:defRPr sz="2100" b="0">
                <a:solidFill>
                  <a:srgbClr val="3168CD"/>
                </a:solidFill>
                <a:latin typeface="Arial"/>
                <a:ea typeface="Arial"/>
                <a:cs typeface="Arial"/>
              </a:defRPr>
            </a:lvl3pPr>
            <a:lvl4pPr algn="ctr">
              <a:defRPr sz="2100" b="0">
                <a:solidFill>
                  <a:srgbClr val="3168CD"/>
                </a:solidFill>
                <a:latin typeface="Arial"/>
                <a:ea typeface="Arial"/>
                <a:cs typeface="Arial"/>
              </a:defRPr>
            </a:lvl4pPr>
            <a:lvl5pPr algn="ctr">
              <a:defRPr sz="2100" b="0">
                <a:solidFill>
                  <a:srgbClr val="3168CD"/>
                </a:solidFill>
                <a:latin typeface="Arial"/>
                <a:ea typeface="Arial"/>
                <a:cs typeface="Arial"/>
              </a:defRPr>
            </a:lvl5pPr>
            <a:lvl6pPr algn="ctr">
              <a:defRPr sz="2100" b="0">
                <a:solidFill>
                  <a:srgbClr val="3168CD"/>
                </a:solidFill>
                <a:latin typeface="Arial"/>
                <a:ea typeface="Arial"/>
                <a:cs typeface="Arial"/>
              </a:defRPr>
            </a:lvl6pPr>
            <a:lvl7pPr algn="ctr">
              <a:defRPr sz="2100" b="0">
                <a:solidFill>
                  <a:srgbClr val="3168CD"/>
                </a:solidFill>
                <a:latin typeface="Arial"/>
                <a:ea typeface="Arial"/>
                <a:cs typeface="Arial"/>
              </a:defRPr>
            </a:lvl7pPr>
            <a:lvl8pPr algn="ctr">
              <a:defRPr sz="2100" b="0">
                <a:solidFill>
                  <a:srgbClr val="3168CD"/>
                </a:solidFill>
                <a:latin typeface="Arial"/>
                <a:ea typeface="Arial"/>
                <a:cs typeface="Arial"/>
              </a:defRPr>
            </a:lvl8pPr>
            <a:lvl9pPr algn="ctr">
              <a:defRPr sz="2100" b="0">
                <a:solidFill>
                  <a:srgbClr val="3168CD"/>
                </a:solidFill>
                <a:latin typeface="Arial"/>
                <a:ea typeface="Arial"/>
                <a:cs typeface="Arial"/>
              </a:defRPr>
            </a:lvl9pPr>
          </a:lstStyle>
          <a:p xmlns:a="http://schemas.openxmlformats.org/drawingml/2006/main">
            <a:pPr algn="ctr">
              <a:lnSpc>
                <a:spcPct val="113000"/>
              </a:lnSpc>
              <a:buNone/>
              <a:defRPr sz="2100" b="0">
                <a:solidFill>
                  <a:srgbClr val="3168CD"/>
                </a:solidFill>
                <a:latin typeface="Arial"/>
                <a:ea typeface="Arial"/>
                <a:cs typeface="Arial"/>
              </a:defRPr>
            </a:pPr>
            <a:r>
              <a:rPr sz="2100" b="0">
                <a:solidFill>
                  <a:srgbClr val="3168CD"/>
                </a:solidFill>
                <a:latin typeface="Arial"/>
                <a:ea typeface="Arial"/>
                <a:cs typeface="Arial"/>
              </a:rPr>
              <a:t>Credit Card Fraud Detection</a:t>
            </a:r>
          </a:p>
        </p:txBody>
      </p:sp>
      <p:sp>
        <p:nvSpPr>
          <p:cNvPr id="7" name="text-6">
            <a:extLst xmlns:a="http://schemas.openxmlformats.org/drawingml/2006/main">
              <a:ext uri="{FF2B5EF4-FFF2-40B4-BE49-F238E27FC236}">
                <a16:creationId xmlns:a16="http://schemas.microsoft.com/office/drawing/2014/main" id="{A0C6F9E0-6909-4FC8-BC18-CDDDFE212A23}"/>
              </a:ext>
            </a:extLst>
          </p:cNvPr>
          <p:cNvSpPr>
            <a:spLocks xmlns:a="http://schemas.openxmlformats.org/drawingml/2006/main" noGrp="1"/>
          </p:cNvSpPr>
          <p:nvPr/>
        </p:nvSpPr>
        <p:spPr>
          <a:xfrm xmlns:a="http://schemas.openxmlformats.org/drawingml/2006/main">
            <a:off x="1905000" y="42767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0D2648"/>
                </a:solidFill>
                <a:latin typeface="Arial"/>
                <a:ea typeface="Arial"/>
                <a:cs typeface="Arial"/>
              </a:defRPr>
            </a:defPPr>
            <a:lvl1pPr algn="ctr">
              <a:defRPr sz="1725" b="0">
                <a:solidFill>
                  <a:srgbClr val="0D2648"/>
                </a:solidFill>
                <a:latin typeface="Arial"/>
                <a:ea typeface="Arial"/>
                <a:cs typeface="Arial"/>
              </a:defRPr>
            </a:lvl1pPr>
            <a:lvl2pPr algn="ctr">
              <a:defRPr sz="1725" b="0">
                <a:solidFill>
                  <a:srgbClr val="0D2648"/>
                </a:solidFill>
                <a:latin typeface="Arial"/>
                <a:ea typeface="Arial"/>
                <a:cs typeface="Arial"/>
              </a:defRPr>
            </a:lvl2pPr>
            <a:lvl3pPr algn="ctr">
              <a:defRPr sz="1725" b="0">
                <a:solidFill>
                  <a:srgbClr val="0D2648"/>
                </a:solidFill>
                <a:latin typeface="Arial"/>
                <a:ea typeface="Arial"/>
                <a:cs typeface="Arial"/>
              </a:defRPr>
            </a:lvl3pPr>
            <a:lvl4pPr algn="ctr">
              <a:defRPr sz="1725" b="0">
                <a:solidFill>
                  <a:srgbClr val="0D2648"/>
                </a:solidFill>
                <a:latin typeface="Arial"/>
                <a:ea typeface="Arial"/>
                <a:cs typeface="Arial"/>
              </a:defRPr>
            </a:lvl4pPr>
            <a:lvl5pPr algn="ctr">
              <a:defRPr sz="1725" b="0">
                <a:solidFill>
                  <a:srgbClr val="0D2648"/>
                </a:solidFill>
                <a:latin typeface="Arial"/>
                <a:ea typeface="Arial"/>
                <a:cs typeface="Arial"/>
              </a:defRPr>
            </a:lvl5pPr>
            <a:lvl6pPr algn="ctr">
              <a:defRPr sz="1725" b="0">
                <a:solidFill>
                  <a:srgbClr val="0D2648"/>
                </a:solidFill>
                <a:latin typeface="Arial"/>
                <a:ea typeface="Arial"/>
                <a:cs typeface="Arial"/>
              </a:defRPr>
            </a:lvl6pPr>
            <a:lvl7pPr algn="ctr">
              <a:defRPr sz="1725" b="0">
                <a:solidFill>
                  <a:srgbClr val="0D2648"/>
                </a:solidFill>
                <a:latin typeface="Arial"/>
                <a:ea typeface="Arial"/>
                <a:cs typeface="Arial"/>
              </a:defRPr>
            </a:lvl7pPr>
            <a:lvl8pPr algn="ctr">
              <a:defRPr sz="1725" b="0">
                <a:solidFill>
                  <a:srgbClr val="0D2648"/>
                </a:solidFill>
                <a:latin typeface="Arial"/>
                <a:ea typeface="Arial"/>
                <a:cs typeface="Arial"/>
              </a:defRPr>
            </a:lvl8pPr>
            <a:lvl9pPr algn="ctr">
              <a:defRPr sz="1725" b="0">
                <a:solidFill>
                  <a:srgbClr val="0D2648"/>
                </a:solidFill>
                <a:latin typeface="Arial"/>
                <a:ea typeface="Arial"/>
                <a:cs typeface="Arial"/>
              </a:defRPr>
            </a:lvl9pPr>
          </a:lstStyle>
          <a:p xmlns:a="http://schemas.openxmlformats.org/drawingml/2006/main">
            <a:pPr algn="ctr">
              <a:lnSpc>
                <a:spcPct val="113000"/>
              </a:lnSpc>
              <a:buNone/>
              <a:defRPr sz="1725" b="0">
                <a:solidFill>
                  <a:srgbClr val="0D2648"/>
                </a:solidFill>
                <a:latin typeface="Arial"/>
                <a:ea typeface="Arial"/>
                <a:cs typeface="Arial"/>
              </a:defRPr>
            </a:pPr>
            <a:r>
              <a:rPr sz="1725" b="0">
                <a:solidFill>
                  <a:srgbClr val="0D2648"/>
                </a:solidFill>
                <a:latin typeface="Arial"/>
                <a:ea typeface="Arial"/>
                <a:cs typeface="Arial"/>
              </a:rPr>
              <a:t>Giảng viên hướng dẫn: Nguyễn Ngọc Giang</a:t>
            </a:r>
          </a:p>
        </p:txBody>
      </p:sp>
      <p:sp>
        <p:nvSpPr>
          <p:cNvPr id="8" name="text-7">
            <a:extLst xmlns:a="http://schemas.openxmlformats.org/drawingml/2006/main">
              <a:ext uri="{FF2B5EF4-FFF2-40B4-BE49-F238E27FC236}">
                <a16:creationId xmlns:a16="http://schemas.microsoft.com/office/drawing/2014/main" id="{0BCD84D3-E3EB-4735-B7CB-67DE376DF365}"/>
              </a:ext>
            </a:extLst>
          </p:cNvPr>
          <p:cNvSpPr>
            <a:spLocks xmlns:a="http://schemas.openxmlformats.org/drawingml/2006/main" noGrp="1"/>
          </p:cNvSpPr>
          <p:nvPr/>
        </p:nvSpPr>
        <p:spPr>
          <a:xfrm xmlns:a="http://schemas.openxmlformats.org/drawingml/2006/main">
            <a:off x="1905000" y="46577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lnSpc>
                <a:spcPct val="113000"/>
              </a:lnSpc>
              <a:buNone/>
              <a:defRPr sz="1800" b="1">
                <a:solidFill>
                  <a:srgbClr val="113E7A"/>
                </a:solidFill>
                <a:latin typeface="Arial"/>
                <a:ea typeface="Arial"/>
                <a:cs typeface="Arial"/>
              </a:defRPr>
            </a:pPr>
            <a:r>
              <a:rPr sz="1800" b="1">
                <a:solidFill>
                  <a:srgbClr val="113E7A"/>
                </a:solidFill>
                <a:latin typeface="Arial"/>
                <a:ea typeface="Arial"/>
                <a:cs typeface="Arial"/>
              </a:rPr>
              <a:t>NHÓM 6</a:t>
            </a:r>
          </a:p>
        </p:txBody>
      </p:sp>
      <p:sp>
        <p:nvSpPr>
          <p:cNvPr id="9" name="text-8">
            <a:extLst xmlns:a="http://schemas.openxmlformats.org/drawingml/2006/main">
              <a:ext uri="{FF2B5EF4-FFF2-40B4-BE49-F238E27FC236}">
                <a16:creationId xmlns:a16="http://schemas.microsoft.com/office/drawing/2014/main" id="{D882B0BD-4024-4369-884E-CE389CF44AC4}"/>
              </a:ext>
            </a:extLst>
          </p:cNvPr>
          <p:cNvSpPr>
            <a:spLocks xmlns:a="http://schemas.openxmlformats.org/drawingml/2006/main" noGrp="1"/>
          </p:cNvSpPr>
          <p:nvPr/>
        </p:nvSpPr>
        <p:spPr>
          <a:xfrm xmlns:a="http://schemas.openxmlformats.org/drawingml/2006/main">
            <a:off x="2571750" y="5067300"/>
            <a:ext cx="704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0D2648"/>
                </a:solidFill>
                <a:latin typeface="Arial"/>
                <a:ea typeface="Arial"/>
                <a:cs typeface="Arial"/>
              </a:defRPr>
            </a:defPPr>
            <a:lvl1pPr algn="ctr">
              <a:defRPr sz="1650" b="0">
                <a:solidFill>
                  <a:srgbClr val="0D2648"/>
                </a:solidFill>
                <a:latin typeface="Arial"/>
                <a:ea typeface="Arial"/>
                <a:cs typeface="Arial"/>
              </a:defRPr>
            </a:lvl1pPr>
            <a:lvl2pPr algn="ctr">
              <a:defRPr sz="1650" b="0">
                <a:solidFill>
                  <a:srgbClr val="0D2648"/>
                </a:solidFill>
                <a:latin typeface="Arial"/>
                <a:ea typeface="Arial"/>
                <a:cs typeface="Arial"/>
              </a:defRPr>
            </a:lvl2pPr>
            <a:lvl3pPr algn="ctr">
              <a:defRPr sz="1650" b="0">
                <a:solidFill>
                  <a:srgbClr val="0D2648"/>
                </a:solidFill>
                <a:latin typeface="Arial"/>
                <a:ea typeface="Arial"/>
                <a:cs typeface="Arial"/>
              </a:defRPr>
            </a:lvl3pPr>
            <a:lvl4pPr algn="ctr">
              <a:defRPr sz="1650" b="0">
                <a:solidFill>
                  <a:srgbClr val="0D2648"/>
                </a:solidFill>
                <a:latin typeface="Arial"/>
                <a:ea typeface="Arial"/>
                <a:cs typeface="Arial"/>
              </a:defRPr>
            </a:lvl4pPr>
            <a:lvl5pPr algn="ctr">
              <a:defRPr sz="1650" b="0">
                <a:solidFill>
                  <a:srgbClr val="0D2648"/>
                </a:solidFill>
                <a:latin typeface="Arial"/>
                <a:ea typeface="Arial"/>
                <a:cs typeface="Arial"/>
              </a:defRPr>
            </a:lvl5pPr>
            <a:lvl6pPr algn="ctr">
              <a:defRPr sz="1650" b="0">
                <a:solidFill>
                  <a:srgbClr val="0D2648"/>
                </a:solidFill>
                <a:latin typeface="Arial"/>
                <a:ea typeface="Arial"/>
                <a:cs typeface="Arial"/>
              </a:defRPr>
            </a:lvl6pPr>
            <a:lvl7pPr algn="ctr">
              <a:defRPr sz="1650" b="0">
                <a:solidFill>
                  <a:srgbClr val="0D2648"/>
                </a:solidFill>
                <a:latin typeface="Arial"/>
                <a:ea typeface="Arial"/>
                <a:cs typeface="Arial"/>
              </a:defRPr>
            </a:lvl7pPr>
            <a:lvl8pPr algn="ctr">
              <a:defRPr sz="1650" b="0">
                <a:solidFill>
                  <a:srgbClr val="0D2648"/>
                </a:solidFill>
                <a:latin typeface="Arial"/>
                <a:ea typeface="Arial"/>
                <a:cs typeface="Arial"/>
              </a:defRPr>
            </a:lvl8pPr>
            <a:lvl9pPr algn="ctr">
              <a:defRPr sz="1650" b="0">
                <a:solidFill>
                  <a:srgbClr val="0D2648"/>
                </a:solidFill>
                <a:latin typeface="Arial"/>
                <a:ea typeface="Arial"/>
                <a:cs typeface="Arial"/>
              </a:defRPr>
            </a:lvl9pPr>
          </a:lstStyle>
          <a:p xmlns:a="http://schemas.openxmlformats.org/drawingml/2006/main">
            <a:pPr algn="ctr">
              <a:lnSpc>
                <a:spcPct val="113000"/>
              </a:lnSpc>
              <a:buNone/>
              <a:defRPr sz="1650" b="0">
                <a:solidFill>
                  <a:srgbClr val="0D2648"/>
                </a:solidFill>
                <a:latin typeface="Arial"/>
                <a:ea typeface="Arial"/>
                <a:cs typeface="Arial"/>
              </a:defRPr>
            </a:pPr>
            <a:r>
              <a:rPr sz="1650" b="0">
                <a:solidFill>
                  <a:srgbClr val="0D2648"/>
                </a:solidFill>
                <a:latin typeface="Arial"/>
                <a:ea typeface="Arial"/>
                <a:cs typeface="Arial"/>
              </a:rPr>
              <a:t>Trương Việt Thành   MSV 24106898</a:t>
            </a:r>
          </a:p>
          <a:p xmlns:a="http://schemas.openxmlformats.org/drawingml/2006/main">
            <a:pPr algn="ctr">
              <a:lnSpc>
                <a:spcPct val="113000"/>
              </a:lnSpc>
              <a:buNone/>
              <a:defRPr sz="1650" b="0">
                <a:solidFill>
                  <a:srgbClr val="0D2648"/>
                </a:solidFill>
                <a:latin typeface="Arial"/>
                <a:ea typeface="Arial"/>
                <a:cs typeface="Arial"/>
              </a:defRPr>
            </a:pPr>
            <a:r>
              <a:rPr sz="1650" b="0">
                <a:solidFill>
                  <a:srgbClr val="0D2648"/>
                </a:solidFill>
                <a:latin typeface="Arial"/>
                <a:ea typeface="Arial"/>
                <a:cs typeface="Arial"/>
              </a:rPr>
              <a:t>Bùi Khánh Linh   MSV 24100543</a:t>
            </a:r>
          </a:p>
          <a:p xmlns:a="http://schemas.openxmlformats.org/drawingml/2006/main">
            <a:pPr algn="ctr">
              <a:lnSpc>
                <a:spcPct val="113000"/>
              </a:lnSpc>
              <a:buNone/>
              <a:defRPr sz="1650" b="0">
                <a:solidFill>
                  <a:srgbClr val="0D2648"/>
                </a:solidFill>
                <a:latin typeface="Arial"/>
                <a:ea typeface="Arial"/>
                <a:cs typeface="Arial"/>
              </a:defRPr>
            </a:pPr>
            <a:r>
              <a:rPr sz="1650" b="0">
                <a:solidFill>
                  <a:srgbClr val="0D2648"/>
                </a:solidFill>
                <a:latin typeface="Arial"/>
                <a:ea typeface="Arial"/>
                <a:cs typeface="Arial"/>
              </a:rPr>
              <a:t>Nguyễn Kinh Bang   MSV 24101477</a:t>
            </a:r>
          </a:p>
        </p:txBody>
      </p:sp>
    </p:spTree>
    <p:extLst>
      <p:ext uri="{BB962C8B-B14F-4D97-AF65-F5344CB8AC3E}">
        <p14:creationId xmlns:p14="http://schemas.microsoft.com/office/powerpoint/2010/main" val="345637010"/>
      </p:ext>
    </p:extLst>
  </p:cSld>
</p:sld>
</file>

<file path=ppt/slides/slide2.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43C731B-AAD4-427F-875E-49E33610AAA4}"/>
              </a:ext>
            </a:extLst>
          </p:cNvPr>
          <p:cNvPicPr>
            <a:picLocks xmlns:a="http://schemas.openxmlformats.org/drawingml/2006/main" noChangeAspect="1"/>
          </p:cNvPicPr>
          <p:nvPr/>
        </p:nvPicPr>
        <p:blipFill>
          <a:blip xmlns:r="http://schemas.openxmlformats.org/officeDocument/2006/relationships" xmlns:a="http://schemas.openxmlformats.org/drawingml/2006/main" r:embed="Rb7d22369b04a4e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9">
            <a:extLst xmlns:a="http://schemas.openxmlformats.org/drawingml/2006/main">
              <a:ext uri="{FF2B5EF4-FFF2-40B4-BE49-F238E27FC236}">
                <a16:creationId xmlns:a16="http://schemas.microsoft.com/office/drawing/2014/main" id="{5A84ED0F-9B07-4911-96D5-F8503266B9C3}"/>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Đặt vấn đề</a:t>
            </a:r>
          </a:p>
        </p:txBody>
      </p:sp>
      <p:sp>
        <p:nvSpPr>
          <p:cNvPr id="3" name="text-10">
            <a:extLst xmlns:a="http://schemas.openxmlformats.org/drawingml/2006/main">
              <a:ext uri="{FF2B5EF4-FFF2-40B4-BE49-F238E27FC236}">
                <a16:creationId xmlns:a16="http://schemas.microsoft.com/office/drawing/2014/main" id="{8190F3C0-C584-411D-A947-1C1C1AB9B9EF}"/>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02</a:t>
            </a:r>
          </a:p>
        </p:txBody>
      </p:sp>
      <p:sp>
        <p:nvSpPr>
          <p:cNvPr id="4" name="text-11">
            <a:extLst xmlns:a="http://schemas.openxmlformats.org/drawingml/2006/main">
              <a:ext uri="{FF2B5EF4-FFF2-40B4-BE49-F238E27FC236}">
                <a16:creationId xmlns:a16="http://schemas.microsoft.com/office/drawing/2014/main" id="{99CEA5F8-0242-4540-A3C1-87EC4C34CB37}"/>
              </a:ext>
            </a:extLst>
          </p:cNvPr>
          <p:cNvSpPr>
            <a:spLocks xmlns:a="http://schemas.openxmlformats.org/drawingml/2006/main" noGrp="1"/>
          </p:cNvSpPr>
          <p:nvPr/>
        </p:nvSpPr>
        <p:spPr>
          <a:xfrm xmlns:a="http://schemas.openxmlformats.org/drawingml/2006/main">
            <a:off x="952500" y="1971675"/>
            <a:ext cx="4857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D2648"/>
                </a:solidFill>
                <a:latin typeface="Arial"/>
                <a:ea typeface="Arial"/>
                <a:cs typeface="Arial"/>
              </a:defRPr>
            </a:defPPr>
            <a:lvl1pPr algn="l">
              <a:defRPr sz="2025" b="0">
                <a:solidFill>
                  <a:srgbClr val="0D2648"/>
                </a:solidFill>
                <a:latin typeface="Arial"/>
                <a:ea typeface="Arial"/>
                <a:cs typeface="Arial"/>
              </a:defRPr>
            </a:lvl1pPr>
            <a:lvl2pPr algn="l">
              <a:defRPr sz="2025" b="0">
                <a:solidFill>
                  <a:srgbClr val="0D2648"/>
                </a:solidFill>
                <a:latin typeface="Arial"/>
                <a:ea typeface="Arial"/>
                <a:cs typeface="Arial"/>
              </a:defRPr>
            </a:lvl2pPr>
            <a:lvl3pPr algn="l">
              <a:defRPr sz="2025" b="0">
                <a:solidFill>
                  <a:srgbClr val="0D2648"/>
                </a:solidFill>
                <a:latin typeface="Arial"/>
                <a:ea typeface="Arial"/>
                <a:cs typeface="Arial"/>
              </a:defRPr>
            </a:lvl3pPr>
            <a:lvl4pPr algn="l">
              <a:defRPr sz="2025" b="0">
                <a:solidFill>
                  <a:srgbClr val="0D2648"/>
                </a:solidFill>
                <a:latin typeface="Arial"/>
                <a:ea typeface="Arial"/>
                <a:cs typeface="Arial"/>
              </a:defRPr>
            </a:lvl4pPr>
            <a:lvl5pPr algn="l">
              <a:defRPr sz="2025" b="0">
                <a:solidFill>
                  <a:srgbClr val="0D2648"/>
                </a:solidFill>
                <a:latin typeface="Arial"/>
                <a:ea typeface="Arial"/>
                <a:cs typeface="Arial"/>
              </a:defRPr>
            </a:lvl5pPr>
            <a:lvl6pPr algn="l">
              <a:defRPr sz="2025" b="0">
                <a:solidFill>
                  <a:srgbClr val="0D2648"/>
                </a:solidFill>
                <a:latin typeface="Arial"/>
                <a:ea typeface="Arial"/>
                <a:cs typeface="Arial"/>
              </a:defRPr>
            </a:lvl6pPr>
            <a:lvl7pPr algn="l">
              <a:defRPr sz="2025" b="0">
                <a:solidFill>
                  <a:srgbClr val="0D2648"/>
                </a:solidFill>
                <a:latin typeface="Arial"/>
                <a:ea typeface="Arial"/>
                <a:cs typeface="Arial"/>
              </a:defRPr>
            </a:lvl7pPr>
            <a:lvl8pPr algn="l">
              <a:defRPr sz="2025" b="0">
                <a:solidFill>
                  <a:srgbClr val="0D2648"/>
                </a:solidFill>
                <a:latin typeface="Arial"/>
                <a:ea typeface="Arial"/>
                <a:cs typeface="Arial"/>
              </a:defRPr>
            </a:lvl8pPr>
            <a:lvl9pPr algn="l">
              <a:defRPr sz="2025" b="0">
                <a:solidFill>
                  <a:srgbClr val="0D2648"/>
                </a:solidFill>
                <a:latin typeface="Arial"/>
                <a:ea typeface="Arial"/>
                <a:cs typeface="Arial"/>
              </a:defRPr>
            </a:lvl9pPr>
          </a:lstStyle>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Thanh toán thẻ tạo ra lượng giao dịch lớn.</a:t>
            </a:r>
          </a:p>
          <a:p xmlns:a="http://schemas.openxmlformats.org/drawingml/2006/main">
            <a:r>
              <a:t/>
            </a:r>
          </a:p>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Gian lận gây rủi ro tài chính cho chủ thẻ và đơn vị xử lý.</a:t>
            </a:r>
          </a:p>
          <a:p xmlns:a="http://schemas.openxmlformats.org/drawingml/2006/main">
            <a:r>
              <a:t/>
            </a:r>
          </a:p>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Kiểm tra thủ công từng giao dịch khó đáp ứng quy mô này.</a:t>
            </a:r>
          </a:p>
          <a:p xmlns:a="http://schemas.openxmlformats.org/drawingml/2006/main">
            <a:r>
              <a:t/>
            </a:r>
          </a:p>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Mô hình hỗ trợ ưu tiên các giao dịch cần kiểm tra.</a:t>
            </a:r>
          </a:p>
        </p:txBody>
      </p:sp>
      <p:sp>
        <p:nvSpPr>
          <p:cNvPr id="5" name="diagram-12">
            <a:extLst xmlns:a="http://schemas.openxmlformats.org/drawingml/2006/main">
              <a:ext uri="{FF2B5EF4-FFF2-40B4-BE49-F238E27FC236}">
                <a16:creationId xmlns:a16="http://schemas.microsoft.com/office/drawing/2014/main" id="{A48E524D-B58B-4976-9430-022D7332588B}"/>
              </a:ext>
            </a:extLst>
          </p:cNvPr>
          <p:cNvSpPr>
            <a:spLocks xmlns:a="http://schemas.openxmlformats.org/drawingml/2006/main" noGrp="1"/>
          </p:cNvSpPr>
          <p:nvPr/>
        </p:nvSpPr>
        <p:spPr>
          <a:xfrm xmlns:a="http://schemas.openxmlformats.org/drawingml/2006/main">
            <a:off x="7143750" y="2238375"/>
            <a:ext cx="2381250" cy="6667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Giao dịch thẻ</a:t>
            </a:r>
          </a:p>
        </p:txBody>
      </p:sp>
      <p:sp>
        <p:nvSpPr>
          <p:cNvPr id="6" name="diagram-13">
            <a:extLst xmlns:a="http://schemas.openxmlformats.org/drawingml/2006/main">
              <a:ext uri="{FF2B5EF4-FFF2-40B4-BE49-F238E27FC236}">
                <a16:creationId xmlns:a16="http://schemas.microsoft.com/office/drawing/2014/main" id="{CD0A8170-75AC-4942-B469-15020AD47E6D}"/>
              </a:ext>
            </a:extLst>
          </p:cNvPr>
          <p:cNvSpPr>
            <a:spLocks xmlns:a="http://schemas.openxmlformats.org/drawingml/2006/main" noGrp="1"/>
          </p:cNvSpPr>
          <p:nvPr/>
        </p:nvSpPr>
        <p:spPr>
          <a:xfrm xmlns:a="http://schemas.openxmlformats.org/drawingml/2006/main">
            <a:off x="7143750" y="3476625"/>
            <a:ext cx="2381250" cy="6667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Mô hình phát hiện</a:t>
            </a:r>
          </a:p>
        </p:txBody>
      </p:sp>
      <p:sp>
        <p:nvSpPr>
          <p:cNvPr id="7" name="diagram-14">
            <a:extLst xmlns:a="http://schemas.openxmlformats.org/drawingml/2006/main">
              <a:ext uri="{FF2B5EF4-FFF2-40B4-BE49-F238E27FC236}">
                <a16:creationId xmlns:a16="http://schemas.microsoft.com/office/drawing/2014/main" id="{01DA3014-3C21-4AA3-B8F6-BB0F8604457F}"/>
              </a:ext>
            </a:extLst>
          </p:cNvPr>
          <p:cNvSpPr>
            <a:spLocks xmlns:a="http://schemas.openxmlformats.org/drawingml/2006/main" noGrp="1"/>
          </p:cNvSpPr>
          <p:nvPr/>
        </p:nvSpPr>
        <p:spPr>
          <a:xfrm xmlns:a="http://schemas.openxmlformats.org/drawingml/2006/main">
            <a:off x="6429375" y="4857750"/>
            <a:ext cx="1666875" cy="6667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defRPr sz="1725" b="1">
                <a:solidFill>
                  <a:srgbClr val="113E7A"/>
                </a:solidFill>
                <a:latin typeface="Arial"/>
                <a:ea typeface="Arial"/>
                <a:cs typeface="Arial"/>
              </a:defRPr>
            </a:pPr>
            <a:r>
              <a:rPr sz="1725" b="1">
                <a:solidFill>
                  <a:srgbClr val="113E7A"/>
                </a:solidFill>
                <a:latin typeface="Arial"/>
                <a:ea typeface="Arial"/>
                <a:cs typeface="Arial"/>
              </a:rPr>
              <a:t>Bình thường</a:t>
            </a:r>
          </a:p>
        </p:txBody>
      </p:sp>
      <p:sp>
        <p:nvSpPr>
          <p:cNvPr id="8" name="diagram-15">
            <a:extLst xmlns:a="http://schemas.openxmlformats.org/drawingml/2006/main">
              <a:ext uri="{FF2B5EF4-FFF2-40B4-BE49-F238E27FC236}">
                <a16:creationId xmlns:a16="http://schemas.microsoft.com/office/drawing/2014/main" id="{638F2CF3-FD83-4521-B533-652D01841E3B}"/>
              </a:ext>
            </a:extLst>
          </p:cNvPr>
          <p:cNvSpPr>
            <a:spLocks xmlns:a="http://schemas.openxmlformats.org/drawingml/2006/main" noGrp="1"/>
          </p:cNvSpPr>
          <p:nvPr/>
        </p:nvSpPr>
        <p:spPr>
          <a:xfrm xmlns:a="http://schemas.openxmlformats.org/drawingml/2006/main">
            <a:off x="8715375" y="4857750"/>
            <a:ext cx="1809750" cy="6667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defRPr sz="1725" b="1">
                <a:solidFill>
                  <a:srgbClr val="113E7A"/>
                </a:solidFill>
                <a:latin typeface="Arial"/>
                <a:ea typeface="Arial"/>
                <a:cs typeface="Arial"/>
              </a:defRPr>
            </a:pPr>
            <a:r>
              <a:rPr sz="1725" b="1">
                <a:solidFill>
                  <a:srgbClr val="113E7A"/>
                </a:solidFill>
                <a:latin typeface="Arial"/>
                <a:ea typeface="Arial"/>
                <a:cs typeface="Arial"/>
              </a:rPr>
              <a:t>Nghi gian lận</a:t>
            </a:r>
          </a:p>
        </p:txBody>
      </p:sp>
      <p:sp>
        <p:nvSpPr>
          <p:cNvPr id="9" name="flow-arrow-16">
            <a:extLst xmlns:a="http://schemas.openxmlformats.org/drawingml/2006/main">
              <a:ext uri="{FF2B5EF4-FFF2-40B4-BE49-F238E27FC236}">
                <a16:creationId xmlns:a16="http://schemas.microsoft.com/office/drawing/2014/main" id="{214B5CE1-FF87-4F6F-B0F5-B0A71DA5828F}"/>
              </a:ext>
            </a:extLst>
          </p:cNvPr>
          <p:cNvSpPr>
            <a:spLocks xmlns:a="http://schemas.openxmlformats.org/drawingml/2006/main" noGrp="1"/>
          </p:cNvSpPr>
          <p:nvPr/>
        </p:nvSpPr>
        <p:spPr>
          <a:xfrm xmlns:a="http://schemas.openxmlformats.org/drawingml/2006/main" rot="5400000">
            <a:off x="8086725" y="3143250"/>
            <a:ext cx="495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0" name="flow-arrow-17">
            <a:extLst xmlns:a="http://schemas.openxmlformats.org/drawingml/2006/main">
              <a:ext uri="{FF2B5EF4-FFF2-40B4-BE49-F238E27FC236}">
                <a16:creationId xmlns:a16="http://schemas.microsoft.com/office/drawing/2014/main" id="{FFC59598-3DC4-4443-874C-69E6168BAFAB}"/>
              </a:ext>
            </a:extLst>
          </p:cNvPr>
          <p:cNvSpPr>
            <a:spLocks xmlns:a="http://schemas.openxmlformats.org/drawingml/2006/main" noGrp="1"/>
          </p:cNvSpPr>
          <p:nvPr/>
        </p:nvSpPr>
        <p:spPr>
          <a:xfrm xmlns:a="http://schemas.openxmlformats.org/drawingml/2006/main" rot="8778596">
            <a:off x="7192765" y="4452938"/>
            <a:ext cx="1211658"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1" name="flow-arrow-18">
            <a:extLst xmlns:a="http://schemas.openxmlformats.org/drawingml/2006/main">
              <a:ext uri="{FF2B5EF4-FFF2-40B4-BE49-F238E27FC236}">
                <a16:creationId xmlns:a16="http://schemas.microsoft.com/office/drawing/2014/main" id="{527BF434-8203-441D-84B0-CE85AED1DCF7}"/>
              </a:ext>
            </a:extLst>
          </p:cNvPr>
          <p:cNvSpPr>
            <a:spLocks xmlns:a="http://schemas.openxmlformats.org/drawingml/2006/main" noGrp="1"/>
          </p:cNvSpPr>
          <p:nvPr/>
        </p:nvSpPr>
        <p:spPr>
          <a:xfrm xmlns:a="http://schemas.openxmlformats.org/drawingml/2006/main" rot="1743276">
            <a:off x="8279918" y="4452938"/>
            <a:ext cx="1394788"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Tree>
    <p:extLst>
      <p:ext uri="{BB962C8B-B14F-4D97-AF65-F5344CB8AC3E}">
        <p14:creationId xmlns:p14="http://schemas.microsoft.com/office/powerpoint/2010/main" val="1973031348"/>
      </p:ext>
    </p:extLst>
  </p:cSld>
</p:sld>
</file>

<file path=ppt/slides/slide3.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0743B5E1-67AA-485E-AF96-8A187A7FAE37}"/>
              </a:ext>
            </a:extLst>
          </p:cNvPr>
          <p:cNvPicPr>
            <a:picLocks xmlns:a="http://schemas.openxmlformats.org/drawingml/2006/main" noChangeAspect="1"/>
          </p:cNvPicPr>
          <p:nvPr/>
        </p:nvPicPr>
        <p:blipFill>
          <a:blip xmlns:r="http://schemas.openxmlformats.org/officeDocument/2006/relationships" xmlns:a="http://schemas.openxmlformats.org/drawingml/2006/main" r:embed="R7cc65104188548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9">
            <a:extLst xmlns:a="http://schemas.openxmlformats.org/drawingml/2006/main">
              <a:ext uri="{FF2B5EF4-FFF2-40B4-BE49-F238E27FC236}">
                <a16:creationId xmlns:a16="http://schemas.microsoft.com/office/drawing/2014/main" id="{AA963338-CB79-42A4-B839-45222DC9545E}"/>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Mục tiêu và quy trình thực hiện</a:t>
            </a:r>
          </a:p>
        </p:txBody>
      </p:sp>
      <p:sp>
        <p:nvSpPr>
          <p:cNvPr id="3" name="text-20">
            <a:extLst xmlns:a="http://schemas.openxmlformats.org/drawingml/2006/main">
              <a:ext uri="{FF2B5EF4-FFF2-40B4-BE49-F238E27FC236}">
                <a16:creationId xmlns:a16="http://schemas.microsoft.com/office/drawing/2014/main" id="{999C119E-D8E3-494E-9963-D5024D3AAA6F}"/>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03</a:t>
            </a:r>
          </a:p>
        </p:txBody>
      </p:sp>
      <p:sp>
        <p:nvSpPr>
          <p:cNvPr id="4" name="text-21">
            <a:extLst xmlns:a="http://schemas.openxmlformats.org/drawingml/2006/main">
              <a:ext uri="{FF2B5EF4-FFF2-40B4-BE49-F238E27FC236}">
                <a16:creationId xmlns:a16="http://schemas.microsoft.com/office/drawing/2014/main" id="{EBBE869B-7F2F-479C-AAD2-54EB74C00B53}"/>
              </a:ext>
            </a:extLst>
          </p:cNvPr>
          <p:cNvSpPr>
            <a:spLocks xmlns:a="http://schemas.openxmlformats.org/drawingml/2006/main" noGrp="1"/>
          </p:cNvSpPr>
          <p:nvPr/>
        </p:nvSpPr>
        <p:spPr>
          <a:xfrm xmlns:a="http://schemas.openxmlformats.org/drawingml/2006/main">
            <a:off x="1047750" y="1847850"/>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D2648"/>
                </a:solidFill>
                <a:latin typeface="Arial"/>
                <a:ea typeface="Arial"/>
                <a:cs typeface="Arial"/>
              </a:defRPr>
            </a:defPPr>
            <a:lvl1pPr algn="l">
              <a:defRPr sz="2100" b="0">
                <a:solidFill>
                  <a:srgbClr val="0D2648"/>
                </a:solidFill>
                <a:latin typeface="Arial"/>
                <a:ea typeface="Arial"/>
                <a:cs typeface="Arial"/>
              </a:defRPr>
            </a:lvl1pPr>
            <a:lvl2pPr algn="l">
              <a:defRPr sz="2100" b="0">
                <a:solidFill>
                  <a:srgbClr val="0D2648"/>
                </a:solidFill>
                <a:latin typeface="Arial"/>
                <a:ea typeface="Arial"/>
                <a:cs typeface="Arial"/>
              </a:defRPr>
            </a:lvl2pPr>
            <a:lvl3pPr algn="l">
              <a:defRPr sz="2100" b="0">
                <a:solidFill>
                  <a:srgbClr val="0D2648"/>
                </a:solidFill>
                <a:latin typeface="Arial"/>
                <a:ea typeface="Arial"/>
                <a:cs typeface="Arial"/>
              </a:defRPr>
            </a:lvl3pPr>
            <a:lvl4pPr algn="l">
              <a:defRPr sz="2100" b="0">
                <a:solidFill>
                  <a:srgbClr val="0D2648"/>
                </a:solidFill>
                <a:latin typeface="Arial"/>
                <a:ea typeface="Arial"/>
                <a:cs typeface="Arial"/>
              </a:defRPr>
            </a:lvl4pPr>
            <a:lvl5pPr algn="l">
              <a:defRPr sz="2100" b="0">
                <a:solidFill>
                  <a:srgbClr val="0D2648"/>
                </a:solidFill>
                <a:latin typeface="Arial"/>
                <a:ea typeface="Arial"/>
                <a:cs typeface="Arial"/>
              </a:defRPr>
            </a:lvl5pPr>
            <a:lvl6pPr algn="l">
              <a:defRPr sz="2100" b="0">
                <a:solidFill>
                  <a:srgbClr val="0D2648"/>
                </a:solidFill>
                <a:latin typeface="Arial"/>
                <a:ea typeface="Arial"/>
                <a:cs typeface="Arial"/>
              </a:defRPr>
            </a:lvl6pPr>
            <a:lvl7pPr algn="l">
              <a:defRPr sz="2100" b="0">
                <a:solidFill>
                  <a:srgbClr val="0D2648"/>
                </a:solidFill>
                <a:latin typeface="Arial"/>
                <a:ea typeface="Arial"/>
                <a:cs typeface="Arial"/>
              </a:defRPr>
            </a:lvl7pPr>
            <a:lvl8pPr algn="l">
              <a:defRPr sz="2100" b="0">
                <a:solidFill>
                  <a:srgbClr val="0D2648"/>
                </a:solidFill>
                <a:latin typeface="Arial"/>
                <a:ea typeface="Arial"/>
                <a:cs typeface="Arial"/>
              </a:defRPr>
            </a:lvl8pPr>
            <a:lvl9pPr algn="l">
              <a:defRPr sz="2100" b="0">
                <a:solidFill>
                  <a:srgbClr val="0D2648"/>
                </a:solidFill>
                <a:latin typeface="Arial"/>
                <a:ea typeface="Arial"/>
                <a:cs typeface="Arial"/>
              </a:defRPr>
            </a:lvl9pPr>
          </a:lstStyle>
          <a:p xmlns:a="http://schemas.openxmlformats.org/drawingml/2006/main">
            <a:pPr algn="l">
              <a:lnSpc>
                <a:spcPct val="113000"/>
              </a:lnSpc>
              <a:buNone/>
              <a:defRPr sz="2100" b="0">
                <a:solidFill>
                  <a:srgbClr val="0D2648"/>
                </a:solidFill>
                <a:latin typeface="Arial"/>
                <a:ea typeface="Arial"/>
                <a:cs typeface="Arial"/>
              </a:defRPr>
            </a:pPr>
            <a:r>
              <a:rPr sz="2100" b="0">
                <a:solidFill>
                  <a:srgbClr val="0D2648"/>
                </a:solidFill>
                <a:latin typeface="Arial"/>
                <a:ea typeface="Arial"/>
                <a:cs typeface="Arial"/>
              </a:rPr>
              <a:t>Phân tích dữ liệu giao dịch và xây dựng bộ phân loại hai lớp.</a:t>
            </a:r>
          </a:p>
          <a:p xmlns:a="http://schemas.openxmlformats.org/drawingml/2006/main">
            <a:pPr algn="l">
              <a:lnSpc>
                <a:spcPct val="113000"/>
              </a:lnSpc>
              <a:buNone/>
              <a:defRPr sz="2100" b="0">
                <a:solidFill>
                  <a:srgbClr val="0D2648"/>
                </a:solidFill>
                <a:latin typeface="Arial"/>
                <a:ea typeface="Arial"/>
                <a:cs typeface="Arial"/>
              </a:defRPr>
            </a:pPr>
            <a:r>
              <a:rPr sz="2100" b="0">
                <a:solidFill>
                  <a:srgbClr val="0D2648"/>
                </a:solidFill>
                <a:latin typeface="Arial"/>
                <a:ea typeface="Arial"/>
                <a:cs typeface="Arial"/>
              </a:rPr>
              <a:t>So sánh ba thuật toán trên cùng validation, sau đó đánh giá test độc lập.</a:t>
            </a:r>
          </a:p>
          <a:p xmlns:a="http://schemas.openxmlformats.org/drawingml/2006/main">
            <a:pPr algn="l">
              <a:lnSpc>
                <a:spcPct val="113000"/>
              </a:lnSpc>
              <a:buNone/>
              <a:defRPr sz="2100" b="0">
                <a:solidFill>
                  <a:srgbClr val="0D2648"/>
                </a:solidFill>
                <a:latin typeface="Arial"/>
                <a:ea typeface="Arial"/>
                <a:cs typeface="Arial"/>
              </a:defRPr>
            </a:pPr>
            <a:r>
              <a:rPr sz="2100" b="0">
                <a:solidFill>
                  <a:srgbClr val="0D2648"/>
                </a:solidFill>
                <a:latin typeface="Arial"/>
                <a:ea typeface="Arial"/>
                <a:cs typeface="Arial"/>
              </a:rPr>
              <a:t>Hoàn thiện ứng dụng Streamlit để demo dự đoán theo lô CSV.</a:t>
            </a:r>
          </a:p>
        </p:txBody>
      </p:sp>
      <p:sp>
        <p:nvSpPr>
          <p:cNvPr id="5" name="diagram-22">
            <a:extLst xmlns:a="http://schemas.openxmlformats.org/drawingml/2006/main">
              <a:ext uri="{FF2B5EF4-FFF2-40B4-BE49-F238E27FC236}">
                <a16:creationId xmlns:a16="http://schemas.microsoft.com/office/drawing/2014/main" id="{B0561282-4B43-4532-B709-9289FD909A41}"/>
              </a:ext>
            </a:extLst>
          </p:cNvPr>
          <p:cNvSpPr>
            <a:spLocks xmlns:a="http://schemas.openxmlformats.org/drawingml/2006/main" noGrp="1"/>
          </p:cNvSpPr>
          <p:nvPr/>
        </p:nvSpPr>
        <p:spPr>
          <a:xfrm xmlns:a="http://schemas.openxmlformats.org/drawingml/2006/main">
            <a:off x="809625"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Dataset</a:t>
            </a:r>
          </a:p>
        </p:txBody>
      </p:sp>
      <p:sp>
        <p:nvSpPr>
          <p:cNvPr id="6" name="text-23">
            <a:extLst xmlns:a="http://schemas.openxmlformats.org/drawingml/2006/main">
              <a:ext uri="{FF2B5EF4-FFF2-40B4-BE49-F238E27FC236}">
                <a16:creationId xmlns:a16="http://schemas.microsoft.com/office/drawing/2014/main" id="{80513B0B-BE2B-476B-8631-44161DB034A3}"/>
              </a:ext>
            </a:extLst>
          </p:cNvPr>
          <p:cNvSpPr>
            <a:spLocks xmlns:a="http://schemas.openxmlformats.org/drawingml/2006/main" noGrp="1"/>
          </p:cNvSpPr>
          <p:nvPr/>
        </p:nvSpPr>
        <p:spPr>
          <a:xfrm xmlns:a="http://schemas.openxmlformats.org/drawingml/2006/main">
            <a:off x="752475"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CSV gốc</a:t>
            </a:r>
          </a:p>
        </p:txBody>
      </p:sp>
      <p:sp>
        <p:nvSpPr>
          <p:cNvPr id="7" name="diagram-24">
            <a:extLst xmlns:a="http://schemas.openxmlformats.org/drawingml/2006/main">
              <a:ext uri="{FF2B5EF4-FFF2-40B4-BE49-F238E27FC236}">
                <a16:creationId xmlns:a16="http://schemas.microsoft.com/office/drawing/2014/main" id="{C901B7B1-5D95-4172-81DF-915F5A1467A4}"/>
              </a:ext>
            </a:extLst>
          </p:cNvPr>
          <p:cNvSpPr>
            <a:spLocks xmlns:a="http://schemas.openxmlformats.org/drawingml/2006/main" noGrp="1"/>
          </p:cNvSpPr>
          <p:nvPr/>
        </p:nvSpPr>
        <p:spPr>
          <a:xfrm xmlns:a="http://schemas.openxmlformats.org/drawingml/2006/main">
            <a:off x="2571750"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EDA</a:t>
            </a:r>
          </a:p>
        </p:txBody>
      </p:sp>
      <p:sp>
        <p:nvSpPr>
          <p:cNvPr id="8" name="text-25">
            <a:extLst xmlns:a="http://schemas.openxmlformats.org/drawingml/2006/main">
              <a:ext uri="{FF2B5EF4-FFF2-40B4-BE49-F238E27FC236}">
                <a16:creationId xmlns:a16="http://schemas.microsoft.com/office/drawing/2014/main" id="{F530D1C6-780B-4546-8924-05B027892161}"/>
              </a:ext>
            </a:extLst>
          </p:cNvPr>
          <p:cNvSpPr>
            <a:spLocks xmlns:a="http://schemas.openxmlformats.org/drawingml/2006/main" noGrp="1"/>
          </p:cNvSpPr>
          <p:nvPr/>
        </p:nvSpPr>
        <p:spPr>
          <a:xfrm xmlns:a="http://schemas.openxmlformats.org/drawingml/2006/main">
            <a:off x="2514600"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Chất lượng</a:t>
            </a:r>
          </a:p>
        </p:txBody>
      </p:sp>
      <p:sp>
        <p:nvSpPr>
          <p:cNvPr id="9" name="diagram-26">
            <a:extLst xmlns:a="http://schemas.openxmlformats.org/drawingml/2006/main">
              <a:ext uri="{FF2B5EF4-FFF2-40B4-BE49-F238E27FC236}">
                <a16:creationId xmlns:a16="http://schemas.microsoft.com/office/drawing/2014/main" id="{652BCA50-8E5F-4A49-9C9A-66ECB467DBC8}"/>
              </a:ext>
            </a:extLst>
          </p:cNvPr>
          <p:cNvSpPr>
            <a:spLocks xmlns:a="http://schemas.openxmlformats.org/drawingml/2006/main" noGrp="1"/>
          </p:cNvSpPr>
          <p:nvPr/>
        </p:nvSpPr>
        <p:spPr>
          <a:xfrm xmlns:a="http://schemas.openxmlformats.org/drawingml/2006/main">
            <a:off x="4333875"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Tiền xử lý</a:t>
            </a:r>
          </a:p>
        </p:txBody>
      </p:sp>
      <p:sp>
        <p:nvSpPr>
          <p:cNvPr id="10" name="text-27">
            <a:extLst xmlns:a="http://schemas.openxmlformats.org/drawingml/2006/main">
              <a:ext uri="{FF2B5EF4-FFF2-40B4-BE49-F238E27FC236}">
                <a16:creationId xmlns:a16="http://schemas.microsoft.com/office/drawing/2014/main" id="{5DC5DE7C-6A22-4002-B80C-7E473DEA35FD}"/>
              </a:ext>
            </a:extLst>
          </p:cNvPr>
          <p:cNvSpPr>
            <a:spLocks xmlns:a="http://schemas.openxmlformats.org/drawingml/2006/main" noGrp="1"/>
          </p:cNvSpPr>
          <p:nvPr/>
        </p:nvSpPr>
        <p:spPr>
          <a:xfrm xmlns:a="http://schemas.openxmlformats.org/drawingml/2006/main">
            <a:off x="4276725"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Chia dữ liệu</a:t>
            </a:r>
          </a:p>
        </p:txBody>
      </p:sp>
      <p:sp>
        <p:nvSpPr>
          <p:cNvPr id="11" name="diagram-28">
            <a:extLst xmlns:a="http://schemas.openxmlformats.org/drawingml/2006/main">
              <a:ext uri="{FF2B5EF4-FFF2-40B4-BE49-F238E27FC236}">
                <a16:creationId xmlns:a16="http://schemas.microsoft.com/office/drawing/2014/main" id="{65661269-771C-40EE-9486-0162ED6391CB}"/>
              </a:ext>
            </a:extLst>
          </p:cNvPr>
          <p:cNvSpPr>
            <a:spLocks xmlns:a="http://schemas.openxmlformats.org/drawingml/2006/main" noGrp="1"/>
          </p:cNvSpPr>
          <p:nvPr/>
        </p:nvSpPr>
        <p:spPr>
          <a:xfrm xmlns:a="http://schemas.openxmlformats.org/drawingml/2006/main">
            <a:off x="6096000"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Huấn luyện</a:t>
            </a:r>
          </a:p>
        </p:txBody>
      </p:sp>
      <p:sp>
        <p:nvSpPr>
          <p:cNvPr id="12" name="text-29">
            <a:extLst xmlns:a="http://schemas.openxmlformats.org/drawingml/2006/main">
              <a:ext uri="{FF2B5EF4-FFF2-40B4-BE49-F238E27FC236}">
                <a16:creationId xmlns:a16="http://schemas.microsoft.com/office/drawing/2014/main" id="{9AF2DBF3-3080-4AB0-94C1-F485CE0FF6C5}"/>
              </a:ext>
            </a:extLst>
          </p:cNvPr>
          <p:cNvSpPr>
            <a:spLocks xmlns:a="http://schemas.openxmlformats.org/drawingml/2006/main" noGrp="1"/>
          </p:cNvSpPr>
          <p:nvPr/>
        </p:nvSpPr>
        <p:spPr>
          <a:xfrm xmlns:a="http://schemas.openxmlformats.org/drawingml/2006/main">
            <a:off x="6038850"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3 thuật toán</a:t>
            </a:r>
          </a:p>
        </p:txBody>
      </p:sp>
      <p:sp>
        <p:nvSpPr>
          <p:cNvPr id="13" name="diagram-30">
            <a:extLst xmlns:a="http://schemas.openxmlformats.org/drawingml/2006/main">
              <a:ext uri="{FF2B5EF4-FFF2-40B4-BE49-F238E27FC236}">
                <a16:creationId xmlns:a16="http://schemas.microsoft.com/office/drawing/2014/main" id="{DEAE1C75-6264-4E80-9F28-407627E46C75}"/>
              </a:ext>
            </a:extLst>
          </p:cNvPr>
          <p:cNvSpPr>
            <a:spLocks xmlns:a="http://schemas.openxmlformats.org/drawingml/2006/main" noGrp="1"/>
          </p:cNvSpPr>
          <p:nvPr/>
        </p:nvSpPr>
        <p:spPr>
          <a:xfrm xmlns:a="http://schemas.openxmlformats.org/drawingml/2006/main">
            <a:off x="7858125"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Đánh giá</a:t>
            </a:r>
          </a:p>
        </p:txBody>
      </p:sp>
      <p:sp>
        <p:nvSpPr>
          <p:cNvPr id="14" name="text-31">
            <a:extLst xmlns:a="http://schemas.openxmlformats.org/drawingml/2006/main">
              <a:ext uri="{FF2B5EF4-FFF2-40B4-BE49-F238E27FC236}">
                <a16:creationId xmlns:a16="http://schemas.microsoft.com/office/drawing/2014/main" id="{29D0D8D1-057B-424D-A067-89F8305626BC}"/>
              </a:ext>
            </a:extLst>
          </p:cNvPr>
          <p:cNvSpPr>
            <a:spLocks xmlns:a="http://schemas.openxmlformats.org/drawingml/2006/main" noGrp="1"/>
          </p:cNvSpPr>
          <p:nvPr/>
        </p:nvSpPr>
        <p:spPr>
          <a:xfrm xmlns:a="http://schemas.openxmlformats.org/drawingml/2006/main">
            <a:off x="7800975"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Test độc lập</a:t>
            </a:r>
          </a:p>
        </p:txBody>
      </p:sp>
      <p:sp>
        <p:nvSpPr>
          <p:cNvPr id="15" name="diagram-32">
            <a:extLst xmlns:a="http://schemas.openxmlformats.org/drawingml/2006/main">
              <a:ext uri="{FF2B5EF4-FFF2-40B4-BE49-F238E27FC236}">
                <a16:creationId xmlns:a16="http://schemas.microsoft.com/office/drawing/2014/main" id="{D86D37F9-D58F-409B-9797-3D72C5F2323B}"/>
              </a:ext>
            </a:extLst>
          </p:cNvPr>
          <p:cNvSpPr>
            <a:spLocks xmlns:a="http://schemas.openxmlformats.org/drawingml/2006/main" noGrp="1"/>
          </p:cNvSpPr>
          <p:nvPr/>
        </p:nvSpPr>
        <p:spPr>
          <a:xfrm xmlns:a="http://schemas.openxmlformats.org/drawingml/2006/main">
            <a:off x="9620250" y="3476625"/>
            <a:ext cx="1571625" cy="7429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650" b="1">
                <a:solidFill>
                  <a:srgbClr val="113E7A"/>
                </a:solidFill>
                <a:latin typeface="Arial"/>
                <a:ea typeface="Arial"/>
                <a:cs typeface="Arial"/>
              </a:defRPr>
            </a:defPPr>
            <a:lvl1pPr algn="ctr">
              <a:defRPr sz="1650" b="1">
                <a:solidFill>
                  <a:srgbClr val="113E7A"/>
                </a:solidFill>
                <a:latin typeface="Arial"/>
                <a:ea typeface="Arial"/>
                <a:cs typeface="Arial"/>
              </a:defRPr>
            </a:lvl1pPr>
            <a:lvl2pPr algn="ctr">
              <a:defRPr sz="1650" b="1">
                <a:solidFill>
                  <a:srgbClr val="113E7A"/>
                </a:solidFill>
                <a:latin typeface="Arial"/>
                <a:ea typeface="Arial"/>
                <a:cs typeface="Arial"/>
              </a:defRPr>
            </a:lvl2pPr>
            <a:lvl3pPr algn="ctr">
              <a:defRPr sz="1650" b="1">
                <a:solidFill>
                  <a:srgbClr val="113E7A"/>
                </a:solidFill>
                <a:latin typeface="Arial"/>
                <a:ea typeface="Arial"/>
                <a:cs typeface="Arial"/>
              </a:defRPr>
            </a:lvl3pPr>
            <a:lvl4pPr algn="ctr">
              <a:defRPr sz="1650" b="1">
                <a:solidFill>
                  <a:srgbClr val="113E7A"/>
                </a:solidFill>
                <a:latin typeface="Arial"/>
                <a:ea typeface="Arial"/>
                <a:cs typeface="Arial"/>
              </a:defRPr>
            </a:lvl4pPr>
            <a:lvl5pPr algn="ctr">
              <a:defRPr sz="1650" b="1">
                <a:solidFill>
                  <a:srgbClr val="113E7A"/>
                </a:solidFill>
                <a:latin typeface="Arial"/>
                <a:ea typeface="Arial"/>
                <a:cs typeface="Arial"/>
              </a:defRPr>
            </a:lvl5pPr>
            <a:lvl6pPr algn="ctr">
              <a:defRPr sz="1650" b="1">
                <a:solidFill>
                  <a:srgbClr val="113E7A"/>
                </a:solidFill>
                <a:latin typeface="Arial"/>
                <a:ea typeface="Arial"/>
                <a:cs typeface="Arial"/>
              </a:defRPr>
            </a:lvl6pPr>
            <a:lvl7pPr algn="ctr">
              <a:defRPr sz="1650" b="1">
                <a:solidFill>
                  <a:srgbClr val="113E7A"/>
                </a:solidFill>
                <a:latin typeface="Arial"/>
                <a:ea typeface="Arial"/>
                <a:cs typeface="Arial"/>
              </a:defRPr>
            </a:lvl7pPr>
            <a:lvl8pPr algn="ctr">
              <a:defRPr sz="1650" b="1">
                <a:solidFill>
                  <a:srgbClr val="113E7A"/>
                </a:solidFill>
                <a:latin typeface="Arial"/>
                <a:ea typeface="Arial"/>
                <a:cs typeface="Arial"/>
              </a:defRPr>
            </a:lvl8pPr>
            <a:lvl9pPr algn="ctr">
              <a:defRPr sz="1650" b="1">
                <a:solidFill>
                  <a:srgbClr val="113E7A"/>
                </a:solidFill>
                <a:latin typeface="Arial"/>
                <a:ea typeface="Arial"/>
                <a:cs typeface="Arial"/>
              </a:defRPr>
            </a:lvl9pPr>
          </a:lstStyle>
          <a:p xmlns:a="http://schemas.openxmlformats.org/drawingml/2006/main">
            <a:pPr algn="ctr">
              <a:defRPr sz="1650" b="1">
                <a:solidFill>
                  <a:srgbClr val="113E7A"/>
                </a:solidFill>
                <a:latin typeface="Arial"/>
                <a:ea typeface="Arial"/>
                <a:cs typeface="Arial"/>
              </a:defRPr>
            </a:pPr>
            <a:r>
              <a:rPr sz="1650" b="1">
                <a:solidFill>
                  <a:srgbClr val="113E7A"/>
                </a:solidFill>
                <a:latin typeface="Arial"/>
                <a:ea typeface="Arial"/>
                <a:cs typeface="Arial"/>
              </a:rPr>
              <a:t>Demo</a:t>
            </a:r>
          </a:p>
        </p:txBody>
      </p:sp>
      <p:sp>
        <p:nvSpPr>
          <p:cNvPr id="16" name="text-33">
            <a:extLst xmlns:a="http://schemas.openxmlformats.org/drawingml/2006/main">
              <a:ext uri="{FF2B5EF4-FFF2-40B4-BE49-F238E27FC236}">
                <a16:creationId xmlns:a16="http://schemas.microsoft.com/office/drawing/2014/main" id="{FA931B47-F8DA-4CA1-826C-9D94666F44E9}"/>
              </a:ext>
            </a:extLst>
          </p:cNvPr>
          <p:cNvSpPr>
            <a:spLocks xmlns:a="http://schemas.openxmlformats.org/drawingml/2006/main" noGrp="1"/>
          </p:cNvSpPr>
          <p:nvPr/>
        </p:nvSpPr>
        <p:spPr>
          <a:xfrm xmlns:a="http://schemas.openxmlformats.org/drawingml/2006/main">
            <a:off x="9563100" y="4381500"/>
            <a:ext cx="1685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Streamlit</a:t>
            </a:r>
          </a:p>
        </p:txBody>
      </p:sp>
      <p:sp>
        <p:nvSpPr>
          <p:cNvPr id="17" name="flow-arrow-34">
            <a:extLst xmlns:a="http://schemas.openxmlformats.org/drawingml/2006/main">
              <a:ext uri="{FF2B5EF4-FFF2-40B4-BE49-F238E27FC236}">
                <a16:creationId xmlns:a16="http://schemas.microsoft.com/office/drawing/2014/main" id="{FD658A2A-1BAE-43E7-B8F1-F3488CA034FE}"/>
              </a:ext>
            </a:extLst>
          </p:cNvPr>
          <p:cNvSpPr>
            <a:spLocks xmlns:a="http://schemas.openxmlformats.org/drawingml/2006/main" noGrp="1"/>
          </p:cNvSpPr>
          <p:nvPr/>
        </p:nvSpPr>
        <p:spPr>
          <a:xfrm xmlns:a="http://schemas.openxmlformats.org/drawingml/2006/main" rot="0">
            <a:off x="2419350" y="3800475"/>
            <a:ext cx="114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8" name="flow-arrow-35">
            <a:extLst xmlns:a="http://schemas.openxmlformats.org/drawingml/2006/main">
              <a:ext uri="{FF2B5EF4-FFF2-40B4-BE49-F238E27FC236}">
                <a16:creationId xmlns:a16="http://schemas.microsoft.com/office/drawing/2014/main" id="{97013DA4-E962-4AC3-BFAD-425AC9EF84C7}"/>
              </a:ext>
            </a:extLst>
          </p:cNvPr>
          <p:cNvSpPr>
            <a:spLocks xmlns:a="http://schemas.openxmlformats.org/drawingml/2006/main" noGrp="1"/>
          </p:cNvSpPr>
          <p:nvPr/>
        </p:nvSpPr>
        <p:spPr>
          <a:xfrm xmlns:a="http://schemas.openxmlformats.org/drawingml/2006/main" rot="0">
            <a:off x="4181475" y="3800475"/>
            <a:ext cx="114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9" name="flow-arrow-36">
            <a:extLst xmlns:a="http://schemas.openxmlformats.org/drawingml/2006/main">
              <a:ext uri="{FF2B5EF4-FFF2-40B4-BE49-F238E27FC236}">
                <a16:creationId xmlns:a16="http://schemas.microsoft.com/office/drawing/2014/main" id="{BED1CB7C-323C-42B1-83BF-18CCF75309C5}"/>
              </a:ext>
            </a:extLst>
          </p:cNvPr>
          <p:cNvSpPr>
            <a:spLocks xmlns:a="http://schemas.openxmlformats.org/drawingml/2006/main" noGrp="1"/>
          </p:cNvSpPr>
          <p:nvPr/>
        </p:nvSpPr>
        <p:spPr>
          <a:xfrm xmlns:a="http://schemas.openxmlformats.org/drawingml/2006/main" rot="0">
            <a:off x="5943600" y="3800475"/>
            <a:ext cx="114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20" name="flow-arrow-37">
            <a:extLst xmlns:a="http://schemas.openxmlformats.org/drawingml/2006/main">
              <a:ext uri="{FF2B5EF4-FFF2-40B4-BE49-F238E27FC236}">
                <a16:creationId xmlns:a16="http://schemas.microsoft.com/office/drawing/2014/main" id="{1D1B909C-FD1E-445B-A93E-107E2D4E54FD}"/>
              </a:ext>
            </a:extLst>
          </p:cNvPr>
          <p:cNvSpPr>
            <a:spLocks xmlns:a="http://schemas.openxmlformats.org/drawingml/2006/main" noGrp="1"/>
          </p:cNvSpPr>
          <p:nvPr/>
        </p:nvSpPr>
        <p:spPr>
          <a:xfrm xmlns:a="http://schemas.openxmlformats.org/drawingml/2006/main" rot="0">
            <a:off x="7705725" y="3800475"/>
            <a:ext cx="114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21" name="flow-arrow-38">
            <a:extLst xmlns:a="http://schemas.openxmlformats.org/drawingml/2006/main">
              <a:ext uri="{FF2B5EF4-FFF2-40B4-BE49-F238E27FC236}">
                <a16:creationId xmlns:a16="http://schemas.microsoft.com/office/drawing/2014/main" id="{7E72AAC2-4663-41A8-A644-1F97E3ADC3BE}"/>
              </a:ext>
            </a:extLst>
          </p:cNvPr>
          <p:cNvSpPr>
            <a:spLocks xmlns:a="http://schemas.openxmlformats.org/drawingml/2006/main" noGrp="1"/>
          </p:cNvSpPr>
          <p:nvPr/>
        </p:nvSpPr>
        <p:spPr>
          <a:xfrm xmlns:a="http://schemas.openxmlformats.org/drawingml/2006/main" rot="0">
            <a:off x="9467850" y="3800475"/>
            <a:ext cx="114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22" name="text-39">
            <a:extLst xmlns:a="http://schemas.openxmlformats.org/drawingml/2006/main">
              <a:ext uri="{FF2B5EF4-FFF2-40B4-BE49-F238E27FC236}">
                <a16:creationId xmlns:a16="http://schemas.microsoft.com/office/drawing/2014/main" id="{13FB3D85-4E4F-46EA-8AF8-F8FC92F97BC0}"/>
              </a:ext>
            </a:extLst>
          </p:cNvPr>
          <p:cNvSpPr>
            <a:spLocks xmlns:a="http://schemas.openxmlformats.org/drawingml/2006/main" noGrp="1"/>
          </p:cNvSpPr>
          <p:nvPr/>
        </p:nvSpPr>
        <p:spPr>
          <a:xfrm xmlns:a="http://schemas.openxmlformats.org/drawingml/2006/main">
            <a:off x="1238250" y="5600700"/>
            <a:ext cx="971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3E7A"/>
                </a:solidFill>
                <a:latin typeface="Arial"/>
                <a:ea typeface="Arial"/>
                <a:cs typeface="Arial"/>
              </a:defRPr>
            </a:defPPr>
            <a:lvl1pPr algn="ctr">
              <a:defRPr sz="1875" b="1">
                <a:solidFill>
                  <a:srgbClr val="113E7A"/>
                </a:solidFill>
                <a:latin typeface="Arial"/>
                <a:ea typeface="Arial"/>
                <a:cs typeface="Arial"/>
              </a:defRPr>
            </a:lvl1pPr>
            <a:lvl2pPr algn="ctr">
              <a:defRPr sz="1875" b="1">
                <a:solidFill>
                  <a:srgbClr val="113E7A"/>
                </a:solidFill>
                <a:latin typeface="Arial"/>
                <a:ea typeface="Arial"/>
                <a:cs typeface="Arial"/>
              </a:defRPr>
            </a:lvl2pPr>
            <a:lvl3pPr algn="ctr">
              <a:defRPr sz="1875" b="1">
                <a:solidFill>
                  <a:srgbClr val="113E7A"/>
                </a:solidFill>
                <a:latin typeface="Arial"/>
                <a:ea typeface="Arial"/>
                <a:cs typeface="Arial"/>
              </a:defRPr>
            </a:lvl3pPr>
            <a:lvl4pPr algn="ctr">
              <a:defRPr sz="1875" b="1">
                <a:solidFill>
                  <a:srgbClr val="113E7A"/>
                </a:solidFill>
                <a:latin typeface="Arial"/>
                <a:ea typeface="Arial"/>
                <a:cs typeface="Arial"/>
              </a:defRPr>
            </a:lvl4pPr>
            <a:lvl5pPr algn="ctr">
              <a:defRPr sz="1875" b="1">
                <a:solidFill>
                  <a:srgbClr val="113E7A"/>
                </a:solidFill>
                <a:latin typeface="Arial"/>
                <a:ea typeface="Arial"/>
                <a:cs typeface="Arial"/>
              </a:defRPr>
            </a:lvl5pPr>
            <a:lvl6pPr algn="ctr">
              <a:defRPr sz="1875" b="1">
                <a:solidFill>
                  <a:srgbClr val="113E7A"/>
                </a:solidFill>
                <a:latin typeface="Arial"/>
                <a:ea typeface="Arial"/>
                <a:cs typeface="Arial"/>
              </a:defRPr>
            </a:lvl6pPr>
            <a:lvl7pPr algn="ctr">
              <a:defRPr sz="1875" b="1">
                <a:solidFill>
                  <a:srgbClr val="113E7A"/>
                </a:solidFill>
                <a:latin typeface="Arial"/>
                <a:ea typeface="Arial"/>
                <a:cs typeface="Arial"/>
              </a:defRPr>
            </a:lvl7pPr>
            <a:lvl8pPr algn="ctr">
              <a:defRPr sz="1875" b="1">
                <a:solidFill>
                  <a:srgbClr val="113E7A"/>
                </a:solidFill>
                <a:latin typeface="Arial"/>
                <a:ea typeface="Arial"/>
                <a:cs typeface="Arial"/>
              </a:defRPr>
            </a:lvl8pPr>
            <a:lvl9pPr algn="ctr">
              <a:defRPr sz="1875" b="1">
                <a:solidFill>
                  <a:srgbClr val="113E7A"/>
                </a:solidFill>
                <a:latin typeface="Arial"/>
                <a:ea typeface="Arial"/>
                <a:cs typeface="Arial"/>
              </a:defRPr>
            </a:lvl9pPr>
          </a:lstStyle>
          <a:p xmlns:a="http://schemas.openxmlformats.org/drawingml/2006/main">
            <a:pPr algn="ctr">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Dữ liệu gốc giữ nguyên. Mỗi giai đoạn có notebook và kết quả lưu riêng.</a:t>
            </a:r>
          </a:p>
        </p:txBody>
      </p:sp>
    </p:spTree>
    <p:extLst>
      <p:ext uri="{BB962C8B-B14F-4D97-AF65-F5344CB8AC3E}">
        <p14:creationId xmlns:p14="http://schemas.microsoft.com/office/powerpoint/2010/main" val="834090401"/>
      </p:ext>
    </p:extLst>
  </p:cSld>
</p:sld>
</file>

<file path=ppt/slides/slide4.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BA2FA27-D02E-4050-8138-58316C224880}"/>
              </a:ext>
            </a:extLst>
          </p:cNvPr>
          <p:cNvPicPr>
            <a:picLocks xmlns:a="http://schemas.openxmlformats.org/drawingml/2006/main" noChangeAspect="1"/>
          </p:cNvPicPr>
          <p:nvPr/>
        </p:nvPicPr>
        <p:blipFill>
          <a:blip xmlns:r="http://schemas.openxmlformats.org/officeDocument/2006/relationships" xmlns:a="http://schemas.openxmlformats.org/drawingml/2006/main" r:embed="Rbdcb767ed65242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40">
            <a:extLst xmlns:a="http://schemas.openxmlformats.org/drawingml/2006/main">
              <a:ext uri="{FF2B5EF4-FFF2-40B4-BE49-F238E27FC236}">
                <a16:creationId xmlns:a16="http://schemas.microsoft.com/office/drawing/2014/main" id="{46F5DB27-F247-4E0B-B0C9-6B11869CEA93}"/>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Bộ dữ liệu Credit Card Fraud Detection</a:t>
            </a:r>
          </a:p>
        </p:txBody>
      </p:sp>
      <p:sp>
        <p:nvSpPr>
          <p:cNvPr id="3" name="text-41">
            <a:extLst xmlns:a="http://schemas.openxmlformats.org/drawingml/2006/main">
              <a:ext uri="{FF2B5EF4-FFF2-40B4-BE49-F238E27FC236}">
                <a16:creationId xmlns:a16="http://schemas.microsoft.com/office/drawing/2014/main" id="{64928A4B-EB9F-4D8C-958C-FAA5C75C7493}"/>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04</a:t>
            </a:r>
          </a:p>
        </p:txBody>
      </p:sp>
      <p:sp>
        <p:nvSpPr>
          <p:cNvPr id="4" name="text-42">
            <a:extLst xmlns:a="http://schemas.openxmlformats.org/drawingml/2006/main">
              <a:ext uri="{FF2B5EF4-FFF2-40B4-BE49-F238E27FC236}">
                <a16:creationId xmlns:a16="http://schemas.microsoft.com/office/drawing/2014/main" id="{D3D10B2E-7756-4AEE-9E1C-31F84BAAA2DE}"/>
              </a:ext>
            </a:extLst>
          </p:cNvPr>
          <p:cNvSpPr>
            <a:spLocks xmlns:a="http://schemas.openxmlformats.org/drawingml/2006/main" noGrp="1"/>
          </p:cNvSpPr>
          <p:nvPr/>
        </p:nvSpPr>
        <p:spPr>
          <a:xfrm xmlns:a="http://schemas.openxmlformats.org/drawingml/2006/main">
            <a:off x="1000125" y="1857375"/>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13E7A"/>
                </a:solidFill>
                <a:latin typeface="Arial"/>
                <a:ea typeface="Arial"/>
                <a:cs typeface="Arial"/>
              </a:defRPr>
            </a:defPPr>
            <a:lvl1pPr algn="l">
              <a:defRPr sz="5700" b="1">
                <a:solidFill>
                  <a:srgbClr val="113E7A"/>
                </a:solidFill>
                <a:latin typeface="Arial"/>
                <a:ea typeface="Arial"/>
                <a:cs typeface="Arial"/>
              </a:defRPr>
            </a:lvl1pPr>
            <a:lvl2pPr algn="l">
              <a:defRPr sz="5700" b="1">
                <a:solidFill>
                  <a:srgbClr val="113E7A"/>
                </a:solidFill>
                <a:latin typeface="Arial"/>
                <a:ea typeface="Arial"/>
                <a:cs typeface="Arial"/>
              </a:defRPr>
            </a:lvl2pPr>
            <a:lvl3pPr algn="l">
              <a:defRPr sz="5700" b="1">
                <a:solidFill>
                  <a:srgbClr val="113E7A"/>
                </a:solidFill>
                <a:latin typeface="Arial"/>
                <a:ea typeface="Arial"/>
                <a:cs typeface="Arial"/>
              </a:defRPr>
            </a:lvl3pPr>
            <a:lvl4pPr algn="l">
              <a:defRPr sz="5700" b="1">
                <a:solidFill>
                  <a:srgbClr val="113E7A"/>
                </a:solidFill>
                <a:latin typeface="Arial"/>
                <a:ea typeface="Arial"/>
                <a:cs typeface="Arial"/>
              </a:defRPr>
            </a:lvl4pPr>
            <a:lvl5pPr algn="l">
              <a:defRPr sz="5700" b="1">
                <a:solidFill>
                  <a:srgbClr val="113E7A"/>
                </a:solidFill>
                <a:latin typeface="Arial"/>
                <a:ea typeface="Arial"/>
                <a:cs typeface="Arial"/>
              </a:defRPr>
            </a:lvl5pPr>
            <a:lvl6pPr algn="l">
              <a:defRPr sz="5700" b="1">
                <a:solidFill>
                  <a:srgbClr val="113E7A"/>
                </a:solidFill>
                <a:latin typeface="Arial"/>
                <a:ea typeface="Arial"/>
                <a:cs typeface="Arial"/>
              </a:defRPr>
            </a:lvl6pPr>
            <a:lvl7pPr algn="l">
              <a:defRPr sz="5700" b="1">
                <a:solidFill>
                  <a:srgbClr val="113E7A"/>
                </a:solidFill>
                <a:latin typeface="Arial"/>
                <a:ea typeface="Arial"/>
                <a:cs typeface="Arial"/>
              </a:defRPr>
            </a:lvl7pPr>
            <a:lvl8pPr algn="l">
              <a:defRPr sz="5700" b="1">
                <a:solidFill>
                  <a:srgbClr val="113E7A"/>
                </a:solidFill>
                <a:latin typeface="Arial"/>
                <a:ea typeface="Arial"/>
                <a:cs typeface="Arial"/>
              </a:defRPr>
            </a:lvl8pPr>
            <a:lvl9pPr algn="l">
              <a:defRPr sz="5700" b="1">
                <a:solidFill>
                  <a:srgbClr val="113E7A"/>
                </a:solidFill>
                <a:latin typeface="Arial"/>
                <a:ea typeface="Arial"/>
                <a:cs typeface="Arial"/>
              </a:defRPr>
            </a:lvl9pPr>
          </a:lstStyle>
          <a:p xmlns:a="http://schemas.openxmlformats.org/drawingml/2006/main">
            <a:pPr algn="l">
              <a:lnSpc>
                <a:spcPct val="113000"/>
              </a:lnSpc>
              <a:buNone/>
              <a:defRPr sz="5700" b="1">
                <a:solidFill>
                  <a:srgbClr val="113E7A"/>
                </a:solidFill>
                <a:latin typeface="Arial"/>
                <a:ea typeface="Arial"/>
                <a:cs typeface="Arial"/>
              </a:defRPr>
            </a:pPr>
            <a:r>
              <a:rPr sz="5700" b="1">
                <a:solidFill>
                  <a:srgbClr val="113E7A"/>
                </a:solidFill>
                <a:latin typeface="Arial"/>
                <a:ea typeface="Arial"/>
                <a:cs typeface="Arial"/>
              </a:rPr>
              <a:t>284.807</a:t>
            </a:r>
          </a:p>
        </p:txBody>
      </p:sp>
      <p:sp>
        <p:nvSpPr>
          <p:cNvPr id="5" name="text-43">
            <a:extLst xmlns:a="http://schemas.openxmlformats.org/drawingml/2006/main">
              <a:ext uri="{FF2B5EF4-FFF2-40B4-BE49-F238E27FC236}">
                <a16:creationId xmlns:a16="http://schemas.microsoft.com/office/drawing/2014/main" id="{A84E1968-2DE4-4562-9CF0-FC3C2E71420D}"/>
              </a:ext>
            </a:extLst>
          </p:cNvPr>
          <p:cNvSpPr>
            <a:spLocks xmlns:a="http://schemas.openxmlformats.org/drawingml/2006/main" noGrp="1"/>
          </p:cNvSpPr>
          <p:nvPr/>
        </p:nvSpPr>
        <p:spPr>
          <a:xfrm xmlns:a="http://schemas.openxmlformats.org/drawingml/2006/main">
            <a:off x="1028700" y="2752725"/>
            <a:ext cx="433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D2648"/>
                </a:solidFill>
                <a:latin typeface="Arial"/>
                <a:ea typeface="Arial"/>
                <a:cs typeface="Arial"/>
              </a:defRPr>
            </a:defPPr>
            <a:lvl1pPr algn="l">
              <a:defRPr sz="2175" b="0">
                <a:solidFill>
                  <a:srgbClr val="0D2648"/>
                </a:solidFill>
                <a:latin typeface="Arial"/>
                <a:ea typeface="Arial"/>
                <a:cs typeface="Arial"/>
              </a:defRPr>
            </a:lvl1pPr>
            <a:lvl2pPr algn="l">
              <a:defRPr sz="2175" b="0">
                <a:solidFill>
                  <a:srgbClr val="0D2648"/>
                </a:solidFill>
                <a:latin typeface="Arial"/>
                <a:ea typeface="Arial"/>
                <a:cs typeface="Arial"/>
              </a:defRPr>
            </a:lvl2pPr>
            <a:lvl3pPr algn="l">
              <a:defRPr sz="2175" b="0">
                <a:solidFill>
                  <a:srgbClr val="0D2648"/>
                </a:solidFill>
                <a:latin typeface="Arial"/>
                <a:ea typeface="Arial"/>
                <a:cs typeface="Arial"/>
              </a:defRPr>
            </a:lvl3pPr>
            <a:lvl4pPr algn="l">
              <a:defRPr sz="2175" b="0">
                <a:solidFill>
                  <a:srgbClr val="0D2648"/>
                </a:solidFill>
                <a:latin typeface="Arial"/>
                <a:ea typeface="Arial"/>
                <a:cs typeface="Arial"/>
              </a:defRPr>
            </a:lvl4pPr>
            <a:lvl5pPr algn="l">
              <a:defRPr sz="2175" b="0">
                <a:solidFill>
                  <a:srgbClr val="0D2648"/>
                </a:solidFill>
                <a:latin typeface="Arial"/>
                <a:ea typeface="Arial"/>
                <a:cs typeface="Arial"/>
              </a:defRPr>
            </a:lvl5pPr>
            <a:lvl6pPr algn="l">
              <a:defRPr sz="2175" b="0">
                <a:solidFill>
                  <a:srgbClr val="0D2648"/>
                </a:solidFill>
                <a:latin typeface="Arial"/>
                <a:ea typeface="Arial"/>
                <a:cs typeface="Arial"/>
              </a:defRPr>
            </a:lvl6pPr>
            <a:lvl7pPr algn="l">
              <a:defRPr sz="2175" b="0">
                <a:solidFill>
                  <a:srgbClr val="0D2648"/>
                </a:solidFill>
                <a:latin typeface="Arial"/>
                <a:ea typeface="Arial"/>
                <a:cs typeface="Arial"/>
              </a:defRPr>
            </a:lvl7pPr>
            <a:lvl8pPr algn="l">
              <a:defRPr sz="2175" b="0">
                <a:solidFill>
                  <a:srgbClr val="0D2648"/>
                </a:solidFill>
                <a:latin typeface="Arial"/>
                <a:ea typeface="Arial"/>
                <a:cs typeface="Arial"/>
              </a:defRPr>
            </a:lvl8pPr>
            <a:lvl9pPr algn="l">
              <a:defRPr sz="2175" b="0">
                <a:solidFill>
                  <a:srgbClr val="0D2648"/>
                </a:solidFill>
                <a:latin typeface="Arial"/>
                <a:ea typeface="Arial"/>
                <a:cs typeface="Arial"/>
              </a:defRPr>
            </a:lvl9pPr>
          </a:lstStyle>
          <a:p xmlns:a="http://schemas.openxmlformats.org/drawingml/2006/main">
            <a:pPr algn="l">
              <a:lnSpc>
                <a:spcPct val="113000"/>
              </a:lnSpc>
              <a:buNone/>
              <a:defRPr sz="2175" b="0">
                <a:solidFill>
                  <a:srgbClr val="0D2648"/>
                </a:solidFill>
                <a:latin typeface="Arial"/>
                <a:ea typeface="Arial"/>
                <a:cs typeface="Arial"/>
              </a:defRPr>
            </a:pPr>
            <a:r>
              <a:rPr sz="2175" b="0">
                <a:solidFill>
                  <a:srgbClr val="0D2648"/>
                </a:solidFill>
                <a:latin typeface="Arial"/>
                <a:ea typeface="Arial"/>
                <a:cs typeface="Arial"/>
              </a:rPr>
              <a:t>giao dịch ban đầu</a:t>
            </a:r>
          </a:p>
        </p:txBody>
      </p:sp>
      <p:sp>
        <p:nvSpPr>
          <p:cNvPr id="6" name="text-44">
            <a:extLst xmlns:a="http://schemas.openxmlformats.org/drawingml/2006/main">
              <a:ext uri="{FF2B5EF4-FFF2-40B4-BE49-F238E27FC236}">
                <a16:creationId xmlns:a16="http://schemas.microsoft.com/office/drawing/2014/main" id="{3910EB2E-99BB-4C2F-A2BF-27289E2387B9}"/>
              </a:ext>
            </a:extLst>
          </p:cNvPr>
          <p:cNvSpPr>
            <a:spLocks xmlns:a="http://schemas.openxmlformats.org/drawingml/2006/main" noGrp="1"/>
          </p:cNvSpPr>
          <p:nvPr/>
        </p:nvSpPr>
        <p:spPr>
          <a:xfrm xmlns:a="http://schemas.openxmlformats.org/drawingml/2006/main">
            <a:off x="1028700" y="341947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D2648"/>
                </a:solidFill>
                <a:latin typeface="Arial"/>
                <a:ea typeface="Arial"/>
                <a:cs typeface="Arial"/>
              </a:defRPr>
            </a:defPPr>
            <a:lvl1pPr algn="l">
              <a:defRPr sz="2325" b="0">
                <a:solidFill>
                  <a:srgbClr val="0D2648"/>
                </a:solidFill>
                <a:latin typeface="Arial"/>
                <a:ea typeface="Arial"/>
                <a:cs typeface="Arial"/>
              </a:defRPr>
            </a:lvl1pPr>
            <a:lvl2pPr algn="l">
              <a:defRPr sz="2325" b="0">
                <a:solidFill>
                  <a:srgbClr val="0D2648"/>
                </a:solidFill>
                <a:latin typeface="Arial"/>
                <a:ea typeface="Arial"/>
                <a:cs typeface="Arial"/>
              </a:defRPr>
            </a:lvl2pPr>
            <a:lvl3pPr algn="l">
              <a:defRPr sz="2325" b="0">
                <a:solidFill>
                  <a:srgbClr val="0D2648"/>
                </a:solidFill>
                <a:latin typeface="Arial"/>
                <a:ea typeface="Arial"/>
                <a:cs typeface="Arial"/>
              </a:defRPr>
            </a:lvl3pPr>
            <a:lvl4pPr algn="l">
              <a:defRPr sz="2325" b="0">
                <a:solidFill>
                  <a:srgbClr val="0D2648"/>
                </a:solidFill>
                <a:latin typeface="Arial"/>
                <a:ea typeface="Arial"/>
                <a:cs typeface="Arial"/>
              </a:defRPr>
            </a:lvl4pPr>
            <a:lvl5pPr algn="l">
              <a:defRPr sz="2325" b="0">
                <a:solidFill>
                  <a:srgbClr val="0D2648"/>
                </a:solidFill>
                <a:latin typeface="Arial"/>
                <a:ea typeface="Arial"/>
                <a:cs typeface="Arial"/>
              </a:defRPr>
            </a:lvl5pPr>
            <a:lvl6pPr algn="l">
              <a:defRPr sz="2325" b="0">
                <a:solidFill>
                  <a:srgbClr val="0D2648"/>
                </a:solidFill>
                <a:latin typeface="Arial"/>
                <a:ea typeface="Arial"/>
                <a:cs typeface="Arial"/>
              </a:defRPr>
            </a:lvl6pPr>
            <a:lvl7pPr algn="l">
              <a:defRPr sz="2325" b="0">
                <a:solidFill>
                  <a:srgbClr val="0D2648"/>
                </a:solidFill>
                <a:latin typeface="Arial"/>
                <a:ea typeface="Arial"/>
                <a:cs typeface="Arial"/>
              </a:defRPr>
            </a:lvl7pPr>
            <a:lvl8pPr algn="l">
              <a:defRPr sz="2325" b="0">
                <a:solidFill>
                  <a:srgbClr val="0D2648"/>
                </a:solidFill>
                <a:latin typeface="Arial"/>
                <a:ea typeface="Arial"/>
                <a:cs typeface="Arial"/>
              </a:defRPr>
            </a:lvl8pPr>
            <a:lvl9pPr algn="l">
              <a:defRPr sz="2325" b="0">
                <a:solidFill>
                  <a:srgbClr val="0D2648"/>
                </a:solidFill>
                <a:latin typeface="Arial"/>
                <a:ea typeface="Arial"/>
                <a:cs typeface="Arial"/>
              </a:defRPr>
            </a:lvl9pPr>
          </a:lstStyle>
          <a:p xmlns:a="http://schemas.openxmlformats.org/drawingml/2006/main">
            <a:pPr algn="l">
              <a:lnSpc>
                <a:spcPct val="113000"/>
              </a:lnSpc>
              <a:buNone/>
              <a:defRPr sz="2325" b="0">
                <a:solidFill>
                  <a:srgbClr val="0D2648"/>
                </a:solidFill>
                <a:latin typeface="Arial"/>
                <a:ea typeface="Arial"/>
                <a:cs typeface="Arial"/>
              </a:defRPr>
            </a:pPr>
            <a:r>
              <a:rPr sz="2325" b="0">
                <a:solidFill>
                  <a:srgbClr val="0D2648"/>
                </a:solidFill>
                <a:latin typeface="Arial"/>
                <a:ea typeface="Arial"/>
                <a:cs typeface="Arial"/>
              </a:rPr>
              <a:t>284.315 bình thường</a:t>
            </a:r>
          </a:p>
          <a:p xmlns:a="http://schemas.openxmlformats.org/drawingml/2006/main">
            <a:pPr algn="l">
              <a:lnSpc>
                <a:spcPct val="113000"/>
              </a:lnSpc>
              <a:buNone/>
              <a:defRPr sz="2325" b="0">
                <a:solidFill>
                  <a:srgbClr val="0D2648"/>
                </a:solidFill>
                <a:latin typeface="Arial"/>
                <a:ea typeface="Arial"/>
                <a:cs typeface="Arial"/>
              </a:defRPr>
            </a:pPr>
            <a:r>
              <a:rPr sz="2325" b="0">
                <a:solidFill>
                  <a:srgbClr val="0D2648"/>
                </a:solidFill>
                <a:latin typeface="Arial"/>
                <a:ea typeface="Arial"/>
                <a:cs typeface="Arial"/>
              </a:rPr>
              <a:t>492 gian lận</a:t>
            </a:r>
          </a:p>
        </p:txBody>
      </p:sp>
      <p:sp>
        <p:nvSpPr>
          <p:cNvPr id="7" name="text-45">
            <a:extLst xmlns:a="http://schemas.openxmlformats.org/drawingml/2006/main">
              <a:ext uri="{FF2B5EF4-FFF2-40B4-BE49-F238E27FC236}">
                <a16:creationId xmlns:a16="http://schemas.microsoft.com/office/drawing/2014/main" id="{DC399452-11BD-4164-9A6D-8F0EC05F005B}"/>
              </a:ext>
            </a:extLst>
          </p:cNvPr>
          <p:cNvSpPr>
            <a:spLocks xmlns:a="http://schemas.openxmlformats.org/drawingml/2006/main" noGrp="1"/>
          </p:cNvSpPr>
          <p:nvPr/>
        </p:nvSpPr>
        <p:spPr>
          <a:xfrm xmlns:a="http://schemas.openxmlformats.org/drawingml/2006/main">
            <a:off x="1028700" y="4657725"/>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3168CD"/>
                </a:solidFill>
                <a:latin typeface="Arial"/>
                <a:ea typeface="Arial"/>
                <a:cs typeface="Arial"/>
              </a:defRPr>
            </a:defPPr>
            <a:lvl1pPr algn="l">
              <a:defRPr sz="4500" b="1">
                <a:solidFill>
                  <a:srgbClr val="3168CD"/>
                </a:solidFill>
                <a:latin typeface="Arial"/>
                <a:ea typeface="Arial"/>
                <a:cs typeface="Arial"/>
              </a:defRPr>
            </a:lvl1pPr>
            <a:lvl2pPr algn="l">
              <a:defRPr sz="4500" b="1">
                <a:solidFill>
                  <a:srgbClr val="3168CD"/>
                </a:solidFill>
                <a:latin typeface="Arial"/>
                <a:ea typeface="Arial"/>
                <a:cs typeface="Arial"/>
              </a:defRPr>
            </a:lvl2pPr>
            <a:lvl3pPr algn="l">
              <a:defRPr sz="4500" b="1">
                <a:solidFill>
                  <a:srgbClr val="3168CD"/>
                </a:solidFill>
                <a:latin typeface="Arial"/>
                <a:ea typeface="Arial"/>
                <a:cs typeface="Arial"/>
              </a:defRPr>
            </a:lvl3pPr>
            <a:lvl4pPr algn="l">
              <a:defRPr sz="4500" b="1">
                <a:solidFill>
                  <a:srgbClr val="3168CD"/>
                </a:solidFill>
                <a:latin typeface="Arial"/>
                <a:ea typeface="Arial"/>
                <a:cs typeface="Arial"/>
              </a:defRPr>
            </a:lvl4pPr>
            <a:lvl5pPr algn="l">
              <a:defRPr sz="4500" b="1">
                <a:solidFill>
                  <a:srgbClr val="3168CD"/>
                </a:solidFill>
                <a:latin typeface="Arial"/>
                <a:ea typeface="Arial"/>
                <a:cs typeface="Arial"/>
              </a:defRPr>
            </a:lvl5pPr>
            <a:lvl6pPr algn="l">
              <a:defRPr sz="4500" b="1">
                <a:solidFill>
                  <a:srgbClr val="3168CD"/>
                </a:solidFill>
                <a:latin typeface="Arial"/>
                <a:ea typeface="Arial"/>
                <a:cs typeface="Arial"/>
              </a:defRPr>
            </a:lvl6pPr>
            <a:lvl7pPr algn="l">
              <a:defRPr sz="4500" b="1">
                <a:solidFill>
                  <a:srgbClr val="3168CD"/>
                </a:solidFill>
                <a:latin typeface="Arial"/>
                <a:ea typeface="Arial"/>
                <a:cs typeface="Arial"/>
              </a:defRPr>
            </a:lvl7pPr>
            <a:lvl8pPr algn="l">
              <a:defRPr sz="4500" b="1">
                <a:solidFill>
                  <a:srgbClr val="3168CD"/>
                </a:solidFill>
                <a:latin typeface="Arial"/>
                <a:ea typeface="Arial"/>
                <a:cs typeface="Arial"/>
              </a:defRPr>
            </a:lvl8pPr>
            <a:lvl9pPr algn="l">
              <a:defRPr sz="4500" b="1">
                <a:solidFill>
                  <a:srgbClr val="3168CD"/>
                </a:solidFill>
                <a:latin typeface="Arial"/>
                <a:ea typeface="Arial"/>
                <a:cs typeface="Arial"/>
              </a:defRPr>
            </a:lvl9pPr>
          </a:lstStyle>
          <a:p xmlns:a="http://schemas.openxmlformats.org/drawingml/2006/main">
            <a:pPr algn="l">
              <a:lnSpc>
                <a:spcPct val="113000"/>
              </a:lnSpc>
              <a:buNone/>
              <a:defRPr sz="4500" b="1">
                <a:solidFill>
                  <a:srgbClr val="3168CD"/>
                </a:solidFill>
                <a:latin typeface="Arial"/>
                <a:ea typeface="Arial"/>
                <a:cs typeface="Arial"/>
              </a:defRPr>
            </a:pPr>
            <a:r>
              <a:rPr sz="4500" b="1">
                <a:solidFill>
                  <a:srgbClr val="3168CD"/>
                </a:solidFill>
                <a:latin typeface="Arial"/>
                <a:ea typeface="Arial"/>
                <a:cs typeface="Arial"/>
              </a:rPr>
              <a:t>0,1727%</a:t>
            </a:r>
          </a:p>
        </p:txBody>
      </p:sp>
      <p:sp>
        <p:nvSpPr>
          <p:cNvPr id="8" name="text-46">
            <a:extLst xmlns:a="http://schemas.openxmlformats.org/drawingml/2006/main">
              <a:ext uri="{FF2B5EF4-FFF2-40B4-BE49-F238E27FC236}">
                <a16:creationId xmlns:a16="http://schemas.microsoft.com/office/drawing/2014/main" id="{61CEE91A-1B36-4428-9866-F722DA9CE9FE}"/>
              </a:ext>
            </a:extLst>
          </p:cNvPr>
          <p:cNvSpPr>
            <a:spLocks xmlns:a="http://schemas.openxmlformats.org/drawingml/2006/main" noGrp="1"/>
          </p:cNvSpPr>
          <p:nvPr/>
        </p:nvSpPr>
        <p:spPr>
          <a:xfrm xmlns:a="http://schemas.openxmlformats.org/drawingml/2006/main">
            <a:off x="1047750" y="53625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D2648"/>
                </a:solidFill>
                <a:latin typeface="Arial"/>
                <a:ea typeface="Arial"/>
                <a:cs typeface="Arial"/>
              </a:defRPr>
            </a:defPPr>
            <a:lvl1pPr algn="l">
              <a:defRPr sz="1875" b="0">
                <a:solidFill>
                  <a:srgbClr val="0D2648"/>
                </a:solidFill>
                <a:latin typeface="Arial"/>
                <a:ea typeface="Arial"/>
                <a:cs typeface="Arial"/>
              </a:defRPr>
            </a:lvl1pPr>
            <a:lvl2pPr algn="l">
              <a:defRPr sz="1875" b="0">
                <a:solidFill>
                  <a:srgbClr val="0D2648"/>
                </a:solidFill>
                <a:latin typeface="Arial"/>
                <a:ea typeface="Arial"/>
                <a:cs typeface="Arial"/>
              </a:defRPr>
            </a:lvl2pPr>
            <a:lvl3pPr algn="l">
              <a:defRPr sz="1875" b="0">
                <a:solidFill>
                  <a:srgbClr val="0D2648"/>
                </a:solidFill>
                <a:latin typeface="Arial"/>
                <a:ea typeface="Arial"/>
                <a:cs typeface="Arial"/>
              </a:defRPr>
            </a:lvl3pPr>
            <a:lvl4pPr algn="l">
              <a:defRPr sz="1875" b="0">
                <a:solidFill>
                  <a:srgbClr val="0D2648"/>
                </a:solidFill>
                <a:latin typeface="Arial"/>
                <a:ea typeface="Arial"/>
                <a:cs typeface="Arial"/>
              </a:defRPr>
            </a:lvl4pPr>
            <a:lvl5pPr algn="l">
              <a:defRPr sz="1875" b="0">
                <a:solidFill>
                  <a:srgbClr val="0D2648"/>
                </a:solidFill>
                <a:latin typeface="Arial"/>
                <a:ea typeface="Arial"/>
                <a:cs typeface="Arial"/>
              </a:defRPr>
            </a:lvl5pPr>
            <a:lvl6pPr algn="l">
              <a:defRPr sz="1875" b="0">
                <a:solidFill>
                  <a:srgbClr val="0D2648"/>
                </a:solidFill>
                <a:latin typeface="Arial"/>
                <a:ea typeface="Arial"/>
                <a:cs typeface="Arial"/>
              </a:defRPr>
            </a:lvl6pPr>
            <a:lvl7pPr algn="l">
              <a:defRPr sz="1875" b="0">
                <a:solidFill>
                  <a:srgbClr val="0D2648"/>
                </a:solidFill>
                <a:latin typeface="Arial"/>
                <a:ea typeface="Arial"/>
                <a:cs typeface="Arial"/>
              </a:defRPr>
            </a:lvl7pPr>
            <a:lvl8pPr algn="l">
              <a:defRPr sz="1875" b="0">
                <a:solidFill>
                  <a:srgbClr val="0D2648"/>
                </a:solidFill>
                <a:latin typeface="Arial"/>
                <a:ea typeface="Arial"/>
                <a:cs typeface="Arial"/>
              </a:defRPr>
            </a:lvl8pPr>
            <a:lvl9pPr algn="l">
              <a:defRPr sz="1875" b="0">
                <a:solidFill>
                  <a:srgbClr val="0D2648"/>
                </a:solidFill>
                <a:latin typeface="Arial"/>
                <a:ea typeface="Arial"/>
                <a:cs typeface="Arial"/>
              </a:defRPr>
            </a:lvl9pPr>
          </a:lstStyle>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tỷ lệ giao dịch gian lận</a:t>
            </a:r>
          </a:p>
        </p:txBody>
      </p:sp>
      <p:graphicFrame>
        <p:nvGraphicFramePr>
          <p:cNvPr id="9" name="">
            <a:extLst xmlns:a="http://schemas.openxmlformats.org/drawingml/2006/main">
              <a:ext uri="{FF2B5EF4-FFF2-40B4-BE49-F238E27FC236}">
                <a16:creationId xmlns:a16="http://schemas.microsoft.com/office/drawing/2014/main" id="{D6A98B6B-EBD4-4774-84DE-0DF5C9139882}"/>
              </a:ext>
            </a:extLst>
          </p:cNvPr>
          <p:cNvGraphicFramePr/>
          <p:nvPr/>
        </p:nvGraphicFramePr>
        <p:xfrm>
          <a:off xmlns:a="http://schemas.openxmlformats.org/drawingml/2006/main" x="5762625" y="2038350"/>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lIns="95250" tIns="95250" rIns="95250" bIns="95250"/>
                    <a:lstStyle/>
                    <a:p>
                      <a:pPr algn="l"/>
                      <a:r>
                        <a:rPr sz="1800" b="1">
                          <a:solidFill>
                            <a:srgbClr val="FFFFFF"/>
                          </a:solidFill>
                          <a:latin typeface="Arial"/>
                          <a:ea typeface="Arial"/>
                          <a:cs typeface="Arial"/>
                        </a:rPr>
                        <a:t>Cột</a:t>
                      </a:r>
                    </a:p>
                  </a:txBody>
                  <a:tcPr marL="91440" marR="91440" marT="45720" marB="45720" anchor="ctr">
                    <a:lnL w="9525">
                      <a:solidFill>
                        <a:srgbClr val="C2DFEC"/>
                      </a:solidFill>
                      <a:prstDash val="solid"/>
                    </a:lnL>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00" b="1">
                          <a:solidFill>
                            <a:srgbClr val="FFFFFF"/>
                          </a:solidFill>
                          <a:latin typeface="Arial"/>
                          <a:ea typeface="Arial"/>
                          <a:cs typeface="Arial"/>
                        </a:rPr>
                        <a:t>Ý nghĩa</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r>
              <a:tr h="666750">
                <a:tc>
                  <a:txBody>
                    <a:bodyPr lIns="95250" tIns="95250" rIns="95250" bIns="95250"/>
                    <a:lstStyle/>
                    <a:p>
                      <a:pPr algn="l"/>
                      <a:r>
                        <a:rPr sz="1800" b="0">
                          <a:solidFill>
                            <a:srgbClr val="0D2648"/>
                          </a:solidFill>
                          <a:latin typeface="Arial"/>
                          <a:ea typeface="Arial"/>
                          <a:cs typeface="Arial"/>
                        </a:rPr>
                        <a:t>Time</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Số giây từ giao dịch đầu</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666750">
                <a:tc>
                  <a:txBody>
                    <a:bodyPr lIns="95250" tIns="95250" rIns="95250" bIns="95250"/>
                    <a:lstStyle/>
                    <a:p>
                      <a:pPr algn="l"/>
                      <a:r>
                        <a:rPr sz="1800" b="0">
                          <a:solidFill>
                            <a:srgbClr val="0D2648"/>
                          </a:solidFill>
                          <a:latin typeface="Arial"/>
                          <a:ea typeface="Arial"/>
                          <a:cs typeface="Arial"/>
                        </a:rPr>
                        <a:t>Amount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Số tiền giao dịch</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666750">
                <a:tc>
                  <a:txBody>
                    <a:bodyPr lIns="95250" tIns="95250" rIns="95250" bIns="95250"/>
                    <a:lstStyle/>
                    <a:p>
                      <a:pPr algn="l"/>
                      <a:r>
                        <a:rPr sz="1800" b="0">
                          <a:solidFill>
                            <a:srgbClr val="0D2648"/>
                          </a:solidFill>
                          <a:latin typeface="Arial"/>
                          <a:ea typeface="Arial"/>
                          <a:cs typeface="Arial"/>
                        </a:rPr>
                        <a:t>V1–V28</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28 đặc trưng qua PCA</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666750">
                <a:tc>
                  <a:txBody>
                    <a:bodyPr lIns="95250" tIns="95250" rIns="95250" bIns="95250"/>
                    <a:lstStyle/>
                    <a:p>
                      <a:pPr algn="l"/>
                      <a:r>
                        <a:rPr sz="1800" b="0">
                          <a:solidFill>
                            <a:srgbClr val="0D2648"/>
                          </a:solidFill>
                          <a:latin typeface="Arial"/>
                          <a:ea typeface="Arial"/>
                          <a:cs typeface="Arial"/>
                        </a:rPr>
                        <a:t>Class</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0: bình thường, 1: gian lận</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bl>
          </a:graphicData>
        </a:graphic>
      </p:graphicFrame>
      <p:sp>
        <p:nvSpPr>
          <p:cNvPr id="10" name="text-47">
            <a:extLst xmlns:a="http://schemas.openxmlformats.org/drawingml/2006/main">
              <a:ext uri="{FF2B5EF4-FFF2-40B4-BE49-F238E27FC236}">
                <a16:creationId xmlns:a16="http://schemas.microsoft.com/office/drawing/2014/main" id="{F44CB786-1239-478F-91F3-F884BA8EB68F}"/>
              </a:ext>
            </a:extLst>
          </p:cNvPr>
          <p:cNvSpPr>
            <a:spLocks xmlns:a="http://schemas.openxmlformats.org/drawingml/2006/main" noGrp="1"/>
          </p:cNvSpPr>
          <p:nvPr/>
        </p:nvSpPr>
        <p:spPr>
          <a:xfrm xmlns:a="http://schemas.openxmlformats.org/drawingml/2006/main">
            <a:off x="5829300" y="558165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718E"/>
                </a:solidFill>
                <a:latin typeface="Arial"/>
                <a:ea typeface="Arial"/>
                <a:cs typeface="Arial"/>
              </a:defRPr>
            </a:defPPr>
            <a:lvl1pPr algn="l">
              <a:defRPr sz="1725" b="0">
                <a:solidFill>
                  <a:srgbClr val="52718E"/>
                </a:solidFill>
                <a:latin typeface="Arial"/>
                <a:ea typeface="Arial"/>
                <a:cs typeface="Arial"/>
              </a:defRPr>
            </a:lvl1pPr>
            <a:lvl2pPr algn="l">
              <a:defRPr sz="1725" b="0">
                <a:solidFill>
                  <a:srgbClr val="52718E"/>
                </a:solidFill>
                <a:latin typeface="Arial"/>
                <a:ea typeface="Arial"/>
                <a:cs typeface="Arial"/>
              </a:defRPr>
            </a:lvl2pPr>
            <a:lvl3pPr algn="l">
              <a:defRPr sz="1725" b="0">
                <a:solidFill>
                  <a:srgbClr val="52718E"/>
                </a:solidFill>
                <a:latin typeface="Arial"/>
                <a:ea typeface="Arial"/>
                <a:cs typeface="Arial"/>
              </a:defRPr>
            </a:lvl3pPr>
            <a:lvl4pPr algn="l">
              <a:defRPr sz="1725" b="0">
                <a:solidFill>
                  <a:srgbClr val="52718E"/>
                </a:solidFill>
                <a:latin typeface="Arial"/>
                <a:ea typeface="Arial"/>
                <a:cs typeface="Arial"/>
              </a:defRPr>
            </a:lvl4pPr>
            <a:lvl5pPr algn="l">
              <a:defRPr sz="1725" b="0">
                <a:solidFill>
                  <a:srgbClr val="52718E"/>
                </a:solidFill>
                <a:latin typeface="Arial"/>
                <a:ea typeface="Arial"/>
                <a:cs typeface="Arial"/>
              </a:defRPr>
            </a:lvl5pPr>
            <a:lvl6pPr algn="l">
              <a:defRPr sz="1725" b="0">
                <a:solidFill>
                  <a:srgbClr val="52718E"/>
                </a:solidFill>
                <a:latin typeface="Arial"/>
                <a:ea typeface="Arial"/>
                <a:cs typeface="Arial"/>
              </a:defRPr>
            </a:lvl6pPr>
            <a:lvl7pPr algn="l">
              <a:defRPr sz="1725" b="0">
                <a:solidFill>
                  <a:srgbClr val="52718E"/>
                </a:solidFill>
                <a:latin typeface="Arial"/>
                <a:ea typeface="Arial"/>
                <a:cs typeface="Arial"/>
              </a:defRPr>
            </a:lvl7pPr>
            <a:lvl8pPr algn="l">
              <a:defRPr sz="1725" b="0">
                <a:solidFill>
                  <a:srgbClr val="52718E"/>
                </a:solidFill>
                <a:latin typeface="Arial"/>
                <a:ea typeface="Arial"/>
                <a:cs typeface="Arial"/>
              </a:defRPr>
            </a:lvl8pPr>
            <a:lvl9pPr algn="l">
              <a:defRPr sz="1725" b="0">
                <a:solidFill>
                  <a:srgbClr val="52718E"/>
                </a:solidFill>
                <a:latin typeface="Arial"/>
                <a:ea typeface="Arial"/>
                <a:cs typeface="Arial"/>
              </a:defRPr>
            </a:lvl9pPr>
          </a:lstStyle>
          <a:p xmlns:a="http://schemas.openxmlformats.org/drawingml/2006/main">
            <a:pPr algn="l">
              <a:lnSpc>
                <a:spcPct val="113000"/>
              </a:lnSpc>
              <a:buNone/>
              <a:defRPr sz="1725" b="0">
                <a:solidFill>
                  <a:srgbClr val="52718E"/>
                </a:solidFill>
                <a:latin typeface="Arial"/>
                <a:ea typeface="Arial"/>
                <a:cs typeface="Arial"/>
              </a:defRPr>
            </a:pPr>
            <a:r>
              <a:rPr sz="1725" b="0">
                <a:solidFill>
                  <a:srgbClr val="52718E"/>
                </a:solidFill>
                <a:latin typeface="Arial"/>
                <a:ea typeface="Arial"/>
                <a:cs typeface="Arial"/>
              </a:rPr>
              <a:t>30 đặc trưng đầu vào và 1 cột nhãn.</a:t>
            </a:r>
          </a:p>
          <a:p xmlns:a="http://schemas.openxmlformats.org/drawingml/2006/main">
            <a:pPr algn="l">
              <a:lnSpc>
                <a:spcPct val="113000"/>
              </a:lnSpc>
              <a:buNone/>
              <a:defRPr sz="1725" b="0">
                <a:solidFill>
                  <a:srgbClr val="52718E"/>
                </a:solidFill>
                <a:latin typeface="Arial"/>
                <a:ea typeface="Arial"/>
                <a:cs typeface="Arial"/>
              </a:defRPr>
            </a:pPr>
            <a:r>
              <a:rPr sz="1725" b="0">
                <a:solidFill>
                  <a:srgbClr val="52718E"/>
                </a:solidFill>
                <a:latin typeface="Arial"/>
                <a:ea typeface="Arial"/>
                <a:cs typeface="Arial"/>
              </a:rPr>
              <a:t>Các đặc trưng PCA đã ẩn danh thông tin gốc.</a:t>
            </a:r>
          </a:p>
        </p:txBody>
      </p:sp>
    </p:spTree>
    <p:extLst>
      <p:ext uri="{BB962C8B-B14F-4D97-AF65-F5344CB8AC3E}">
        <p14:creationId xmlns:p14="http://schemas.microsoft.com/office/powerpoint/2010/main" val="1024042225"/>
      </p:ext>
    </p:extLst>
  </p:cSld>
</p:sld>
</file>

<file path=ppt/slides/slide5.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DDCC935-479E-489D-824C-5FFC00854A8C}"/>
              </a:ext>
            </a:extLst>
          </p:cNvPr>
          <p:cNvPicPr>
            <a:picLocks xmlns:a="http://schemas.openxmlformats.org/drawingml/2006/main" noChangeAspect="1"/>
          </p:cNvPicPr>
          <p:nvPr/>
        </p:nvPicPr>
        <p:blipFill>
          <a:blip xmlns:r="http://schemas.openxmlformats.org/officeDocument/2006/relationships" xmlns:a="http://schemas.openxmlformats.org/drawingml/2006/main" r:embed="Rfb8e60f49ee94d3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48">
            <a:extLst xmlns:a="http://schemas.openxmlformats.org/drawingml/2006/main">
              <a:ext uri="{FF2B5EF4-FFF2-40B4-BE49-F238E27FC236}">
                <a16:creationId xmlns:a16="http://schemas.microsoft.com/office/drawing/2014/main" id="{8F072C18-7B59-460F-9743-3B2C13452220}"/>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EDA: mất cân bằng và phân phối Amount</a:t>
            </a:r>
          </a:p>
        </p:txBody>
      </p:sp>
      <p:sp>
        <p:nvSpPr>
          <p:cNvPr id="3" name="text-49">
            <a:extLst xmlns:a="http://schemas.openxmlformats.org/drawingml/2006/main">
              <a:ext uri="{FF2B5EF4-FFF2-40B4-BE49-F238E27FC236}">
                <a16:creationId xmlns:a16="http://schemas.microsoft.com/office/drawing/2014/main" id="{B420B259-13AD-45C9-88C1-83B88CBA13EB}"/>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7C1B75A3-2BCD-4890-8B95-B28D06577FFC}"/>
              </a:ext>
            </a:extLst>
          </p:cNvPr>
          <p:cNvPicPr>
            <a:picLocks xmlns:a="http://schemas.openxmlformats.org/drawingml/2006/main" noChangeAspect="1"/>
          </p:cNvPicPr>
          <p:nvPr/>
        </p:nvPicPr>
        <p:blipFill>
          <a:blip xmlns:r="http://schemas.openxmlformats.org/officeDocument/2006/relationships" xmlns:a="http://schemas.openxmlformats.org/drawingml/2006/main" r:embed="R1fb8ad75a6c04191"/>
          <a:stretch xmlns:a="http://schemas.openxmlformats.org/drawingml/2006/main"/>
        </p:blipFill>
        <p:spPr>
          <a:xfrm xmlns:a="http://schemas.openxmlformats.org/drawingml/2006/main">
            <a:off x="774458" y="1752600"/>
            <a:ext cx="5032858" cy="3762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3289226-0FFD-4749-A3C5-C2C9E36B51C5}"/>
              </a:ext>
            </a:extLst>
          </p:cNvPr>
          <p:cNvPicPr>
            <a:picLocks xmlns:a="http://schemas.openxmlformats.org/drawingml/2006/main" noChangeAspect="1"/>
          </p:cNvPicPr>
          <p:nvPr/>
        </p:nvPicPr>
        <p:blipFill>
          <a:blip xmlns:r="http://schemas.openxmlformats.org/officeDocument/2006/relationships" xmlns:a="http://schemas.openxmlformats.org/drawingml/2006/main" r:embed="Ra714730e23f84234"/>
          <a:stretch xmlns:a="http://schemas.openxmlformats.org/drawingml/2006/main"/>
        </p:blipFill>
        <p:spPr>
          <a:xfrm xmlns:a="http://schemas.openxmlformats.org/drawingml/2006/main">
            <a:off x="6286500" y="1924412"/>
            <a:ext cx="5095875" cy="3418752"/>
          </a:xfrm>
          <a:prstGeom xmlns:a="http://schemas.openxmlformats.org/drawingml/2006/main" prst="rect">
            <a:avLst/>
          </a:prstGeom>
        </p:spPr>
      </p:pic>
      <p:sp>
        <p:nvSpPr>
          <p:cNvPr id="6" name="text-50">
            <a:extLst xmlns:a="http://schemas.openxmlformats.org/drawingml/2006/main">
              <a:ext uri="{FF2B5EF4-FFF2-40B4-BE49-F238E27FC236}">
                <a16:creationId xmlns:a16="http://schemas.microsoft.com/office/drawing/2014/main" id="{0FAED610-AE86-4411-8328-983208A8213F}"/>
              </a:ext>
            </a:extLst>
          </p:cNvPr>
          <p:cNvSpPr>
            <a:spLocks xmlns:a="http://schemas.openxmlformats.org/drawingml/2006/main" noGrp="1"/>
          </p:cNvSpPr>
          <p:nvPr/>
        </p:nvSpPr>
        <p:spPr>
          <a:xfrm xmlns:a="http://schemas.openxmlformats.org/drawingml/2006/main">
            <a:off x="857250" y="5638800"/>
            <a:ext cx="500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3E7A"/>
                </a:solidFill>
                <a:latin typeface="Arial"/>
                <a:ea typeface="Arial"/>
                <a:cs typeface="Arial"/>
              </a:defRPr>
            </a:defPPr>
            <a:lvl1pPr algn="l">
              <a:defRPr sz="1875" b="1">
                <a:solidFill>
                  <a:srgbClr val="113E7A"/>
                </a:solidFill>
                <a:latin typeface="Arial"/>
                <a:ea typeface="Arial"/>
                <a:cs typeface="Arial"/>
              </a:defRPr>
            </a:lvl1pPr>
            <a:lvl2pPr algn="l">
              <a:defRPr sz="1875" b="1">
                <a:solidFill>
                  <a:srgbClr val="113E7A"/>
                </a:solidFill>
                <a:latin typeface="Arial"/>
                <a:ea typeface="Arial"/>
                <a:cs typeface="Arial"/>
              </a:defRPr>
            </a:lvl2pPr>
            <a:lvl3pPr algn="l">
              <a:defRPr sz="1875" b="1">
                <a:solidFill>
                  <a:srgbClr val="113E7A"/>
                </a:solidFill>
                <a:latin typeface="Arial"/>
                <a:ea typeface="Arial"/>
                <a:cs typeface="Arial"/>
              </a:defRPr>
            </a:lvl3pPr>
            <a:lvl4pPr algn="l">
              <a:defRPr sz="1875" b="1">
                <a:solidFill>
                  <a:srgbClr val="113E7A"/>
                </a:solidFill>
                <a:latin typeface="Arial"/>
                <a:ea typeface="Arial"/>
                <a:cs typeface="Arial"/>
              </a:defRPr>
            </a:lvl4pPr>
            <a:lvl5pPr algn="l">
              <a:defRPr sz="1875" b="1">
                <a:solidFill>
                  <a:srgbClr val="113E7A"/>
                </a:solidFill>
                <a:latin typeface="Arial"/>
                <a:ea typeface="Arial"/>
                <a:cs typeface="Arial"/>
              </a:defRPr>
            </a:lvl5pPr>
            <a:lvl6pPr algn="l">
              <a:defRPr sz="1875" b="1">
                <a:solidFill>
                  <a:srgbClr val="113E7A"/>
                </a:solidFill>
                <a:latin typeface="Arial"/>
                <a:ea typeface="Arial"/>
                <a:cs typeface="Arial"/>
              </a:defRPr>
            </a:lvl6pPr>
            <a:lvl7pPr algn="l">
              <a:defRPr sz="1875" b="1">
                <a:solidFill>
                  <a:srgbClr val="113E7A"/>
                </a:solidFill>
                <a:latin typeface="Arial"/>
                <a:ea typeface="Arial"/>
                <a:cs typeface="Arial"/>
              </a:defRPr>
            </a:lvl7pPr>
            <a:lvl8pPr algn="l">
              <a:defRPr sz="1875" b="1">
                <a:solidFill>
                  <a:srgbClr val="113E7A"/>
                </a:solidFill>
                <a:latin typeface="Arial"/>
                <a:ea typeface="Arial"/>
                <a:cs typeface="Arial"/>
              </a:defRPr>
            </a:lvl8pPr>
            <a:lvl9pPr algn="l">
              <a:defRPr sz="1875" b="1">
                <a:solidFill>
                  <a:srgbClr val="113E7A"/>
                </a:solidFill>
                <a:latin typeface="Arial"/>
                <a:ea typeface="Arial"/>
                <a:cs typeface="Arial"/>
              </a:defRPr>
            </a:lvl9pPr>
          </a:lstStyle>
          <a:p xmlns:a="http://schemas.openxmlformats.org/drawingml/2006/main">
            <a:pPr algn="l">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Khoảng 578 giao dịch bình thường</a:t>
            </a:r>
          </a:p>
          <a:p xmlns:a="http://schemas.openxmlformats.org/drawingml/2006/main">
            <a:pPr algn="l">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cho mỗi giao dịch gian lận.</a:t>
            </a:r>
          </a:p>
        </p:txBody>
      </p:sp>
      <p:sp>
        <p:nvSpPr>
          <p:cNvPr id="7" name="text-51">
            <a:extLst xmlns:a="http://schemas.openxmlformats.org/drawingml/2006/main">
              <a:ext uri="{FF2B5EF4-FFF2-40B4-BE49-F238E27FC236}">
                <a16:creationId xmlns:a16="http://schemas.microsoft.com/office/drawing/2014/main" id="{A9A62CEA-1215-44E3-864F-BDEFBBB3D301}"/>
              </a:ext>
            </a:extLst>
          </p:cNvPr>
          <p:cNvSpPr>
            <a:spLocks xmlns:a="http://schemas.openxmlformats.org/drawingml/2006/main" noGrp="1"/>
          </p:cNvSpPr>
          <p:nvPr/>
        </p:nvSpPr>
        <p:spPr>
          <a:xfrm xmlns:a="http://schemas.openxmlformats.org/drawingml/2006/main">
            <a:off x="6400800" y="5638800"/>
            <a:ext cx="5000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3E7A"/>
                </a:solidFill>
                <a:latin typeface="Arial"/>
                <a:ea typeface="Arial"/>
                <a:cs typeface="Arial"/>
              </a:defRPr>
            </a:defPPr>
            <a:lvl1pPr algn="l">
              <a:defRPr sz="1875" b="1">
                <a:solidFill>
                  <a:srgbClr val="113E7A"/>
                </a:solidFill>
                <a:latin typeface="Arial"/>
                <a:ea typeface="Arial"/>
                <a:cs typeface="Arial"/>
              </a:defRPr>
            </a:lvl1pPr>
            <a:lvl2pPr algn="l">
              <a:defRPr sz="1875" b="1">
                <a:solidFill>
                  <a:srgbClr val="113E7A"/>
                </a:solidFill>
                <a:latin typeface="Arial"/>
                <a:ea typeface="Arial"/>
                <a:cs typeface="Arial"/>
              </a:defRPr>
            </a:lvl2pPr>
            <a:lvl3pPr algn="l">
              <a:defRPr sz="1875" b="1">
                <a:solidFill>
                  <a:srgbClr val="113E7A"/>
                </a:solidFill>
                <a:latin typeface="Arial"/>
                <a:ea typeface="Arial"/>
                <a:cs typeface="Arial"/>
              </a:defRPr>
            </a:lvl3pPr>
            <a:lvl4pPr algn="l">
              <a:defRPr sz="1875" b="1">
                <a:solidFill>
                  <a:srgbClr val="113E7A"/>
                </a:solidFill>
                <a:latin typeface="Arial"/>
                <a:ea typeface="Arial"/>
                <a:cs typeface="Arial"/>
              </a:defRPr>
            </a:lvl4pPr>
            <a:lvl5pPr algn="l">
              <a:defRPr sz="1875" b="1">
                <a:solidFill>
                  <a:srgbClr val="113E7A"/>
                </a:solidFill>
                <a:latin typeface="Arial"/>
                <a:ea typeface="Arial"/>
                <a:cs typeface="Arial"/>
              </a:defRPr>
            </a:lvl5pPr>
            <a:lvl6pPr algn="l">
              <a:defRPr sz="1875" b="1">
                <a:solidFill>
                  <a:srgbClr val="113E7A"/>
                </a:solidFill>
                <a:latin typeface="Arial"/>
                <a:ea typeface="Arial"/>
                <a:cs typeface="Arial"/>
              </a:defRPr>
            </a:lvl6pPr>
            <a:lvl7pPr algn="l">
              <a:defRPr sz="1875" b="1">
                <a:solidFill>
                  <a:srgbClr val="113E7A"/>
                </a:solidFill>
                <a:latin typeface="Arial"/>
                <a:ea typeface="Arial"/>
                <a:cs typeface="Arial"/>
              </a:defRPr>
            </a:lvl7pPr>
            <a:lvl8pPr algn="l">
              <a:defRPr sz="1875" b="1">
                <a:solidFill>
                  <a:srgbClr val="113E7A"/>
                </a:solidFill>
                <a:latin typeface="Arial"/>
                <a:ea typeface="Arial"/>
                <a:cs typeface="Arial"/>
              </a:defRPr>
            </a:lvl8pPr>
            <a:lvl9pPr algn="l">
              <a:defRPr sz="1875" b="1">
                <a:solidFill>
                  <a:srgbClr val="113E7A"/>
                </a:solidFill>
                <a:latin typeface="Arial"/>
                <a:ea typeface="Arial"/>
                <a:cs typeface="Arial"/>
              </a:defRPr>
            </a:lvl9pPr>
          </a:lstStyle>
          <a:p xmlns:a="http://schemas.openxmlformats.org/drawingml/2006/main">
            <a:pPr algn="l">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Amount lệch phải mạnh.</a:t>
            </a:r>
          </a:p>
          <a:p xmlns:a="http://schemas.openxmlformats.org/drawingml/2006/main">
            <a:pPr algn="l">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Trung vị 22,00; trung bình 88,35.</a:t>
            </a:r>
          </a:p>
        </p:txBody>
      </p:sp>
    </p:spTree>
    <p:extLst>
      <p:ext uri="{BB962C8B-B14F-4D97-AF65-F5344CB8AC3E}">
        <p14:creationId xmlns:p14="http://schemas.microsoft.com/office/powerpoint/2010/main" val="1417254320"/>
      </p:ext>
    </p:extLst>
  </p:cSld>
</p:sld>
</file>

<file path=ppt/slides/slide6.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685C077-1A7D-400F-BFBF-CE986E270F38}"/>
              </a:ext>
            </a:extLst>
          </p:cNvPr>
          <p:cNvPicPr>
            <a:picLocks xmlns:a="http://schemas.openxmlformats.org/drawingml/2006/main" noChangeAspect="1"/>
          </p:cNvPicPr>
          <p:nvPr/>
        </p:nvPicPr>
        <p:blipFill>
          <a:blip xmlns:r="http://schemas.openxmlformats.org/officeDocument/2006/relationships" xmlns:a="http://schemas.openxmlformats.org/drawingml/2006/main" r:embed="R3feb9a5834d746f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52">
            <a:extLst xmlns:a="http://schemas.openxmlformats.org/drawingml/2006/main">
              <a:ext uri="{FF2B5EF4-FFF2-40B4-BE49-F238E27FC236}">
                <a16:creationId xmlns:a16="http://schemas.microsoft.com/office/drawing/2014/main" id="{BBFB27AD-5EE2-4551-B2D5-1E64DA9A01C4}"/>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Tiền xử lý và kiểm soát rò rỉ dữ liệu</a:t>
            </a:r>
          </a:p>
        </p:txBody>
      </p:sp>
      <p:sp>
        <p:nvSpPr>
          <p:cNvPr id="3" name="text-53">
            <a:extLst xmlns:a="http://schemas.openxmlformats.org/drawingml/2006/main">
              <a:ext uri="{FF2B5EF4-FFF2-40B4-BE49-F238E27FC236}">
                <a16:creationId xmlns:a16="http://schemas.microsoft.com/office/drawing/2014/main" id="{663B3070-6929-48FE-818A-F3CB07C82B8E}"/>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06</a:t>
            </a:r>
          </a:p>
        </p:txBody>
      </p:sp>
      <p:sp>
        <p:nvSpPr>
          <p:cNvPr id="4" name="diagram-54">
            <a:extLst xmlns:a="http://schemas.openxmlformats.org/drawingml/2006/main">
              <a:ext uri="{FF2B5EF4-FFF2-40B4-BE49-F238E27FC236}">
                <a16:creationId xmlns:a16="http://schemas.microsoft.com/office/drawing/2014/main" id="{23605BCF-914F-4A61-B1A4-9137D6656A39}"/>
              </a:ext>
            </a:extLst>
          </p:cNvPr>
          <p:cNvSpPr>
            <a:spLocks xmlns:a="http://schemas.openxmlformats.org/drawingml/2006/main" noGrp="1"/>
          </p:cNvSpPr>
          <p:nvPr/>
        </p:nvSpPr>
        <p:spPr>
          <a:xfrm xmlns:a="http://schemas.openxmlformats.org/drawingml/2006/main">
            <a:off x="904875" y="2047875"/>
            <a:ext cx="2667000" cy="952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2025" b="1">
                <a:solidFill>
                  <a:srgbClr val="113E7A"/>
                </a:solidFill>
                <a:latin typeface="Arial"/>
                <a:ea typeface="Arial"/>
                <a:cs typeface="Arial"/>
              </a:defRPr>
            </a:defPPr>
            <a:lvl1pPr algn="ctr">
              <a:defRPr sz="2025" b="1">
                <a:solidFill>
                  <a:srgbClr val="113E7A"/>
                </a:solidFill>
                <a:latin typeface="Arial"/>
                <a:ea typeface="Arial"/>
                <a:cs typeface="Arial"/>
              </a:defRPr>
            </a:lvl1pPr>
            <a:lvl2pPr algn="ctr">
              <a:defRPr sz="2025" b="1">
                <a:solidFill>
                  <a:srgbClr val="113E7A"/>
                </a:solidFill>
                <a:latin typeface="Arial"/>
                <a:ea typeface="Arial"/>
                <a:cs typeface="Arial"/>
              </a:defRPr>
            </a:lvl2pPr>
            <a:lvl3pPr algn="ctr">
              <a:defRPr sz="2025" b="1">
                <a:solidFill>
                  <a:srgbClr val="113E7A"/>
                </a:solidFill>
                <a:latin typeface="Arial"/>
                <a:ea typeface="Arial"/>
                <a:cs typeface="Arial"/>
              </a:defRPr>
            </a:lvl3pPr>
            <a:lvl4pPr algn="ctr">
              <a:defRPr sz="2025" b="1">
                <a:solidFill>
                  <a:srgbClr val="113E7A"/>
                </a:solidFill>
                <a:latin typeface="Arial"/>
                <a:ea typeface="Arial"/>
                <a:cs typeface="Arial"/>
              </a:defRPr>
            </a:lvl4pPr>
            <a:lvl5pPr algn="ctr">
              <a:defRPr sz="2025" b="1">
                <a:solidFill>
                  <a:srgbClr val="113E7A"/>
                </a:solidFill>
                <a:latin typeface="Arial"/>
                <a:ea typeface="Arial"/>
                <a:cs typeface="Arial"/>
              </a:defRPr>
            </a:lvl5pPr>
            <a:lvl6pPr algn="ctr">
              <a:defRPr sz="2025" b="1">
                <a:solidFill>
                  <a:srgbClr val="113E7A"/>
                </a:solidFill>
                <a:latin typeface="Arial"/>
                <a:ea typeface="Arial"/>
                <a:cs typeface="Arial"/>
              </a:defRPr>
            </a:lvl6pPr>
            <a:lvl7pPr algn="ctr">
              <a:defRPr sz="2025" b="1">
                <a:solidFill>
                  <a:srgbClr val="113E7A"/>
                </a:solidFill>
                <a:latin typeface="Arial"/>
                <a:ea typeface="Arial"/>
                <a:cs typeface="Arial"/>
              </a:defRPr>
            </a:lvl7pPr>
            <a:lvl8pPr algn="ctr">
              <a:defRPr sz="2025" b="1">
                <a:solidFill>
                  <a:srgbClr val="113E7A"/>
                </a:solidFill>
                <a:latin typeface="Arial"/>
                <a:ea typeface="Arial"/>
                <a:cs typeface="Arial"/>
              </a:defRPr>
            </a:lvl8pPr>
            <a:lvl9pPr algn="ctr">
              <a:defRPr sz="2025" b="1">
                <a:solidFill>
                  <a:srgbClr val="113E7A"/>
                </a:solidFill>
                <a:latin typeface="Arial"/>
                <a:ea typeface="Arial"/>
                <a:cs typeface="Arial"/>
              </a:defRPr>
            </a:lvl9pPr>
          </a:lstStyle>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284.807 dòng</a:t>
            </a:r>
          </a:p>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Không có ô thiếu</a:t>
            </a:r>
          </a:p>
        </p:txBody>
      </p:sp>
      <p:sp>
        <p:nvSpPr>
          <p:cNvPr id="5" name="diagram-55">
            <a:extLst xmlns:a="http://schemas.openxmlformats.org/drawingml/2006/main">
              <a:ext uri="{FF2B5EF4-FFF2-40B4-BE49-F238E27FC236}">
                <a16:creationId xmlns:a16="http://schemas.microsoft.com/office/drawing/2014/main" id="{A569F6A0-819C-4C26-9FDB-8E68F74EC2C0}"/>
              </a:ext>
            </a:extLst>
          </p:cNvPr>
          <p:cNvSpPr>
            <a:spLocks xmlns:a="http://schemas.openxmlformats.org/drawingml/2006/main" noGrp="1"/>
          </p:cNvSpPr>
          <p:nvPr/>
        </p:nvSpPr>
        <p:spPr>
          <a:xfrm xmlns:a="http://schemas.openxmlformats.org/drawingml/2006/main">
            <a:off x="4762500" y="2047875"/>
            <a:ext cx="2667000" cy="952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2025" b="1">
                <a:solidFill>
                  <a:srgbClr val="113E7A"/>
                </a:solidFill>
                <a:latin typeface="Arial"/>
                <a:ea typeface="Arial"/>
                <a:cs typeface="Arial"/>
              </a:defRPr>
            </a:defPPr>
            <a:lvl1pPr algn="ctr">
              <a:defRPr sz="2025" b="1">
                <a:solidFill>
                  <a:srgbClr val="113E7A"/>
                </a:solidFill>
                <a:latin typeface="Arial"/>
                <a:ea typeface="Arial"/>
                <a:cs typeface="Arial"/>
              </a:defRPr>
            </a:lvl1pPr>
            <a:lvl2pPr algn="ctr">
              <a:defRPr sz="2025" b="1">
                <a:solidFill>
                  <a:srgbClr val="113E7A"/>
                </a:solidFill>
                <a:latin typeface="Arial"/>
                <a:ea typeface="Arial"/>
                <a:cs typeface="Arial"/>
              </a:defRPr>
            </a:lvl2pPr>
            <a:lvl3pPr algn="ctr">
              <a:defRPr sz="2025" b="1">
                <a:solidFill>
                  <a:srgbClr val="113E7A"/>
                </a:solidFill>
                <a:latin typeface="Arial"/>
                <a:ea typeface="Arial"/>
                <a:cs typeface="Arial"/>
              </a:defRPr>
            </a:lvl3pPr>
            <a:lvl4pPr algn="ctr">
              <a:defRPr sz="2025" b="1">
                <a:solidFill>
                  <a:srgbClr val="113E7A"/>
                </a:solidFill>
                <a:latin typeface="Arial"/>
                <a:ea typeface="Arial"/>
                <a:cs typeface="Arial"/>
              </a:defRPr>
            </a:lvl4pPr>
            <a:lvl5pPr algn="ctr">
              <a:defRPr sz="2025" b="1">
                <a:solidFill>
                  <a:srgbClr val="113E7A"/>
                </a:solidFill>
                <a:latin typeface="Arial"/>
                <a:ea typeface="Arial"/>
                <a:cs typeface="Arial"/>
              </a:defRPr>
            </a:lvl5pPr>
            <a:lvl6pPr algn="ctr">
              <a:defRPr sz="2025" b="1">
                <a:solidFill>
                  <a:srgbClr val="113E7A"/>
                </a:solidFill>
                <a:latin typeface="Arial"/>
                <a:ea typeface="Arial"/>
                <a:cs typeface="Arial"/>
              </a:defRPr>
            </a:lvl6pPr>
            <a:lvl7pPr algn="ctr">
              <a:defRPr sz="2025" b="1">
                <a:solidFill>
                  <a:srgbClr val="113E7A"/>
                </a:solidFill>
                <a:latin typeface="Arial"/>
                <a:ea typeface="Arial"/>
                <a:cs typeface="Arial"/>
              </a:defRPr>
            </a:lvl7pPr>
            <a:lvl8pPr algn="ctr">
              <a:defRPr sz="2025" b="1">
                <a:solidFill>
                  <a:srgbClr val="113E7A"/>
                </a:solidFill>
                <a:latin typeface="Arial"/>
                <a:ea typeface="Arial"/>
                <a:cs typeface="Arial"/>
              </a:defRPr>
            </a:lvl8pPr>
            <a:lvl9pPr algn="ctr">
              <a:defRPr sz="2025" b="1">
                <a:solidFill>
                  <a:srgbClr val="113E7A"/>
                </a:solidFill>
                <a:latin typeface="Arial"/>
                <a:ea typeface="Arial"/>
                <a:cs typeface="Arial"/>
              </a:defRPr>
            </a:lvl9pPr>
          </a:lstStyle>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Bỏ 1.081 bản sao</a:t>
            </a:r>
          </a:p>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Giữ lần đầu tiên</a:t>
            </a:r>
          </a:p>
        </p:txBody>
      </p:sp>
      <p:sp>
        <p:nvSpPr>
          <p:cNvPr id="6" name="diagram-56">
            <a:extLst xmlns:a="http://schemas.openxmlformats.org/drawingml/2006/main">
              <a:ext uri="{FF2B5EF4-FFF2-40B4-BE49-F238E27FC236}">
                <a16:creationId xmlns:a16="http://schemas.microsoft.com/office/drawing/2014/main" id="{8FDD0594-ED90-442F-8E11-842D68A8F53D}"/>
              </a:ext>
            </a:extLst>
          </p:cNvPr>
          <p:cNvSpPr>
            <a:spLocks xmlns:a="http://schemas.openxmlformats.org/drawingml/2006/main" noGrp="1"/>
          </p:cNvSpPr>
          <p:nvPr/>
        </p:nvSpPr>
        <p:spPr>
          <a:xfrm xmlns:a="http://schemas.openxmlformats.org/drawingml/2006/main">
            <a:off x="8620125" y="2047875"/>
            <a:ext cx="2667000" cy="952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2025" b="1">
                <a:solidFill>
                  <a:srgbClr val="113E7A"/>
                </a:solidFill>
                <a:latin typeface="Arial"/>
                <a:ea typeface="Arial"/>
                <a:cs typeface="Arial"/>
              </a:defRPr>
            </a:defPPr>
            <a:lvl1pPr algn="ctr">
              <a:defRPr sz="2025" b="1">
                <a:solidFill>
                  <a:srgbClr val="113E7A"/>
                </a:solidFill>
                <a:latin typeface="Arial"/>
                <a:ea typeface="Arial"/>
                <a:cs typeface="Arial"/>
              </a:defRPr>
            </a:lvl1pPr>
            <a:lvl2pPr algn="ctr">
              <a:defRPr sz="2025" b="1">
                <a:solidFill>
                  <a:srgbClr val="113E7A"/>
                </a:solidFill>
                <a:latin typeface="Arial"/>
                <a:ea typeface="Arial"/>
                <a:cs typeface="Arial"/>
              </a:defRPr>
            </a:lvl2pPr>
            <a:lvl3pPr algn="ctr">
              <a:defRPr sz="2025" b="1">
                <a:solidFill>
                  <a:srgbClr val="113E7A"/>
                </a:solidFill>
                <a:latin typeface="Arial"/>
                <a:ea typeface="Arial"/>
                <a:cs typeface="Arial"/>
              </a:defRPr>
            </a:lvl3pPr>
            <a:lvl4pPr algn="ctr">
              <a:defRPr sz="2025" b="1">
                <a:solidFill>
                  <a:srgbClr val="113E7A"/>
                </a:solidFill>
                <a:latin typeface="Arial"/>
                <a:ea typeface="Arial"/>
                <a:cs typeface="Arial"/>
              </a:defRPr>
            </a:lvl4pPr>
            <a:lvl5pPr algn="ctr">
              <a:defRPr sz="2025" b="1">
                <a:solidFill>
                  <a:srgbClr val="113E7A"/>
                </a:solidFill>
                <a:latin typeface="Arial"/>
                <a:ea typeface="Arial"/>
                <a:cs typeface="Arial"/>
              </a:defRPr>
            </a:lvl5pPr>
            <a:lvl6pPr algn="ctr">
              <a:defRPr sz="2025" b="1">
                <a:solidFill>
                  <a:srgbClr val="113E7A"/>
                </a:solidFill>
                <a:latin typeface="Arial"/>
                <a:ea typeface="Arial"/>
                <a:cs typeface="Arial"/>
              </a:defRPr>
            </a:lvl6pPr>
            <a:lvl7pPr algn="ctr">
              <a:defRPr sz="2025" b="1">
                <a:solidFill>
                  <a:srgbClr val="113E7A"/>
                </a:solidFill>
                <a:latin typeface="Arial"/>
                <a:ea typeface="Arial"/>
                <a:cs typeface="Arial"/>
              </a:defRPr>
            </a:lvl7pPr>
            <a:lvl8pPr algn="ctr">
              <a:defRPr sz="2025" b="1">
                <a:solidFill>
                  <a:srgbClr val="113E7A"/>
                </a:solidFill>
                <a:latin typeface="Arial"/>
                <a:ea typeface="Arial"/>
                <a:cs typeface="Arial"/>
              </a:defRPr>
            </a:lvl8pPr>
            <a:lvl9pPr algn="ctr">
              <a:defRPr sz="2025" b="1">
                <a:solidFill>
                  <a:srgbClr val="113E7A"/>
                </a:solidFill>
                <a:latin typeface="Arial"/>
                <a:ea typeface="Arial"/>
                <a:cs typeface="Arial"/>
              </a:defRPr>
            </a:lvl9pPr>
          </a:lstStyle>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283.726 dòng</a:t>
            </a:r>
          </a:p>
          <a:p xmlns:a="http://schemas.openxmlformats.org/drawingml/2006/main">
            <a:pPr algn="ctr">
              <a:defRPr sz="2025" b="1">
                <a:solidFill>
                  <a:srgbClr val="113E7A"/>
                </a:solidFill>
                <a:latin typeface="Arial"/>
                <a:ea typeface="Arial"/>
                <a:cs typeface="Arial"/>
              </a:defRPr>
            </a:pPr>
            <a:r>
              <a:rPr sz="2025" b="1">
                <a:solidFill>
                  <a:srgbClr val="113E7A"/>
                </a:solidFill>
                <a:latin typeface="Arial"/>
                <a:ea typeface="Arial"/>
                <a:cs typeface="Arial"/>
              </a:rPr>
              <a:t>473 ca gian lận</a:t>
            </a:r>
          </a:p>
        </p:txBody>
      </p:sp>
      <p:sp>
        <p:nvSpPr>
          <p:cNvPr id="7" name="flow-arrow-57">
            <a:extLst xmlns:a="http://schemas.openxmlformats.org/drawingml/2006/main">
              <a:ext uri="{FF2B5EF4-FFF2-40B4-BE49-F238E27FC236}">
                <a16:creationId xmlns:a16="http://schemas.microsoft.com/office/drawing/2014/main" id="{A5A57DF0-0FAA-4DB6-9DC0-A1AE22940EB1}"/>
              </a:ext>
            </a:extLst>
          </p:cNvPr>
          <p:cNvSpPr>
            <a:spLocks xmlns:a="http://schemas.openxmlformats.org/drawingml/2006/main" noGrp="1"/>
          </p:cNvSpPr>
          <p:nvPr/>
        </p:nvSpPr>
        <p:spPr>
          <a:xfrm xmlns:a="http://schemas.openxmlformats.org/drawingml/2006/main" rot="0">
            <a:off x="3609975" y="2476500"/>
            <a:ext cx="1114425"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8" name="flow-arrow-58">
            <a:extLst xmlns:a="http://schemas.openxmlformats.org/drawingml/2006/main">
              <a:ext uri="{FF2B5EF4-FFF2-40B4-BE49-F238E27FC236}">
                <a16:creationId xmlns:a16="http://schemas.microsoft.com/office/drawing/2014/main" id="{FDEB08EB-C351-4401-8574-289BCB590D36}"/>
              </a:ext>
            </a:extLst>
          </p:cNvPr>
          <p:cNvSpPr>
            <a:spLocks xmlns:a="http://schemas.openxmlformats.org/drawingml/2006/main" noGrp="1"/>
          </p:cNvSpPr>
          <p:nvPr/>
        </p:nvSpPr>
        <p:spPr>
          <a:xfrm xmlns:a="http://schemas.openxmlformats.org/drawingml/2006/main" rot="0">
            <a:off x="7467600" y="2476500"/>
            <a:ext cx="1114425"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9" name="diagram-59">
            <a:extLst xmlns:a="http://schemas.openxmlformats.org/drawingml/2006/main">
              <a:ext uri="{FF2B5EF4-FFF2-40B4-BE49-F238E27FC236}">
                <a16:creationId xmlns:a16="http://schemas.microsoft.com/office/drawing/2014/main" id="{F78CFF30-88F0-427C-A36C-0E25617831AF}"/>
              </a:ext>
            </a:extLst>
          </p:cNvPr>
          <p:cNvSpPr>
            <a:spLocks xmlns:a="http://schemas.openxmlformats.org/drawingml/2006/main" noGrp="1"/>
          </p:cNvSpPr>
          <p:nvPr/>
        </p:nvSpPr>
        <p:spPr>
          <a:xfrm xmlns:a="http://schemas.openxmlformats.org/drawingml/2006/main">
            <a:off x="4238625" y="3762375"/>
            <a:ext cx="2762250" cy="952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2250" b="1">
                <a:solidFill>
                  <a:srgbClr val="113E7A"/>
                </a:solidFill>
                <a:latin typeface="Arial"/>
                <a:ea typeface="Arial"/>
                <a:cs typeface="Arial"/>
              </a:defRPr>
            </a:defPPr>
            <a:lvl1pPr algn="ctr">
              <a:defRPr sz="2250" b="1">
                <a:solidFill>
                  <a:srgbClr val="113E7A"/>
                </a:solidFill>
                <a:latin typeface="Arial"/>
                <a:ea typeface="Arial"/>
                <a:cs typeface="Arial"/>
              </a:defRPr>
            </a:lvl1pPr>
            <a:lvl2pPr algn="ctr">
              <a:defRPr sz="2250" b="1">
                <a:solidFill>
                  <a:srgbClr val="113E7A"/>
                </a:solidFill>
                <a:latin typeface="Arial"/>
                <a:ea typeface="Arial"/>
                <a:cs typeface="Arial"/>
              </a:defRPr>
            </a:lvl2pPr>
            <a:lvl3pPr algn="ctr">
              <a:defRPr sz="2250" b="1">
                <a:solidFill>
                  <a:srgbClr val="113E7A"/>
                </a:solidFill>
                <a:latin typeface="Arial"/>
                <a:ea typeface="Arial"/>
                <a:cs typeface="Arial"/>
              </a:defRPr>
            </a:lvl3pPr>
            <a:lvl4pPr algn="ctr">
              <a:defRPr sz="2250" b="1">
                <a:solidFill>
                  <a:srgbClr val="113E7A"/>
                </a:solidFill>
                <a:latin typeface="Arial"/>
                <a:ea typeface="Arial"/>
                <a:cs typeface="Arial"/>
              </a:defRPr>
            </a:lvl4pPr>
            <a:lvl5pPr algn="ctr">
              <a:defRPr sz="2250" b="1">
                <a:solidFill>
                  <a:srgbClr val="113E7A"/>
                </a:solidFill>
                <a:latin typeface="Arial"/>
                <a:ea typeface="Arial"/>
                <a:cs typeface="Arial"/>
              </a:defRPr>
            </a:lvl5pPr>
            <a:lvl6pPr algn="ctr">
              <a:defRPr sz="2250" b="1">
                <a:solidFill>
                  <a:srgbClr val="113E7A"/>
                </a:solidFill>
                <a:latin typeface="Arial"/>
                <a:ea typeface="Arial"/>
                <a:cs typeface="Arial"/>
              </a:defRPr>
            </a:lvl6pPr>
            <a:lvl7pPr algn="ctr">
              <a:defRPr sz="2250" b="1">
                <a:solidFill>
                  <a:srgbClr val="113E7A"/>
                </a:solidFill>
                <a:latin typeface="Arial"/>
                <a:ea typeface="Arial"/>
                <a:cs typeface="Arial"/>
              </a:defRPr>
            </a:lvl7pPr>
            <a:lvl8pPr algn="ctr">
              <a:defRPr sz="2250" b="1">
                <a:solidFill>
                  <a:srgbClr val="113E7A"/>
                </a:solidFill>
                <a:latin typeface="Arial"/>
                <a:ea typeface="Arial"/>
                <a:cs typeface="Arial"/>
              </a:defRPr>
            </a:lvl8pPr>
            <a:lvl9pPr algn="ctr">
              <a:defRPr sz="2250" b="1">
                <a:solidFill>
                  <a:srgbClr val="113E7A"/>
                </a:solidFill>
                <a:latin typeface="Arial"/>
                <a:ea typeface="Arial"/>
                <a:cs typeface="Arial"/>
              </a:defRPr>
            </a:lvl9pPr>
          </a:lstStyle>
          <a:p xmlns:a="http://schemas.openxmlformats.org/drawingml/2006/main">
            <a:pPr algn="ctr">
              <a:defRPr sz="2250" b="1">
                <a:solidFill>
                  <a:srgbClr val="113E7A"/>
                </a:solidFill>
                <a:latin typeface="Arial"/>
                <a:ea typeface="Arial"/>
                <a:cs typeface="Arial"/>
              </a:defRPr>
            </a:pPr>
            <a:r>
              <a:rPr sz="2250" b="1">
                <a:solidFill>
                  <a:srgbClr val="113E7A"/>
                </a:solidFill>
                <a:latin typeface="Arial"/>
                <a:ea typeface="Arial"/>
                <a:cs typeface="Arial"/>
              </a:rPr>
              <a:t>Train 80%</a:t>
            </a:r>
          </a:p>
          <a:p xmlns:a="http://schemas.openxmlformats.org/drawingml/2006/main">
            <a:pPr algn="ctr">
              <a:defRPr sz="2250" b="1">
                <a:solidFill>
                  <a:srgbClr val="113E7A"/>
                </a:solidFill>
                <a:latin typeface="Arial"/>
                <a:ea typeface="Arial"/>
                <a:cs typeface="Arial"/>
              </a:defRPr>
            </a:pPr>
            <a:r>
              <a:rPr sz="2250" b="1">
                <a:solidFill>
                  <a:srgbClr val="113E7A"/>
                </a:solidFill>
                <a:latin typeface="Arial"/>
                <a:ea typeface="Arial"/>
                <a:cs typeface="Arial"/>
              </a:rPr>
              <a:t>226.980 dòng</a:t>
            </a:r>
          </a:p>
        </p:txBody>
      </p:sp>
      <p:sp>
        <p:nvSpPr>
          <p:cNvPr id="10" name="diagram-60">
            <a:extLst xmlns:a="http://schemas.openxmlformats.org/drawingml/2006/main">
              <a:ext uri="{FF2B5EF4-FFF2-40B4-BE49-F238E27FC236}">
                <a16:creationId xmlns:a16="http://schemas.microsoft.com/office/drawing/2014/main" id="{0EAA5A69-2301-4B69-81F8-E866B4A39448}"/>
              </a:ext>
            </a:extLst>
          </p:cNvPr>
          <p:cNvSpPr>
            <a:spLocks xmlns:a="http://schemas.openxmlformats.org/drawingml/2006/main" noGrp="1"/>
          </p:cNvSpPr>
          <p:nvPr/>
        </p:nvSpPr>
        <p:spPr>
          <a:xfrm xmlns:a="http://schemas.openxmlformats.org/drawingml/2006/main">
            <a:off x="8239125" y="3762375"/>
            <a:ext cx="2762250" cy="952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2250" b="1">
                <a:solidFill>
                  <a:srgbClr val="113E7A"/>
                </a:solidFill>
                <a:latin typeface="Arial"/>
                <a:ea typeface="Arial"/>
                <a:cs typeface="Arial"/>
              </a:defRPr>
            </a:defPPr>
            <a:lvl1pPr algn="ctr">
              <a:defRPr sz="2250" b="1">
                <a:solidFill>
                  <a:srgbClr val="113E7A"/>
                </a:solidFill>
                <a:latin typeface="Arial"/>
                <a:ea typeface="Arial"/>
                <a:cs typeface="Arial"/>
              </a:defRPr>
            </a:lvl1pPr>
            <a:lvl2pPr algn="ctr">
              <a:defRPr sz="2250" b="1">
                <a:solidFill>
                  <a:srgbClr val="113E7A"/>
                </a:solidFill>
                <a:latin typeface="Arial"/>
                <a:ea typeface="Arial"/>
                <a:cs typeface="Arial"/>
              </a:defRPr>
            </a:lvl2pPr>
            <a:lvl3pPr algn="ctr">
              <a:defRPr sz="2250" b="1">
                <a:solidFill>
                  <a:srgbClr val="113E7A"/>
                </a:solidFill>
                <a:latin typeface="Arial"/>
                <a:ea typeface="Arial"/>
                <a:cs typeface="Arial"/>
              </a:defRPr>
            </a:lvl3pPr>
            <a:lvl4pPr algn="ctr">
              <a:defRPr sz="2250" b="1">
                <a:solidFill>
                  <a:srgbClr val="113E7A"/>
                </a:solidFill>
                <a:latin typeface="Arial"/>
                <a:ea typeface="Arial"/>
                <a:cs typeface="Arial"/>
              </a:defRPr>
            </a:lvl4pPr>
            <a:lvl5pPr algn="ctr">
              <a:defRPr sz="2250" b="1">
                <a:solidFill>
                  <a:srgbClr val="113E7A"/>
                </a:solidFill>
                <a:latin typeface="Arial"/>
                <a:ea typeface="Arial"/>
                <a:cs typeface="Arial"/>
              </a:defRPr>
            </a:lvl5pPr>
            <a:lvl6pPr algn="ctr">
              <a:defRPr sz="2250" b="1">
                <a:solidFill>
                  <a:srgbClr val="113E7A"/>
                </a:solidFill>
                <a:latin typeface="Arial"/>
                <a:ea typeface="Arial"/>
                <a:cs typeface="Arial"/>
              </a:defRPr>
            </a:lvl6pPr>
            <a:lvl7pPr algn="ctr">
              <a:defRPr sz="2250" b="1">
                <a:solidFill>
                  <a:srgbClr val="113E7A"/>
                </a:solidFill>
                <a:latin typeface="Arial"/>
                <a:ea typeface="Arial"/>
                <a:cs typeface="Arial"/>
              </a:defRPr>
            </a:lvl7pPr>
            <a:lvl8pPr algn="ctr">
              <a:defRPr sz="2250" b="1">
                <a:solidFill>
                  <a:srgbClr val="113E7A"/>
                </a:solidFill>
                <a:latin typeface="Arial"/>
                <a:ea typeface="Arial"/>
                <a:cs typeface="Arial"/>
              </a:defRPr>
            </a:lvl8pPr>
            <a:lvl9pPr algn="ctr">
              <a:defRPr sz="2250" b="1">
                <a:solidFill>
                  <a:srgbClr val="113E7A"/>
                </a:solidFill>
                <a:latin typeface="Arial"/>
                <a:ea typeface="Arial"/>
                <a:cs typeface="Arial"/>
              </a:defRPr>
            </a:lvl9pPr>
          </a:lstStyle>
          <a:p xmlns:a="http://schemas.openxmlformats.org/drawingml/2006/main">
            <a:pPr algn="ctr">
              <a:defRPr sz="2250" b="1">
                <a:solidFill>
                  <a:srgbClr val="113E7A"/>
                </a:solidFill>
                <a:latin typeface="Arial"/>
                <a:ea typeface="Arial"/>
                <a:cs typeface="Arial"/>
              </a:defRPr>
            </a:pPr>
            <a:r>
              <a:rPr sz="2250" b="1">
                <a:solidFill>
                  <a:srgbClr val="113E7A"/>
                </a:solidFill>
                <a:latin typeface="Arial"/>
                <a:ea typeface="Arial"/>
                <a:cs typeface="Arial"/>
              </a:rPr>
              <a:t>Test 20%</a:t>
            </a:r>
          </a:p>
          <a:p xmlns:a="http://schemas.openxmlformats.org/drawingml/2006/main">
            <a:pPr algn="ctr">
              <a:defRPr sz="2250" b="1">
                <a:solidFill>
                  <a:srgbClr val="113E7A"/>
                </a:solidFill>
                <a:latin typeface="Arial"/>
                <a:ea typeface="Arial"/>
                <a:cs typeface="Arial"/>
              </a:defRPr>
            </a:pPr>
            <a:r>
              <a:rPr sz="2250" b="1">
                <a:solidFill>
                  <a:srgbClr val="113E7A"/>
                </a:solidFill>
                <a:latin typeface="Arial"/>
                <a:ea typeface="Arial"/>
                <a:cs typeface="Arial"/>
              </a:rPr>
              <a:t>56.746 dòng</a:t>
            </a:r>
          </a:p>
        </p:txBody>
      </p:sp>
      <p:sp>
        <p:nvSpPr>
          <p:cNvPr id="11" name="flow-arrow-61">
            <a:extLst xmlns:a="http://schemas.openxmlformats.org/drawingml/2006/main">
              <a:ext uri="{FF2B5EF4-FFF2-40B4-BE49-F238E27FC236}">
                <a16:creationId xmlns:a16="http://schemas.microsoft.com/office/drawing/2014/main" id="{84D0B570-3BD6-4625-93D0-43F1A5CF0726}"/>
              </a:ext>
            </a:extLst>
          </p:cNvPr>
          <p:cNvSpPr>
            <a:spLocks xmlns:a="http://schemas.openxmlformats.org/drawingml/2006/main" noGrp="1"/>
          </p:cNvSpPr>
          <p:nvPr/>
        </p:nvSpPr>
        <p:spPr>
          <a:xfrm xmlns:a="http://schemas.openxmlformats.org/drawingml/2006/main" rot="10201677">
            <a:off x="5624610" y="3333750"/>
            <a:ext cx="4324154"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2" name="flow-arrow-62">
            <a:extLst xmlns:a="http://schemas.openxmlformats.org/drawingml/2006/main">
              <a:ext uri="{FF2B5EF4-FFF2-40B4-BE49-F238E27FC236}">
                <a16:creationId xmlns:a16="http://schemas.microsoft.com/office/drawing/2014/main" id="{F98B33A8-6FFB-498F-8CFE-0554BF96261A}"/>
              </a:ext>
            </a:extLst>
          </p:cNvPr>
          <p:cNvSpPr>
            <a:spLocks xmlns:a="http://schemas.openxmlformats.org/drawingml/2006/main" noGrp="1"/>
          </p:cNvSpPr>
          <p:nvPr/>
        </p:nvSpPr>
        <p:spPr>
          <a:xfrm xmlns:a="http://schemas.openxmlformats.org/drawingml/2006/main" rot="6817763">
            <a:off x="9409170" y="3333750"/>
            <a:ext cx="755535"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3" name="text-63">
            <a:extLst xmlns:a="http://schemas.openxmlformats.org/drawingml/2006/main">
              <a:ext uri="{FF2B5EF4-FFF2-40B4-BE49-F238E27FC236}">
                <a16:creationId xmlns:a16="http://schemas.microsoft.com/office/drawing/2014/main" id="{140B5ADD-766B-465A-961D-0C517C122E9F}"/>
              </a:ext>
            </a:extLst>
          </p:cNvPr>
          <p:cNvSpPr>
            <a:spLocks xmlns:a="http://schemas.openxmlformats.org/drawingml/2006/main" noGrp="1"/>
          </p:cNvSpPr>
          <p:nvPr/>
        </p:nvSpPr>
        <p:spPr>
          <a:xfrm xmlns:a="http://schemas.openxmlformats.org/drawingml/2006/main">
            <a:off x="1000125" y="5114925"/>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13E7A"/>
                </a:solidFill>
                <a:latin typeface="Arial"/>
                <a:ea typeface="Arial"/>
                <a:cs typeface="Arial"/>
              </a:defRPr>
            </a:defPPr>
            <a:lvl1pPr algn="ctr">
              <a:defRPr sz="1875" b="1">
                <a:solidFill>
                  <a:srgbClr val="113E7A"/>
                </a:solidFill>
                <a:latin typeface="Arial"/>
                <a:ea typeface="Arial"/>
                <a:cs typeface="Arial"/>
              </a:defRPr>
            </a:lvl1pPr>
            <a:lvl2pPr algn="ctr">
              <a:defRPr sz="1875" b="1">
                <a:solidFill>
                  <a:srgbClr val="113E7A"/>
                </a:solidFill>
                <a:latin typeface="Arial"/>
                <a:ea typeface="Arial"/>
                <a:cs typeface="Arial"/>
              </a:defRPr>
            </a:lvl2pPr>
            <a:lvl3pPr algn="ctr">
              <a:defRPr sz="1875" b="1">
                <a:solidFill>
                  <a:srgbClr val="113E7A"/>
                </a:solidFill>
                <a:latin typeface="Arial"/>
                <a:ea typeface="Arial"/>
                <a:cs typeface="Arial"/>
              </a:defRPr>
            </a:lvl3pPr>
            <a:lvl4pPr algn="ctr">
              <a:defRPr sz="1875" b="1">
                <a:solidFill>
                  <a:srgbClr val="113E7A"/>
                </a:solidFill>
                <a:latin typeface="Arial"/>
                <a:ea typeface="Arial"/>
                <a:cs typeface="Arial"/>
              </a:defRPr>
            </a:lvl4pPr>
            <a:lvl5pPr algn="ctr">
              <a:defRPr sz="1875" b="1">
                <a:solidFill>
                  <a:srgbClr val="113E7A"/>
                </a:solidFill>
                <a:latin typeface="Arial"/>
                <a:ea typeface="Arial"/>
                <a:cs typeface="Arial"/>
              </a:defRPr>
            </a:lvl5pPr>
            <a:lvl6pPr algn="ctr">
              <a:defRPr sz="1875" b="1">
                <a:solidFill>
                  <a:srgbClr val="113E7A"/>
                </a:solidFill>
                <a:latin typeface="Arial"/>
                <a:ea typeface="Arial"/>
                <a:cs typeface="Arial"/>
              </a:defRPr>
            </a:lvl6pPr>
            <a:lvl7pPr algn="ctr">
              <a:defRPr sz="1875" b="1">
                <a:solidFill>
                  <a:srgbClr val="113E7A"/>
                </a:solidFill>
                <a:latin typeface="Arial"/>
                <a:ea typeface="Arial"/>
                <a:cs typeface="Arial"/>
              </a:defRPr>
            </a:lvl7pPr>
            <a:lvl8pPr algn="ctr">
              <a:defRPr sz="1875" b="1">
                <a:solidFill>
                  <a:srgbClr val="113E7A"/>
                </a:solidFill>
                <a:latin typeface="Arial"/>
                <a:ea typeface="Arial"/>
                <a:cs typeface="Arial"/>
              </a:defRPr>
            </a:lvl8pPr>
            <a:lvl9pPr algn="ctr">
              <a:defRPr sz="1875" b="1">
                <a:solidFill>
                  <a:srgbClr val="113E7A"/>
                </a:solidFill>
                <a:latin typeface="Arial"/>
                <a:ea typeface="Arial"/>
                <a:cs typeface="Arial"/>
              </a:defRPr>
            </a:lvl9pPr>
          </a:lstStyle>
          <a:p xmlns:a="http://schemas.openxmlformats.org/drawingml/2006/main">
            <a:pPr algn="ctr">
              <a:lnSpc>
                <a:spcPct val="113000"/>
              </a:lnSpc>
              <a:buNone/>
              <a:defRPr sz="1875" b="1">
                <a:solidFill>
                  <a:srgbClr val="113E7A"/>
                </a:solidFill>
                <a:latin typeface="Arial"/>
                <a:ea typeface="Arial"/>
                <a:cs typeface="Arial"/>
              </a:defRPr>
            </a:pPr>
            <a:r>
              <a:rPr sz="1875" b="1">
                <a:solidFill>
                  <a:srgbClr val="113E7A"/>
                </a:solidFill>
                <a:latin typeface="Arial"/>
                <a:ea typeface="Arial"/>
                <a:cs typeface="Arial"/>
              </a:rPr>
              <a:t>stratify=y và random_state=42; không có đặc trưng trùng giữa hai tập.</a:t>
            </a:r>
          </a:p>
        </p:txBody>
      </p:sp>
      <p:sp>
        <p:nvSpPr>
          <p:cNvPr id="14" name="text-64">
            <a:extLst xmlns:a="http://schemas.openxmlformats.org/drawingml/2006/main">
              <a:ext uri="{FF2B5EF4-FFF2-40B4-BE49-F238E27FC236}">
                <a16:creationId xmlns:a16="http://schemas.microsoft.com/office/drawing/2014/main" id="{732EB0D5-B826-44E3-919C-6791D955195E}"/>
              </a:ext>
            </a:extLst>
          </p:cNvPr>
          <p:cNvSpPr>
            <a:spLocks xmlns:a="http://schemas.openxmlformats.org/drawingml/2006/main" noGrp="1"/>
          </p:cNvSpPr>
          <p:nvPr/>
        </p:nvSpPr>
        <p:spPr>
          <a:xfrm xmlns:a="http://schemas.openxmlformats.org/drawingml/2006/main">
            <a:off x="1000125" y="5686425"/>
            <a:ext cx="1019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0D2648"/>
                </a:solidFill>
                <a:latin typeface="Arial"/>
                <a:ea typeface="Arial"/>
                <a:cs typeface="Arial"/>
              </a:defRPr>
            </a:defPPr>
            <a:lvl1pPr algn="ctr">
              <a:defRPr sz="1800" b="0">
                <a:solidFill>
                  <a:srgbClr val="0D2648"/>
                </a:solidFill>
                <a:latin typeface="Arial"/>
                <a:ea typeface="Arial"/>
                <a:cs typeface="Arial"/>
              </a:defRPr>
            </a:lvl1pPr>
            <a:lvl2pPr algn="ctr">
              <a:defRPr sz="1800" b="0">
                <a:solidFill>
                  <a:srgbClr val="0D2648"/>
                </a:solidFill>
                <a:latin typeface="Arial"/>
                <a:ea typeface="Arial"/>
                <a:cs typeface="Arial"/>
              </a:defRPr>
            </a:lvl2pPr>
            <a:lvl3pPr algn="ctr">
              <a:defRPr sz="1800" b="0">
                <a:solidFill>
                  <a:srgbClr val="0D2648"/>
                </a:solidFill>
                <a:latin typeface="Arial"/>
                <a:ea typeface="Arial"/>
                <a:cs typeface="Arial"/>
              </a:defRPr>
            </a:lvl3pPr>
            <a:lvl4pPr algn="ctr">
              <a:defRPr sz="1800" b="0">
                <a:solidFill>
                  <a:srgbClr val="0D2648"/>
                </a:solidFill>
                <a:latin typeface="Arial"/>
                <a:ea typeface="Arial"/>
                <a:cs typeface="Arial"/>
              </a:defRPr>
            </a:lvl4pPr>
            <a:lvl5pPr algn="ctr">
              <a:defRPr sz="1800" b="0">
                <a:solidFill>
                  <a:srgbClr val="0D2648"/>
                </a:solidFill>
                <a:latin typeface="Arial"/>
                <a:ea typeface="Arial"/>
                <a:cs typeface="Arial"/>
              </a:defRPr>
            </a:lvl5pPr>
            <a:lvl6pPr algn="ctr">
              <a:defRPr sz="1800" b="0">
                <a:solidFill>
                  <a:srgbClr val="0D2648"/>
                </a:solidFill>
                <a:latin typeface="Arial"/>
                <a:ea typeface="Arial"/>
                <a:cs typeface="Arial"/>
              </a:defRPr>
            </a:lvl6pPr>
            <a:lvl7pPr algn="ctr">
              <a:defRPr sz="1800" b="0">
                <a:solidFill>
                  <a:srgbClr val="0D2648"/>
                </a:solidFill>
                <a:latin typeface="Arial"/>
                <a:ea typeface="Arial"/>
                <a:cs typeface="Arial"/>
              </a:defRPr>
            </a:lvl7pPr>
            <a:lvl8pPr algn="ctr">
              <a:defRPr sz="1800" b="0">
                <a:solidFill>
                  <a:srgbClr val="0D2648"/>
                </a:solidFill>
                <a:latin typeface="Arial"/>
                <a:ea typeface="Arial"/>
                <a:cs typeface="Arial"/>
              </a:defRPr>
            </a:lvl8pPr>
            <a:lvl9pPr algn="ctr">
              <a:defRPr sz="1800" b="0">
                <a:solidFill>
                  <a:srgbClr val="0D2648"/>
                </a:solidFill>
                <a:latin typeface="Arial"/>
                <a:ea typeface="Arial"/>
                <a:cs typeface="Arial"/>
              </a:defRPr>
            </a:lvl9pPr>
          </a:lstStyle>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Time/Amount: scaler chỉ fit trên train. Khi tách validation, LR dùng Pipeline mới.</a:t>
            </a:r>
          </a:p>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Random Forest và XGBoost dùng dữ liệu thô, giữ nguyên V1–V28.</a:t>
            </a:r>
          </a:p>
        </p:txBody>
      </p:sp>
    </p:spTree>
    <p:extLst>
      <p:ext uri="{BB962C8B-B14F-4D97-AF65-F5344CB8AC3E}">
        <p14:creationId xmlns:p14="http://schemas.microsoft.com/office/powerpoint/2010/main" val="958803104"/>
      </p:ext>
    </p:extLst>
  </p:cSld>
</p:sld>
</file>

<file path=ppt/slides/slide7.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B65BA0A-DCC0-418F-B2A7-E3231D121871}"/>
              </a:ext>
            </a:extLst>
          </p:cNvPr>
          <p:cNvPicPr>
            <a:picLocks xmlns:a="http://schemas.openxmlformats.org/drawingml/2006/main" noChangeAspect="1"/>
          </p:cNvPicPr>
          <p:nvPr/>
        </p:nvPicPr>
        <p:blipFill>
          <a:blip xmlns:r="http://schemas.openxmlformats.org/officeDocument/2006/relationships" xmlns:a="http://schemas.openxmlformats.org/drawingml/2006/main" r:embed="R5afbc98c069b41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65">
            <a:extLst xmlns:a="http://schemas.openxmlformats.org/drawingml/2006/main">
              <a:ext uri="{FF2B5EF4-FFF2-40B4-BE49-F238E27FC236}">
                <a16:creationId xmlns:a16="http://schemas.microsoft.com/office/drawing/2014/main" id="{07824224-D6E5-411B-8BAB-C1B869F8122A}"/>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Ba thuật toán Machine Learning</a:t>
            </a:r>
          </a:p>
        </p:txBody>
      </p:sp>
      <p:sp>
        <p:nvSpPr>
          <p:cNvPr id="3" name="text-66">
            <a:extLst xmlns:a="http://schemas.openxmlformats.org/drawingml/2006/main">
              <a:ext uri="{FF2B5EF4-FFF2-40B4-BE49-F238E27FC236}">
                <a16:creationId xmlns:a16="http://schemas.microsoft.com/office/drawing/2014/main" id="{30698F1B-7D95-49FB-9FB0-8FE7ECE7939B}"/>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07</a:t>
            </a:r>
          </a:p>
        </p:txBody>
      </p:sp>
      <p:sp>
        <p:nvSpPr>
          <p:cNvPr id="4" name="text-67">
            <a:extLst xmlns:a="http://schemas.openxmlformats.org/drawingml/2006/main">
              <a:ext uri="{FF2B5EF4-FFF2-40B4-BE49-F238E27FC236}">
                <a16:creationId xmlns:a16="http://schemas.microsoft.com/office/drawing/2014/main" id="{69980D5C-069B-43EC-83C4-DDE1BDA90456}"/>
              </a:ext>
            </a:extLst>
          </p:cNvPr>
          <p:cNvSpPr>
            <a:spLocks xmlns:a="http://schemas.openxmlformats.org/drawingml/2006/main" noGrp="1"/>
          </p:cNvSpPr>
          <p:nvPr/>
        </p:nvSpPr>
        <p:spPr>
          <a:xfrm xmlns:a="http://schemas.openxmlformats.org/drawingml/2006/main">
            <a:off x="904875" y="19716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3E7A"/>
                </a:solidFill>
                <a:latin typeface="Arial"/>
                <a:ea typeface="Arial"/>
                <a:cs typeface="Arial"/>
              </a:defRPr>
            </a:defPPr>
            <a:lvl1pPr algn="l">
              <a:defRPr sz="2325" b="1">
                <a:solidFill>
                  <a:srgbClr val="113E7A"/>
                </a:solidFill>
                <a:latin typeface="Arial"/>
                <a:ea typeface="Arial"/>
                <a:cs typeface="Arial"/>
              </a:defRPr>
            </a:lvl1pPr>
            <a:lvl2pPr algn="l">
              <a:defRPr sz="2325" b="1">
                <a:solidFill>
                  <a:srgbClr val="113E7A"/>
                </a:solidFill>
                <a:latin typeface="Arial"/>
                <a:ea typeface="Arial"/>
                <a:cs typeface="Arial"/>
              </a:defRPr>
            </a:lvl2pPr>
            <a:lvl3pPr algn="l">
              <a:defRPr sz="2325" b="1">
                <a:solidFill>
                  <a:srgbClr val="113E7A"/>
                </a:solidFill>
                <a:latin typeface="Arial"/>
                <a:ea typeface="Arial"/>
                <a:cs typeface="Arial"/>
              </a:defRPr>
            </a:lvl3pPr>
            <a:lvl4pPr algn="l">
              <a:defRPr sz="2325" b="1">
                <a:solidFill>
                  <a:srgbClr val="113E7A"/>
                </a:solidFill>
                <a:latin typeface="Arial"/>
                <a:ea typeface="Arial"/>
                <a:cs typeface="Arial"/>
              </a:defRPr>
            </a:lvl4pPr>
            <a:lvl5pPr algn="l">
              <a:defRPr sz="2325" b="1">
                <a:solidFill>
                  <a:srgbClr val="113E7A"/>
                </a:solidFill>
                <a:latin typeface="Arial"/>
                <a:ea typeface="Arial"/>
                <a:cs typeface="Arial"/>
              </a:defRPr>
            </a:lvl5pPr>
            <a:lvl6pPr algn="l">
              <a:defRPr sz="2325" b="1">
                <a:solidFill>
                  <a:srgbClr val="113E7A"/>
                </a:solidFill>
                <a:latin typeface="Arial"/>
                <a:ea typeface="Arial"/>
                <a:cs typeface="Arial"/>
              </a:defRPr>
            </a:lvl6pPr>
            <a:lvl7pPr algn="l">
              <a:defRPr sz="2325" b="1">
                <a:solidFill>
                  <a:srgbClr val="113E7A"/>
                </a:solidFill>
                <a:latin typeface="Arial"/>
                <a:ea typeface="Arial"/>
                <a:cs typeface="Arial"/>
              </a:defRPr>
            </a:lvl7pPr>
            <a:lvl8pPr algn="l">
              <a:defRPr sz="2325" b="1">
                <a:solidFill>
                  <a:srgbClr val="113E7A"/>
                </a:solidFill>
                <a:latin typeface="Arial"/>
                <a:ea typeface="Arial"/>
                <a:cs typeface="Arial"/>
              </a:defRPr>
            </a:lvl8pPr>
            <a:lvl9pPr algn="l">
              <a:defRPr sz="2325" b="1">
                <a:solidFill>
                  <a:srgbClr val="113E7A"/>
                </a:solidFill>
                <a:latin typeface="Arial"/>
                <a:ea typeface="Arial"/>
                <a:cs typeface="Arial"/>
              </a:defRPr>
            </a:lvl9pPr>
          </a:lstStyle>
          <a:p xmlns:a="http://schemas.openxmlformats.org/drawingml/2006/main">
            <a:pPr algn="l">
              <a:lnSpc>
                <a:spcPct val="113000"/>
              </a:lnSpc>
              <a:buNone/>
              <a:defRPr sz="2325" b="1">
                <a:solidFill>
                  <a:srgbClr val="113E7A"/>
                </a:solidFill>
                <a:latin typeface="Arial"/>
                <a:ea typeface="Arial"/>
                <a:cs typeface="Arial"/>
              </a:defRPr>
            </a:pPr>
            <a:r>
              <a:rPr sz="2325" b="1">
                <a:solidFill>
                  <a:srgbClr val="113E7A"/>
                </a:solidFill>
                <a:latin typeface="Arial"/>
                <a:ea typeface="Arial"/>
                <a:cs typeface="Arial"/>
              </a:rPr>
              <a:t>Logistic Regression</a:t>
            </a:r>
          </a:p>
        </p:txBody>
      </p:sp>
      <p:sp>
        <p:nvSpPr>
          <p:cNvPr id="5" name="text-68">
            <a:extLst xmlns:a="http://schemas.openxmlformats.org/drawingml/2006/main">
              <a:ext uri="{FF2B5EF4-FFF2-40B4-BE49-F238E27FC236}">
                <a16:creationId xmlns:a16="http://schemas.microsoft.com/office/drawing/2014/main" id="{0591AFBF-98EF-437F-BFB4-B9EA3AB3DEEA}"/>
              </a:ext>
            </a:extLst>
          </p:cNvPr>
          <p:cNvSpPr>
            <a:spLocks xmlns:a="http://schemas.openxmlformats.org/drawingml/2006/main" noGrp="1"/>
          </p:cNvSpPr>
          <p:nvPr/>
        </p:nvSpPr>
        <p:spPr>
          <a:xfrm xmlns:a="http://schemas.openxmlformats.org/drawingml/2006/main">
            <a:off x="904875"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Ước lượng xác suất</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bằng mô hình tuyến tính.</a:t>
            </a:r>
          </a:p>
        </p:txBody>
      </p:sp>
      <p:sp>
        <p:nvSpPr>
          <p:cNvPr id="6" name="text-69">
            <a:extLst xmlns:a="http://schemas.openxmlformats.org/drawingml/2006/main">
              <a:ext uri="{FF2B5EF4-FFF2-40B4-BE49-F238E27FC236}">
                <a16:creationId xmlns:a16="http://schemas.microsoft.com/office/drawing/2014/main" id="{BF3CC786-53F7-4303-AE47-CF159348F3BE}"/>
              </a:ext>
            </a:extLst>
          </p:cNvPr>
          <p:cNvSpPr>
            <a:spLocks xmlns:a="http://schemas.openxmlformats.org/drawingml/2006/main" noGrp="1"/>
          </p:cNvSpPr>
          <p:nvPr/>
        </p:nvSpPr>
        <p:spPr>
          <a:xfrm xmlns:a="http://schemas.openxmlformats.org/drawingml/2006/main">
            <a:off x="904875" y="40100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Đơn giản, dễ diễn giải và</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làm mốc so sánh ban đầu.</a:t>
            </a:r>
          </a:p>
        </p:txBody>
      </p:sp>
      <p:sp>
        <p:nvSpPr>
          <p:cNvPr id="7" name="text-70">
            <a:extLst xmlns:a="http://schemas.openxmlformats.org/drawingml/2006/main">
              <a:ext uri="{FF2B5EF4-FFF2-40B4-BE49-F238E27FC236}">
                <a16:creationId xmlns:a16="http://schemas.microsoft.com/office/drawing/2014/main" id="{808BAD39-A62D-4ECA-8B53-2F172B3520AA}"/>
              </a:ext>
            </a:extLst>
          </p:cNvPr>
          <p:cNvSpPr>
            <a:spLocks xmlns:a="http://schemas.openxmlformats.org/drawingml/2006/main" noGrp="1"/>
          </p:cNvSpPr>
          <p:nvPr/>
        </p:nvSpPr>
        <p:spPr>
          <a:xfrm xmlns:a="http://schemas.openxmlformats.org/drawingml/2006/main">
            <a:off x="904875" y="5429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168CD"/>
                </a:solidFill>
                <a:latin typeface="Arial"/>
                <a:ea typeface="Arial"/>
                <a:cs typeface="Arial"/>
              </a:defRPr>
            </a:defPPr>
            <a:lvl1pPr algn="l">
              <a:defRPr sz="1725" b="1">
                <a:solidFill>
                  <a:srgbClr val="3168CD"/>
                </a:solidFill>
                <a:latin typeface="Arial"/>
                <a:ea typeface="Arial"/>
                <a:cs typeface="Arial"/>
              </a:defRPr>
            </a:lvl1pPr>
            <a:lvl2pPr algn="l">
              <a:defRPr sz="1725" b="1">
                <a:solidFill>
                  <a:srgbClr val="3168CD"/>
                </a:solidFill>
                <a:latin typeface="Arial"/>
                <a:ea typeface="Arial"/>
                <a:cs typeface="Arial"/>
              </a:defRPr>
            </a:lvl2pPr>
            <a:lvl3pPr algn="l">
              <a:defRPr sz="1725" b="1">
                <a:solidFill>
                  <a:srgbClr val="3168CD"/>
                </a:solidFill>
                <a:latin typeface="Arial"/>
                <a:ea typeface="Arial"/>
                <a:cs typeface="Arial"/>
              </a:defRPr>
            </a:lvl3pPr>
            <a:lvl4pPr algn="l">
              <a:defRPr sz="1725" b="1">
                <a:solidFill>
                  <a:srgbClr val="3168CD"/>
                </a:solidFill>
                <a:latin typeface="Arial"/>
                <a:ea typeface="Arial"/>
                <a:cs typeface="Arial"/>
              </a:defRPr>
            </a:lvl4pPr>
            <a:lvl5pPr algn="l">
              <a:defRPr sz="1725" b="1">
                <a:solidFill>
                  <a:srgbClr val="3168CD"/>
                </a:solidFill>
                <a:latin typeface="Arial"/>
                <a:ea typeface="Arial"/>
                <a:cs typeface="Arial"/>
              </a:defRPr>
            </a:lvl5pPr>
            <a:lvl6pPr algn="l">
              <a:defRPr sz="1725" b="1">
                <a:solidFill>
                  <a:srgbClr val="3168CD"/>
                </a:solidFill>
                <a:latin typeface="Arial"/>
                <a:ea typeface="Arial"/>
                <a:cs typeface="Arial"/>
              </a:defRPr>
            </a:lvl6pPr>
            <a:lvl7pPr algn="l">
              <a:defRPr sz="1725" b="1">
                <a:solidFill>
                  <a:srgbClr val="3168CD"/>
                </a:solidFill>
                <a:latin typeface="Arial"/>
                <a:ea typeface="Arial"/>
                <a:cs typeface="Arial"/>
              </a:defRPr>
            </a:lvl7pPr>
            <a:lvl8pPr algn="l">
              <a:defRPr sz="1725" b="1">
                <a:solidFill>
                  <a:srgbClr val="3168CD"/>
                </a:solidFill>
                <a:latin typeface="Arial"/>
                <a:ea typeface="Arial"/>
                <a:cs typeface="Arial"/>
              </a:defRPr>
            </a:lvl8pPr>
            <a:lvl9pPr algn="l">
              <a:defRPr sz="1725" b="1">
                <a:solidFill>
                  <a:srgbClr val="3168CD"/>
                </a:solidFill>
                <a:latin typeface="Arial"/>
                <a:ea typeface="Arial"/>
                <a:cs typeface="Arial"/>
              </a:defRPr>
            </a:lvl9pPr>
          </a:lstStyle>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class_weight="balanced"</a:t>
            </a:r>
          </a:p>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Pipeline scale Time/Amount</a:t>
            </a:r>
          </a:p>
        </p:txBody>
      </p:sp>
      <p:sp>
        <p:nvSpPr>
          <p:cNvPr id="8" name="text-71">
            <a:extLst xmlns:a="http://schemas.openxmlformats.org/drawingml/2006/main">
              <a:ext uri="{FF2B5EF4-FFF2-40B4-BE49-F238E27FC236}">
                <a16:creationId xmlns:a16="http://schemas.microsoft.com/office/drawing/2014/main" id="{43577A71-747E-4C58-9142-DC5C56FCB50D}"/>
              </a:ext>
            </a:extLst>
          </p:cNvPr>
          <p:cNvSpPr>
            <a:spLocks xmlns:a="http://schemas.openxmlformats.org/drawingml/2006/main" noGrp="1"/>
          </p:cNvSpPr>
          <p:nvPr/>
        </p:nvSpPr>
        <p:spPr>
          <a:xfrm xmlns:a="http://schemas.openxmlformats.org/drawingml/2006/main">
            <a:off x="4524375" y="19716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3E7A"/>
                </a:solidFill>
                <a:latin typeface="Arial"/>
                <a:ea typeface="Arial"/>
                <a:cs typeface="Arial"/>
              </a:defRPr>
            </a:defPPr>
            <a:lvl1pPr algn="l">
              <a:defRPr sz="2325" b="1">
                <a:solidFill>
                  <a:srgbClr val="113E7A"/>
                </a:solidFill>
                <a:latin typeface="Arial"/>
                <a:ea typeface="Arial"/>
                <a:cs typeface="Arial"/>
              </a:defRPr>
            </a:lvl1pPr>
            <a:lvl2pPr algn="l">
              <a:defRPr sz="2325" b="1">
                <a:solidFill>
                  <a:srgbClr val="113E7A"/>
                </a:solidFill>
                <a:latin typeface="Arial"/>
                <a:ea typeface="Arial"/>
                <a:cs typeface="Arial"/>
              </a:defRPr>
            </a:lvl2pPr>
            <a:lvl3pPr algn="l">
              <a:defRPr sz="2325" b="1">
                <a:solidFill>
                  <a:srgbClr val="113E7A"/>
                </a:solidFill>
                <a:latin typeface="Arial"/>
                <a:ea typeface="Arial"/>
                <a:cs typeface="Arial"/>
              </a:defRPr>
            </a:lvl3pPr>
            <a:lvl4pPr algn="l">
              <a:defRPr sz="2325" b="1">
                <a:solidFill>
                  <a:srgbClr val="113E7A"/>
                </a:solidFill>
                <a:latin typeface="Arial"/>
                <a:ea typeface="Arial"/>
                <a:cs typeface="Arial"/>
              </a:defRPr>
            </a:lvl4pPr>
            <a:lvl5pPr algn="l">
              <a:defRPr sz="2325" b="1">
                <a:solidFill>
                  <a:srgbClr val="113E7A"/>
                </a:solidFill>
                <a:latin typeface="Arial"/>
                <a:ea typeface="Arial"/>
                <a:cs typeface="Arial"/>
              </a:defRPr>
            </a:lvl5pPr>
            <a:lvl6pPr algn="l">
              <a:defRPr sz="2325" b="1">
                <a:solidFill>
                  <a:srgbClr val="113E7A"/>
                </a:solidFill>
                <a:latin typeface="Arial"/>
                <a:ea typeface="Arial"/>
                <a:cs typeface="Arial"/>
              </a:defRPr>
            </a:lvl6pPr>
            <a:lvl7pPr algn="l">
              <a:defRPr sz="2325" b="1">
                <a:solidFill>
                  <a:srgbClr val="113E7A"/>
                </a:solidFill>
                <a:latin typeface="Arial"/>
                <a:ea typeface="Arial"/>
                <a:cs typeface="Arial"/>
              </a:defRPr>
            </a:lvl7pPr>
            <a:lvl8pPr algn="l">
              <a:defRPr sz="2325" b="1">
                <a:solidFill>
                  <a:srgbClr val="113E7A"/>
                </a:solidFill>
                <a:latin typeface="Arial"/>
                <a:ea typeface="Arial"/>
                <a:cs typeface="Arial"/>
              </a:defRPr>
            </a:lvl8pPr>
            <a:lvl9pPr algn="l">
              <a:defRPr sz="2325" b="1">
                <a:solidFill>
                  <a:srgbClr val="113E7A"/>
                </a:solidFill>
                <a:latin typeface="Arial"/>
                <a:ea typeface="Arial"/>
                <a:cs typeface="Arial"/>
              </a:defRPr>
            </a:lvl9pPr>
          </a:lstStyle>
          <a:p xmlns:a="http://schemas.openxmlformats.org/drawingml/2006/main">
            <a:pPr algn="l">
              <a:lnSpc>
                <a:spcPct val="113000"/>
              </a:lnSpc>
              <a:buNone/>
              <a:defRPr sz="2325" b="1">
                <a:solidFill>
                  <a:srgbClr val="113E7A"/>
                </a:solidFill>
                <a:latin typeface="Arial"/>
                <a:ea typeface="Arial"/>
                <a:cs typeface="Arial"/>
              </a:defRPr>
            </a:pPr>
            <a:r>
              <a:rPr sz="2325" b="1">
                <a:solidFill>
                  <a:srgbClr val="113E7A"/>
                </a:solidFill>
                <a:latin typeface="Arial"/>
                <a:ea typeface="Arial"/>
                <a:cs typeface="Arial"/>
              </a:rPr>
              <a:t>Random Forest</a:t>
            </a:r>
          </a:p>
        </p:txBody>
      </p:sp>
      <p:sp>
        <p:nvSpPr>
          <p:cNvPr id="9" name="text-72">
            <a:extLst xmlns:a="http://schemas.openxmlformats.org/drawingml/2006/main">
              <a:ext uri="{FF2B5EF4-FFF2-40B4-BE49-F238E27FC236}">
                <a16:creationId xmlns:a16="http://schemas.microsoft.com/office/drawing/2014/main" id="{76483C17-549B-442C-B8F9-5B05299857D1}"/>
              </a:ext>
            </a:extLst>
          </p:cNvPr>
          <p:cNvSpPr>
            <a:spLocks xmlns:a="http://schemas.openxmlformats.org/drawingml/2006/main" noGrp="1"/>
          </p:cNvSpPr>
          <p:nvPr/>
        </p:nvSpPr>
        <p:spPr>
          <a:xfrm xmlns:a="http://schemas.openxmlformats.org/drawingml/2006/main">
            <a:off x="4524375"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Nhiều cây quyết định cùng</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tham gia dự đoán.</a:t>
            </a:r>
          </a:p>
        </p:txBody>
      </p:sp>
      <p:sp>
        <p:nvSpPr>
          <p:cNvPr id="10" name="text-73">
            <a:extLst xmlns:a="http://schemas.openxmlformats.org/drawingml/2006/main">
              <a:ext uri="{FF2B5EF4-FFF2-40B4-BE49-F238E27FC236}">
                <a16:creationId xmlns:a16="http://schemas.microsoft.com/office/drawing/2014/main" id="{0631FD66-56E8-43DB-8AA3-AC3232EE1C29}"/>
              </a:ext>
            </a:extLst>
          </p:cNvPr>
          <p:cNvSpPr>
            <a:spLocks xmlns:a="http://schemas.openxmlformats.org/drawingml/2006/main" noGrp="1"/>
          </p:cNvSpPr>
          <p:nvPr/>
        </p:nvSpPr>
        <p:spPr>
          <a:xfrm xmlns:a="http://schemas.openxmlformats.org/drawingml/2006/main">
            <a:off x="4524375" y="40100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Nắm bắt quan hệ phi tuyến,</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ít phụ thuộc chuẩn hóa.</a:t>
            </a:r>
          </a:p>
        </p:txBody>
      </p:sp>
      <p:sp>
        <p:nvSpPr>
          <p:cNvPr id="11" name="text-74">
            <a:extLst xmlns:a="http://schemas.openxmlformats.org/drawingml/2006/main">
              <a:ext uri="{FF2B5EF4-FFF2-40B4-BE49-F238E27FC236}">
                <a16:creationId xmlns:a16="http://schemas.microsoft.com/office/drawing/2014/main" id="{6F404BA9-AE53-4CF1-936D-D1BDCF82C672}"/>
              </a:ext>
            </a:extLst>
          </p:cNvPr>
          <p:cNvSpPr>
            <a:spLocks xmlns:a="http://schemas.openxmlformats.org/drawingml/2006/main" noGrp="1"/>
          </p:cNvSpPr>
          <p:nvPr/>
        </p:nvSpPr>
        <p:spPr>
          <a:xfrm xmlns:a="http://schemas.openxmlformats.org/drawingml/2006/main">
            <a:off x="4524375" y="5429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168CD"/>
                </a:solidFill>
                <a:latin typeface="Arial"/>
                <a:ea typeface="Arial"/>
                <a:cs typeface="Arial"/>
              </a:defRPr>
            </a:defPPr>
            <a:lvl1pPr algn="l">
              <a:defRPr sz="1725" b="1">
                <a:solidFill>
                  <a:srgbClr val="3168CD"/>
                </a:solidFill>
                <a:latin typeface="Arial"/>
                <a:ea typeface="Arial"/>
                <a:cs typeface="Arial"/>
              </a:defRPr>
            </a:lvl1pPr>
            <a:lvl2pPr algn="l">
              <a:defRPr sz="1725" b="1">
                <a:solidFill>
                  <a:srgbClr val="3168CD"/>
                </a:solidFill>
                <a:latin typeface="Arial"/>
                <a:ea typeface="Arial"/>
                <a:cs typeface="Arial"/>
              </a:defRPr>
            </a:lvl2pPr>
            <a:lvl3pPr algn="l">
              <a:defRPr sz="1725" b="1">
                <a:solidFill>
                  <a:srgbClr val="3168CD"/>
                </a:solidFill>
                <a:latin typeface="Arial"/>
                <a:ea typeface="Arial"/>
                <a:cs typeface="Arial"/>
              </a:defRPr>
            </a:lvl3pPr>
            <a:lvl4pPr algn="l">
              <a:defRPr sz="1725" b="1">
                <a:solidFill>
                  <a:srgbClr val="3168CD"/>
                </a:solidFill>
                <a:latin typeface="Arial"/>
                <a:ea typeface="Arial"/>
                <a:cs typeface="Arial"/>
              </a:defRPr>
            </a:lvl4pPr>
            <a:lvl5pPr algn="l">
              <a:defRPr sz="1725" b="1">
                <a:solidFill>
                  <a:srgbClr val="3168CD"/>
                </a:solidFill>
                <a:latin typeface="Arial"/>
                <a:ea typeface="Arial"/>
                <a:cs typeface="Arial"/>
              </a:defRPr>
            </a:lvl5pPr>
            <a:lvl6pPr algn="l">
              <a:defRPr sz="1725" b="1">
                <a:solidFill>
                  <a:srgbClr val="3168CD"/>
                </a:solidFill>
                <a:latin typeface="Arial"/>
                <a:ea typeface="Arial"/>
                <a:cs typeface="Arial"/>
              </a:defRPr>
            </a:lvl6pPr>
            <a:lvl7pPr algn="l">
              <a:defRPr sz="1725" b="1">
                <a:solidFill>
                  <a:srgbClr val="3168CD"/>
                </a:solidFill>
                <a:latin typeface="Arial"/>
                <a:ea typeface="Arial"/>
                <a:cs typeface="Arial"/>
              </a:defRPr>
            </a:lvl7pPr>
            <a:lvl8pPr algn="l">
              <a:defRPr sz="1725" b="1">
                <a:solidFill>
                  <a:srgbClr val="3168CD"/>
                </a:solidFill>
                <a:latin typeface="Arial"/>
                <a:ea typeface="Arial"/>
                <a:cs typeface="Arial"/>
              </a:defRPr>
            </a:lvl8pPr>
            <a:lvl9pPr algn="l">
              <a:defRPr sz="1725" b="1">
                <a:solidFill>
                  <a:srgbClr val="3168CD"/>
                </a:solidFill>
                <a:latin typeface="Arial"/>
                <a:ea typeface="Arial"/>
                <a:cs typeface="Arial"/>
              </a:defRPr>
            </a:lvl9pPr>
          </a:lstStyle>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100 cây</a:t>
            </a:r>
          </a:p>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class_weight="balanced"</a:t>
            </a:r>
          </a:p>
        </p:txBody>
      </p:sp>
      <p:sp>
        <p:nvSpPr>
          <p:cNvPr id="12" name="text-75">
            <a:extLst xmlns:a="http://schemas.openxmlformats.org/drawingml/2006/main">
              <a:ext uri="{FF2B5EF4-FFF2-40B4-BE49-F238E27FC236}">
                <a16:creationId xmlns:a16="http://schemas.microsoft.com/office/drawing/2014/main" id="{56659091-831D-4457-8014-19F5321491CB}"/>
              </a:ext>
            </a:extLst>
          </p:cNvPr>
          <p:cNvSpPr>
            <a:spLocks xmlns:a="http://schemas.openxmlformats.org/drawingml/2006/main" noGrp="1"/>
          </p:cNvSpPr>
          <p:nvPr/>
        </p:nvSpPr>
        <p:spPr>
          <a:xfrm xmlns:a="http://schemas.openxmlformats.org/drawingml/2006/main">
            <a:off x="8143875" y="19716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3E7A"/>
                </a:solidFill>
                <a:latin typeface="Arial"/>
                <a:ea typeface="Arial"/>
                <a:cs typeface="Arial"/>
              </a:defRPr>
            </a:defPPr>
            <a:lvl1pPr algn="l">
              <a:defRPr sz="2325" b="1">
                <a:solidFill>
                  <a:srgbClr val="113E7A"/>
                </a:solidFill>
                <a:latin typeface="Arial"/>
                <a:ea typeface="Arial"/>
                <a:cs typeface="Arial"/>
              </a:defRPr>
            </a:lvl1pPr>
            <a:lvl2pPr algn="l">
              <a:defRPr sz="2325" b="1">
                <a:solidFill>
                  <a:srgbClr val="113E7A"/>
                </a:solidFill>
                <a:latin typeface="Arial"/>
                <a:ea typeface="Arial"/>
                <a:cs typeface="Arial"/>
              </a:defRPr>
            </a:lvl2pPr>
            <a:lvl3pPr algn="l">
              <a:defRPr sz="2325" b="1">
                <a:solidFill>
                  <a:srgbClr val="113E7A"/>
                </a:solidFill>
                <a:latin typeface="Arial"/>
                <a:ea typeface="Arial"/>
                <a:cs typeface="Arial"/>
              </a:defRPr>
            </a:lvl3pPr>
            <a:lvl4pPr algn="l">
              <a:defRPr sz="2325" b="1">
                <a:solidFill>
                  <a:srgbClr val="113E7A"/>
                </a:solidFill>
                <a:latin typeface="Arial"/>
                <a:ea typeface="Arial"/>
                <a:cs typeface="Arial"/>
              </a:defRPr>
            </a:lvl4pPr>
            <a:lvl5pPr algn="l">
              <a:defRPr sz="2325" b="1">
                <a:solidFill>
                  <a:srgbClr val="113E7A"/>
                </a:solidFill>
                <a:latin typeface="Arial"/>
                <a:ea typeface="Arial"/>
                <a:cs typeface="Arial"/>
              </a:defRPr>
            </a:lvl5pPr>
            <a:lvl6pPr algn="l">
              <a:defRPr sz="2325" b="1">
                <a:solidFill>
                  <a:srgbClr val="113E7A"/>
                </a:solidFill>
                <a:latin typeface="Arial"/>
                <a:ea typeface="Arial"/>
                <a:cs typeface="Arial"/>
              </a:defRPr>
            </a:lvl6pPr>
            <a:lvl7pPr algn="l">
              <a:defRPr sz="2325" b="1">
                <a:solidFill>
                  <a:srgbClr val="113E7A"/>
                </a:solidFill>
                <a:latin typeface="Arial"/>
                <a:ea typeface="Arial"/>
                <a:cs typeface="Arial"/>
              </a:defRPr>
            </a:lvl7pPr>
            <a:lvl8pPr algn="l">
              <a:defRPr sz="2325" b="1">
                <a:solidFill>
                  <a:srgbClr val="113E7A"/>
                </a:solidFill>
                <a:latin typeface="Arial"/>
                <a:ea typeface="Arial"/>
                <a:cs typeface="Arial"/>
              </a:defRPr>
            </a:lvl8pPr>
            <a:lvl9pPr algn="l">
              <a:defRPr sz="2325" b="1">
                <a:solidFill>
                  <a:srgbClr val="113E7A"/>
                </a:solidFill>
                <a:latin typeface="Arial"/>
                <a:ea typeface="Arial"/>
                <a:cs typeface="Arial"/>
              </a:defRPr>
            </a:lvl9pPr>
          </a:lstStyle>
          <a:p xmlns:a="http://schemas.openxmlformats.org/drawingml/2006/main">
            <a:pPr algn="l">
              <a:lnSpc>
                <a:spcPct val="113000"/>
              </a:lnSpc>
              <a:buNone/>
              <a:defRPr sz="2325" b="1">
                <a:solidFill>
                  <a:srgbClr val="113E7A"/>
                </a:solidFill>
                <a:latin typeface="Arial"/>
                <a:ea typeface="Arial"/>
                <a:cs typeface="Arial"/>
              </a:defRPr>
            </a:pPr>
            <a:r>
              <a:rPr sz="2325" b="1">
                <a:solidFill>
                  <a:srgbClr val="113E7A"/>
                </a:solidFill>
                <a:latin typeface="Arial"/>
                <a:ea typeface="Arial"/>
                <a:cs typeface="Arial"/>
              </a:rPr>
              <a:t>XGBoost</a:t>
            </a:r>
          </a:p>
        </p:txBody>
      </p:sp>
      <p:sp>
        <p:nvSpPr>
          <p:cNvPr id="13" name="text-76">
            <a:extLst xmlns:a="http://schemas.openxmlformats.org/drawingml/2006/main">
              <a:ext uri="{FF2B5EF4-FFF2-40B4-BE49-F238E27FC236}">
                <a16:creationId xmlns:a16="http://schemas.microsoft.com/office/drawing/2014/main" id="{7187CF47-02D3-40F3-8636-A7FAC3CCCB41}"/>
              </a:ext>
            </a:extLst>
          </p:cNvPr>
          <p:cNvSpPr>
            <a:spLocks xmlns:a="http://schemas.openxmlformats.org/drawingml/2006/main" noGrp="1"/>
          </p:cNvSpPr>
          <p:nvPr/>
        </p:nvSpPr>
        <p:spPr>
          <a:xfrm xmlns:a="http://schemas.openxmlformats.org/drawingml/2006/main">
            <a:off x="8143875" y="28003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Bổ sung cây tuần tự để</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giảm hàm mất mát.</a:t>
            </a:r>
          </a:p>
        </p:txBody>
      </p:sp>
      <p:sp>
        <p:nvSpPr>
          <p:cNvPr id="14" name="text-77">
            <a:extLst xmlns:a="http://schemas.openxmlformats.org/drawingml/2006/main">
              <a:ext uri="{FF2B5EF4-FFF2-40B4-BE49-F238E27FC236}">
                <a16:creationId xmlns:a16="http://schemas.microsoft.com/office/drawing/2014/main" id="{990017FE-D5FB-456D-B0AB-AFADD0C29CFC}"/>
              </a:ext>
            </a:extLst>
          </p:cNvPr>
          <p:cNvSpPr>
            <a:spLocks xmlns:a="http://schemas.openxmlformats.org/drawingml/2006/main" noGrp="1"/>
          </p:cNvSpPr>
          <p:nvPr/>
        </p:nvSpPr>
        <p:spPr>
          <a:xfrm xmlns:a="http://schemas.openxmlformats.org/drawingml/2006/main">
            <a:off x="8143875" y="40100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Mô hình boosting mạnh</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cho dữ liệu dạng bảng.</a:t>
            </a:r>
          </a:p>
        </p:txBody>
      </p:sp>
      <p:sp>
        <p:nvSpPr>
          <p:cNvPr id="15" name="text-78">
            <a:extLst xmlns:a="http://schemas.openxmlformats.org/drawingml/2006/main">
              <a:ext uri="{FF2B5EF4-FFF2-40B4-BE49-F238E27FC236}">
                <a16:creationId xmlns:a16="http://schemas.microsoft.com/office/drawing/2014/main" id="{7CC78168-001A-41EC-B52E-A390A8ED08EB}"/>
              </a:ext>
            </a:extLst>
          </p:cNvPr>
          <p:cNvSpPr>
            <a:spLocks xmlns:a="http://schemas.openxmlformats.org/drawingml/2006/main" noGrp="1"/>
          </p:cNvSpPr>
          <p:nvPr/>
        </p:nvSpPr>
        <p:spPr>
          <a:xfrm xmlns:a="http://schemas.openxmlformats.org/drawingml/2006/main">
            <a:off x="8143875" y="54292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168CD"/>
                </a:solidFill>
                <a:latin typeface="Arial"/>
                <a:ea typeface="Arial"/>
                <a:cs typeface="Arial"/>
              </a:defRPr>
            </a:defPPr>
            <a:lvl1pPr algn="l">
              <a:defRPr sz="1725" b="1">
                <a:solidFill>
                  <a:srgbClr val="3168CD"/>
                </a:solidFill>
                <a:latin typeface="Arial"/>
                <a:ea typeface="Arial"/>
                <a:cs typeface="Arial"/>
              </a:defRPr>
            </a:lvl1pPr>
            <a:lvl2pPr algn="l">
              <a:defRPr sz="1725" b="1">
                <a:solidFill>
                  <a:srgbClr val="3168CD"/>
                </a:solidFill>
                <a:latin typeface="Arial"/>
                <a:ea typeface="Arial"/>
                <a:cs typeface="Arial"/>
              </a:defRPr>
            </a:lvl2pPr>
            <a:lvl3pPr algn="l">
              <a:defRPr sz="1725" b="1">
                <a:solidFill>
                  <a:srgbClr val="3168CD"/>
                </a:solidFill>
                <a:latin typeface="Arial"/>
                <a:ea typeface="Arial"/>
                <a:cs typeface="Arial"/>
              </a:defRPr>
            </a:lvl3pPr>
            <a:lvl4pPr algn="l">
              <a:defRPr sz="1725" b="1">
                <a:solidFill>
                  <a:srgbClr val="3168CD"/>
                </a:solidFill>
                <a:latin typeface="Arial"/>
                <a:ea typeface="Arial"/>
                <a:cs typeface="Arial"/>
              </a:defRPr>
            </a:lvl4pPr>
            <a:lvl5pPr algn="l">
              <a:defRPr sz="1725" b="1">
                <a:solidFill>
                  <a:srgbClr val="3168CD"/>
                </a:solidFill>
                <a:latin typeface="Arial"/>
                <a:ea typeface="Arial"/>
                <a:cs typeface="Arial"/>
              </a:defRPr>
            </a:lvl5pPr>
            <a:lvl6pPr algn="l">
              <a:defRPr sz="1725" b="1">
                <a:solidFill>
                  <a:srgbClr val="3168CD"/>
                </a:solidFill>
                <a:latin typeface="Arial"/>
                <a:ea typeface="Arial"/>
                <a:cs typeface="Arial"/>
              </a:defRPr>
            </a:lvl6pPr>
            <a:lvl7pPr algn="l">
              <a:defRPr sz="1725" b="1">
                <a:solidFill>
                  <a:srgbClr val="3168CD"/>
                </a:solidFill>
                <a:latin typeface="Arial"/>
                <a:ea typeface="Arial"/>
                <a:cs typeface="Arial"/>
              </a:defRPr>
            </a:lvl7pPr>
            <a:lvl8pPr algn="l">
              <a:defRPr sz="1725" b="1">
                <a:solidFill>
                  <a:srgbClr val="3168CD"/>
                </a:solidFill>
                <a:latin typeface="Arial"/>
                <a:ea typeface="Arial"/>
                <a:cs typeface="Arial"/>
              </a:defRPr>
            </a:lvl8pPr>
            <a:lvl9pPr algn="l">
              <a:defRPr sz="1725" b="1">
                <a:solidFill>
                  <a:srgbClr val="3168CD"/>
                </a:solidFill>
                <a:latin typeface="Arial"/>
                <a:ea typeface="Arial"/>
                <a:cs typeface="Arial"/>
              </a:defRPr>
            </a:lvl9pPr>
          </a:lstStyle>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200 cây, learning_rate=0,05</a:t>
            </a:r>
          </a:p>
          <a:p xmlns:a="http://schemas.openxmlformats.org/drawingml/2006/main">
            <a:pPr algn="l">
              <a:lnSpc>
                <a:spcPct val="113000"/>
              </a:lnSpc>
              <a:buNone/>
              <a:defRPr sz="1725" b="1">
                <a:solidFill>
                  <a:srgbClr val="3168CD"/>
                </a:solidFill>
                <a:latin typeface="Arial"/>
                <a:ea typeface="Arial"/>
                <a:cs typeface="Arial"/>
              </a:defRPr>
            </a:pPr>
            <a:r>
              <a:rPr sz="1725" b="1">
                <a:solidFill>
                  <a:srgbClr val="3168CD"/>
                </a:solidFill>
                <a:latin typeface="Arial"/>
                <a:ea typeface="Arial"/>
                <a:cs typeface="Arial"/>
              </a:rPr>
              <a:t>scale_pos_weight từ training</a:t>
            </a:r>
          </a:p>
        </p:txBody>
      </p:sp>
    </p:spTree>
    <p:extLst>
      <p:ext uri="{BB962C8B-B14F-4D97-AF65-F5344CB8AC3E}">
        <p14:creationId xmlns:p14="http://schemas.microsoft.com/office/powerpoint/2010/main" val="350768627"/>
      </p:ext>
    </p:extLst>
  </p:cSld>
</p:sld>
</file>

<file path=ppt/slides/slide8.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FA35CE25-5CF6-444E-B55F-77BF5AC32D1A}"/>
              </a:ext>
            </a:extLst>
          </p:cNvPr>
          <p:cNvPicPr>
            <a:picLocks xmlns:a="http://schemas.openxmlformats.org/drawingml/2006/main" noChangeAspect="1"/>
          </p:cNvPicPr>
          <p:nvPr/>
        </p:nvPicPr>
        <p:blipFill>
          <a:blip xmlns:r="http://schemas.openxmlformats.org/officeDocument/2006/relationships" xmlns:a="http://schemas.openxmlformats.org/drawingml/2006/main" r:embed="Rf8b0224dd9d149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79">
            <a:extLst xmlns:a="http://schemas.openxmlformats.org/drawingml/2006/main">
              <a:ext uri="{FF2B5EF4-FFF2-40B4-BE49-F238E27FC236}">
                <a16:creationId xmlns:a16="http://schemas.microsoft.com/office/drawing/2014/main" id="{B7CAA38B-4EBC-4988-9919-F4BD960EAB00}"/>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Nguyên lý và cách tiếp cận</a:t>
            </a:r>
          </a:p>
        </p:txBody>
      </p:sp>
      <p:sp>
        <p:nvSpPr>
          <p:cNvPr id="3" name="text-80">
            <a:extLst xmlns:a="http://schemas.openxmlformats.org/drawingml/2006/main">
              <a:ext uri="{FF2B5EF4-FFF2-40B4-BE49-F238E27FC236}">
                <a16:creationId xmlns:a16="http://schemas.microsoft.com/office/drawing/2014/main" id="{421A0A93-ECD4-4F90-912A-F350A1550F7C}"/>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08</a:t>
            </a:r>
          </a:p>
        </p:txBody>
      </p:sp>
      <p:sp>
        <p:nvSpPr>
          <p:cNvPr id="4" name="text-81">
            <a:extLst xmlns:a="http://schemas.openxmlformats.org/drawingml/2006/main">
              <a:ext uri="{FF2B5EF4-FFF2-40B4-BE49-F238E27FC236}">
                <a16:creationId xmlns:a16="http://schemas.microsoft.com/office/drawing/2014/main" id="{85E2B773-1191-48AE-BBC3-29B25844B20D}"/>
              </a:ext>
            </a:extLst>
          </p:cNvPr>
          <p:cNvSpPr>
            <a:spLocks xmlns:a="http://schemas.openxmlformats.org/drawingml/2006/main" noGrp="1"/>
          </p:cNvSpPr>
          <p:nvPr/>
        </p:nvSpPr>
        <p:spPr>
          <a:xfrm xmlns:a="http://schemas.openxmlformats.org/drawingml/2006/main">
            <a:off x="857250" y="19335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3E7A"/>
                </a:solidFill>
                <a:latin typeface="Arial"/>
                <a:ea typeface="Arial"/>
                <a:cs typeface="Arial"/>
              </a:defRPr>
            </a:defPPr>
            <a:lvl1pPr algn="l">
              <a:defRPr sz="2025" b="1">
                <a:solidFill>
                  <a:srgbClr val="113E7A"/>
                </a:solidFill>
                <a:latin typeface="Arial"/>
                <a:ea typeface="Arial"/>
                <a:cs typeface="Arial"/>
              </a:defRPr>
            </a:lvl1pPr>
            <a:lvl2pPr algn="l">
              <a:defRPr sz="2025" b="1">
                <a:solidFill>
                  <a:srgbClr val="113E7A"/>
                </a:solidFill>
                <a:latin typeface="Arial"/>
                <a:ea typeface="Arial"/>
                <a:cs typeface="Arial"/>
              </a:defRPr>
            </a:lvl2pPr>
            <a:lvl3pPr algn="l">
              <a:defRPr sz="2025" b="1">
                <a:solidFill>
                  <a:srgbClr val="113E7A"/>
                </a:solidFill>
                <a:latin typeface="Arial"/>
                <a:ea typeface="Arial"/>
                <a:cs typeface="Arial"/>
              </a:defRPr>
            </a:lvl3pPr>
            <a:lvl4pPr algn="l">
              <a:defRPr sz="2025" b="1">
                <a:solidFill>
                  <a:srgbClr val="113E7A"/>
                </a:solidFill>
                <a:latin typeface="Arial"/>
                <a:ea typeface="Arial"/>
                <a:cs typeface="Arial"/>
              </a:defRPr>
            </a:lvl4pPr>
            <a:lvl5pPr algn="l">
              <a:defRPr sz="2025" b="1">
                <a:solidFill>
                  <a:srgbClr val="113E7A"/>
                </a:solidFill>
                <a:latin typeface="Arial"/>
                <a:ea typeface="Arial"/>
                <a:cs typeface="Arial"/>
              </a:defRPr>
            </a:lvl5pPr>
            <a:lvl6pPr algn="l">
              <a:defRPr sz="2025" b="1">
                <a:solidFill>
                  <a:srgbClr val="113E7A"/>
                </a:solidFill>
                <a:latin typeface="Arial"/>
                <a:ea typeface="Arial"/>
                <a:cs typeface="Arial"/>
              </a:defRPr>
            </a:lvl6pPr>
            <a:lvl7pPr algn="l">
              <a:defRPr sz="2025" b="1">
                <a:solidFill>
                  <a:srgbClr val="113E7A"/>
                </a:solidFill>
                <a:latin typeface="Arial"/>
                <a:ea typeface="Arial"/>
                <a:cs typeface="Arial"/>
              </a:defRPr>
            </a:lvl7pPr>
            <a:lvl8pPr algn="l">
              <a:defRPr sz="2025" b="1">
                <a:solidFill>
                  <a:srgbClr val="113E7A"/>
                </a:solidFill>
                <a:latin typeface="Arial"/>
                <a:ea typeface="Arial"/>
                <a:cs typeface="Arial"/>
              </a:defRPr>
            </a:lvl8pPr>
            <a:lvl9pPr algn="l">
              <a:defRPr sz="2025" b="1">
                <a:solidFill>
                  <a:srgbClr val="113E7A"/>
                </a:solidFill>
                <a:latin typeface="Arial"/>
                <a:ea typeface="Arial"/>
                <a:cs typeface="Arial"/>
              </a:defRPr>
            </a:lvl9pPr>
          </a:lstStyle>
          <a:p xmlns:a="http://schemas.openxmlformats.org/drawingml/2006/main">
            <a:pPr algn="l">
              <a:lnSpc>
                <a:spcPct val="113000"/>
              </a:lnSpc>
              <a:buNone/>
              <a:defRPr sz="2025" b="1">
                <a:solidFill>
                  <a:srgbClr val="113E7A"/>
                </a:solidFill>
                <a:latin typeface="Arial"/>
                <a:ea typeface="Arial"/>
                <a:cs typeface="Arial"/>
              </a:defRPr>
            </a:pPr>
            <a:r>
              <a:rPr sz="2025" b="1">
                <a:solidFill>
                  <a:srgbClr val="113E7A"/>
                </a:solidFill>
                <a:latin typeface="Arial"/>
                <a:ea typeface="Arial"/>
                <a:cs typeface="Arial"/>
              </a:rPr>
              <a:t>Logistic Regression</a:t>
            </a:r>
          </a:p>
        </p:txBody>
      </p:sp>
      <p:sp>
        <p:nvSpPr>
          <p:cNvPr id="5" name="diagram-82">
            <a:extLst xmlns:a="http://schemas.openxmlformats.org/drawingml/2006/main">
              <a:ext uri="{FF2B5EF4-FFF2-40B4-BE49-F238E27FC236}">
                <a16:creationId xmlns:a16="http://schemas.microsoft.com/office/drawing/2014/main" id="{183DE097-CBB6-4983-8197-695BE52FD743}"/>
              </a:ext>
            </a:extLst>
          </p:cNvPr>
          <p:cNvSpPr>
            <a:spLocks xmlns:a="http://schemas.openxmlformats.org/drawingml/2006/main" noGrp="1"/>
          </p:cNvSpPr>
          <p:nvPr/>
        </p:nvSpPr>
        <p:spPr>
          <a:xfrm xmlns:a="http://schemas.openxmlformats.org/drawingml/2006/main">
            <a:off x="4191000" y="1828800"/>
            <a:ext cx="1809750" cy="6096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30 đặc trưng</a:t>
            </a:r>
          </a:p>
        </p:txBody>
      </p:sp>
      <p:sp>
        <p:nvSpPr>
          <p:cNvPr id="6" name="diagram-83">
            <a:extLst xmlns:a="http://schemas.openxmlformats.org/drawingml/2006/main">
              <a:ext uri="{FF2B5EF4-FFF2-40B4-BE49-F238E27FC236}">
                <a16:creationId xmlns:a16="http://schemas.microsoft.com/office/drawing/2014/main" id="{4252AE81-F731-4399-8ABF-77E387B0A19A}"/>
              </a:ext>
            </a:extLst>
          </p:cNvPr>
          <p:cNvSpPr>
            <a:spLocks xmlns:a="http://schemas.openxmlformats.org/drawingml/2006/main" noGrp="1"/>
          </p:cNvSpPr>
          <p:nvPr/>
        </p:nvSpPr>
        <p:spPr>
          <a:xfrm xmlns:a="http://schemas.openxmlformats.org/drawingml/2006/main">
            <a:off x="6762750" y="1828800"/>
            <a:ext cx="2095500" cy="6096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Điểm tuyến tính</a:t>
            </a:r>
          </a:p>
        </p:txBody>
      </p:sp>
      <p:sp>
        <p:nvSpPr>
          <p:cNvPr id="7" name="diagram-84">
            <a:extLst xmlns:a="http://schemas.openxmlformats.org/drawingml/2006/main">
              <a:ext uri="{FF2B5EF4-FFF2-40B4-BE49-F238E27FC236}">
                <a16:creationId xmlns:a16="http://schemas.microsoft.com/office/drawing/2014/main" id="{2F04108C-634F-4348-8C62-49D8A083ACC3}"/>
              </a:ext>
            </a:extLst>
          </p:cNvPr>
          <p:cNvSpPr>
            <a:spLocks xmlns:a="http://schemas.openxmlformats.org/drawingml/2006/main" noGrp="1"/>
          </p:cNvSpPr>
          <p:nvPr/>
        </p:nvSpPr>
        <p:spPr>
          <a:xfrm xmlns:a="http://schemas.openxmlformats.org/drawingml/2006/main">
            <a:off x="9620250" y="1828800"/>
            <a:ext cx="1619250" cy="6096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Xác suất</a:t>
            </a:r>
          </a:p>
        </p:txBody>
      </p:sp>
      <p:sp>
        <p:nvSpPr>
          <p:cNvPr id="8" name="flow-arrow-85">
            <a:extLst xmlns:a="http://schemas.openxmlformats.org/drawingml/2006/main">
              <a:ext uri="{FF2B5EF4-FFF2-40B4-BE49-F238E27FC236}">
                <a16:creationId xmlns:a16="http://schemas.microsoft.com/office/drawing/2014/main" id="{F58F45DC-DED4-4125-BEC7-7F9F5049F2FA}"/>
              </a:ext>
            </a:extLst>
          </p:cNvPr>
          <p:cNvSpPr>
            <a:spLocks xmlns:a="http://schemas.openxmlformats.org/drawingml/2006/main" noGrp="1"/>
          </p:cNvSpPr>
          <p:nvPr/>
        </p:nvSpPr>
        <p:spPr>
          <a:xfrm xmlns:a="http://schemas.openxmlformats.org/drawingml/2006/main" rot="0">
            <a:off x="6038850" y="2085975"/>
            <a:ext cx="6858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9" name="flow-arrow-86">
            <a:extLst xmlns:a="http://schemas.openxmlformats.org/drawingml/2006/main">
              <a:ext uri="{FF2B5EF4-FFF2-40B4-BE49-F238E27FC236}">
                <a16:creationId xmlns:a16="http://schemas.microsoft.com/office/drawing/2014/main" id="{2205B451-6611-4F4D-8270-94A03C57D775}"/>
              </a:ext>
            </a:extLst>
          </p:cNvPr>
          <p:cNvSpPr>
            <a:spLocks xmlns:a="http://schemas.openxmlformats.org/drawingml/2006/main" noGrp="1"/>
          </p:cNvSpPr>
          <p:nvPr/>
        </p:nvSpPr>
        <p:spPr>
          <a:xfrm xmlns:a="http://schemas.openxmlformats.org/drawingml/2006/main" rot="0">
            <a:off x="8896350" y="2085975"/>
            <a:ext cx="6858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0" name="text-87">
            <a:extLst xmlns:a="http://schemas.openxmlformats.org/drawingml/2006/main">
              <a:ext uri="{FF2B5EF4-FFF2-40B4-BE49-F238E27FC236}">
                <a16:creationId xmlns:a16="http://schemas.microsoft.com/office/drawing/2014/main" id="{A917A016-1E46-473D-B3FF-A519212328FA}"/>
              </a:ext>
            </a:extLst>
          </p:cNvPr>
          <p:cNvSpPr>
            <a:spLocks xmlns:a="http://schemas.openxmlformats.org/drawingml/2006/main" noGrp="1"/>
          </p:cNvSpPr>
          <p:nvPr/>
        </p:nvSpPr>
        <p:spPr>
          <a:xfrm xmlns:a="http://schemas.openxmlformats.org/drawingml/2006/main">
            <a:off x="857250" y="3352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3E7A"/>
                </a:solidFill>
                <a:latin typeface="Arial"/>
                <a:ea typeface="Arial"/>
                <a:cs typeface="Arial"/>
              </a:defRPr>
            </a:defPPr>
            <a:lvl1pPr algn="l">
              <a:defRPr sz="2025" b="1">
                <a:solidFill>
                  <a:srgbClr val="113E7A"/>
                </a:solidFill>
                <a:latin typeface="Arial"/>
                <a:ea typeface="Arial"/>
                <a:cs typeface="Arial"/>
              </a:defRPr>
            </a:lvl1pPr>
            <a:lvl2pPr algn="l">
              <a:defRPr sz="2025" b="1">
                <a:solidFill>
                  <a:srgbClr val="113E7A"/>
                </a:solidFill>
                <a:latin typeface="Arial"/>
                <a:ea typeface="Arial"/>
                <a:cs typeface="Arial"/>
              </a:defRPr>
            </a:lvl2pPr>
            <a:lvl3pPr algn="l">
              <a:defRPr sz="2025" b="1">
                <a:solidFill>
                  <a:srgbClr val="113E7A"/>
                </a:solidFill>
                <a:latin typeface="Arial"/>
                <a:ea typeface="Arial"/>
                <a:cs typeface="Arial"/>
              </a:defRPr>
            </a:lvl3pPr>
            <a:lvl4pPr algn="l">
              <a:defRPr sz="2025" b="1">
                <a:solidFill>
                  <a:srgbClr val="113E7A"/>
                </a:solidFill>
                <a:latin typeface="Arial"/>
                <a:ea typeface="Arial"/>
                <a:cs typeface="Arial"/>
              </a:defRPr>
            </a:lvl4pPr>
            <a:lvl5pPr algn="l">
              <a:defRPr sz="2025" b="1">
                <a:solidFill>
                  <a:srgbClr val="113E7A"/>
                </a:solidFill>
                <a:latin typeface="Arial"/>
                <a:ea typeface="Arial"/>
                <a:cs typeface="Arial"/>
              </a:defRPr>
            </a:lvl5pPr>
            <a:lvl6pPr algn="l">
              <a:defRPr sz="2025" b="1">
                <a:solidFill>
                  <a:srgbClr val="113E7A"/>
                </a:solidFill>
                <a:latin typeface="Arial"/>
                <a:ea typeface="Arial"/>
                <a:cs typeface="Arial"/>
              </a:defRPr>
            </a:lvl6pPr>
            <a:lvl7pPr algn="l">
              <a:defRPr sz="2025" b="1">
                <a:solidFill>
                  <a:srgbClr val="113E7A"/>
                </a:solidFill>
                <a:latin typeface="Arial"/>
                <a:ea typeface="Arial"/>
                <a:cs typeface="Arial"/>
              </a:defRPr>
            </a:lvl7pPr>
            <a:lvl8pPr algn="l">
              <a:defRPr sz="2025" b="1">
                <a:solidFill>
                  <a:srgbClr val="113E7A"/>
                </a:solidFill>
                <a:latin typeface="Arial"/>
                <a:ea typeface="Arial"/>
                <a:cs typeface="Arial"/>
              </a:defRPr>
            </a:lvl8pPr>
            <a:lvl9pPr algn="l">
              <a:defRPr sz="2025" b="1">
                <a:solidFill>
                  <a:srgbClr val="113E7A"/>
                </a:solidFill>
                <a:latin typeface="Arial"/>
                <a:ea typeface="Arial"/>
                <a:cs typeface="Arial"/>
              </a:defRPr>
            </a:lvl9pPr>
          </a:lstStyle>
          <a:p xmlns:a="http://schemas.openxmlformats.org/drawingml/2006/main">
            <a:pPr algn="l">
              <a:lnSpc>
                <a:spcPct val="113000"/>
              </a:lnSpc>
              <a:buNone/>
              <a:defRPr sz="2025" b="1">
                <a:solidFill>
                  <a:srgbClr val="113E7A"/>
                </a:solidFill>
                <a:latin typeface="Arial"/>
                <a:ea typeface="Arial"/>
                <a:cs typeface="Arial"/>
              </a:defRPr>
            </a:pPr>
            <a:r>
              <a:rPr sz="2025" b="1">
                <a:solidFill>
                  <a:srgbClr val="113E7A"/>
                </a:solidFill>
                <a:latin typeface="Arial"/>
                <a:ea typeface="Arial"/>
                <a:cs typeface="Arial"/>
              </a:rPr>
              <a:t>Random Forest</a:t>
            </a:r>
          </a:p>
        </p:txBody>
      </p:sp>
      <p:sp>
        <p:nvSpPr>
          <p:cNvPr id="11" name="diagram-88">
            <a:extLst xmlns:a="http://schemas.openxmlformats.org/drawingml/2006/main">
              <a:ext uri="{FF2B5EF4-FFF2-40B4-BE49-F238E27FC236}">
                <a16:creationId xmlns:a16="http://schemas.microsoft.com/office/drawing/2014/main" id="{901C9D3E-0AA2-4AC7-BB96-983E91A2138E}"/>
              </a:ext>
            </a:extLst>
          </p:cNvPr>
          <p:cNvSpPr>
            <a:spLocks xmlns:a="http://schemas.openxmlformats.org/drawingml/2006/main" noGrp="1"/>
          </p:cNvSpPr>
          <p:nvPr/>
        </p:nvSpPr>
        <p:spPr>
          <a:xfrm xmlns:a="http://schemas.openxmlformats.org/drawingml/2006/main">
            <a:off x="4333875" y="2943225"/>
            <a:ext cx="1381125" cy="5334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defRPr sz="1725" b="1">
                <a:solidFill>
                  <a:srgbClr val="113E7A"/>
                </a:solidFill>
                <a:latin typeface="Arial"/>
                <a:ea typeface="Arial"/>
                <a:cs typeface="Arial"/>
              </a:defRPr>
            </a:pPr>
            <a:r>
              <a:rPr sz="1725" b="1">
                <a:solidFill>
                  <a:srgbClr val="113E7A"/>
                </a:solidFill>
                <a:latin typeface="Arial"/>
                <a:ea typeface="Arial"/>
                <a:cs typeface="Arial"/>
              </a:rPr>
              <a:t>Cây 1</a:t>
            </a:r>
          </a:p>
        </p:txBody>
      </p:sp>
      <p:sp>
        <p:nvSpPr>
          <p:cNvPr id="12" name="diagram-89">
            <a:extLst xmlns:a="http://schemas.openxmlformats.org/drawingml/2006/main">
              <a:ext uri="{FF2B5EF4-FFF2-40B4-BE49-F238E27FC236}">
                <a16:creationId xmlns:a16="http://schemas.microsoft.com/office/drawing/2014/main" id="{A4855044-37A1-4B0E-8777-4DBB683C0886}"/>
              </a:ext>
            </a:extLst>
          </p:cNvPr>
          <p:cNvSpPr>
            <a:spLocks xmlns:a="http://schemas.openxmlformats.org/drawingml/2006/main" noGrp="1"/>
          </p:cNvSpPr>
          <p:nvPr/>
        </p:nvSpPr>
        <p:spPr>
          <a:xfrm xmlns:a="http://schemas.openxmlformats.org/drawingml/2006/main">
            <a:off x="4333875" y="3648075"/>
            <a:ext cx="1381125" cy="5334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defRPr sz="1725" b="1">
                <a:solidFill>
                  <a:srgbClr val="113E7A"/>
                </a:solidFill>
                <a:latin typeface="Arial"/>
                <a:ea typeface="Arial"/>
                <a:cs typeface="Arial"/>
              </a:defRPr>
            </a:pPr>
            <a:r>
              <a:rPr sz="1725" b="1">
                <a:solidFill>
                  <a:srgbClr val="113E7A"/>
                </a:solidFill>
                <a:latin typeface="Arial"/>
                <a:ea typeface="Arial"/>
                <a:cs typeface="Arial"/>
              </a:rPr>
              <a:t>Cây 2</a:t>
            </a:r>
          </a:p>
        </p:txBody>
      </p:sp>
      <p:sp>
        <p:nvSpPr>
          <p:cNvPr id="13" name="diagram-90">
            <a:extLst xmlns:a="http://schemas.openxmlformats.org/drawingml/2006/main">
              <a:ext uri="{FF2B5EF4-FFF2-40B4-BE49-F238E27FC236}">
                <a16:creationId xmlns:a16="http://schemas.microsoft.com/office/drawing/2014/main" id="{E84DDDED-AF9E-4F5A-9D47-4544EF3FDB4C}"/>
              </a:ext>
            </a:extLst>
          </p:cNvPr>
          <p:cNvSpPr>
            <a:spLocks xmlns:a="http://schemas.openxmlformats.org/drawingml/2006/main" noGrp="1"/>
          </p:cNvSpPr>
          <p:nvPr/>
        </p:nvSpPr>
        <p:spPr>
          <a:xfrm xmlns:a="http://schemas.openxmlformats.org/drawingml/2006/main">
            <a:off x="4333875" y="4352925"/>
            <a:ext cx="1381125" cy="5334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defRPr sz="1725" b="1">
                <a:solidFill>
                  <a:srgbClr val="113E7A"/>
                </a:solidFill>
                <a:latin typeface="Arial"/>
                <a:ea typeface="Arial"/>
                <a:cs typeface="Arial"/>
              </a:defRPr>
            </a:pPr>
            <a:r>
              <a:rPr sz="1725" b="1">
                <a:solidFill>
                  <a:srgbClr val="113E7A"/>
                </a:solidFill>
                <a:latin typeface="Arial"/>
                <a:ea typeface="Arial"/>
                <a:cs typeface="Arial"/>
              </a:rPr>
              <a:t>Cây 3</a:t>
            </a:r>
          </a:p>
        </p:txBody>
      </p:sp>
      <p:sp>
        <p:nvSpPr>
          <p:cNvPr id="14" name="diagram-91">
            <a:extLst xmlns:a="http://schemas.openxmlformats.org/drawingml/2006/main">
              <a:ext uri="{FF2B5EF4-FFF2-40B4-BE49-F238E27FC236}">
                <a16:creationId xmlns:a16="http://schemas.microsoft.com/office/drawing/2014/main" id="{B0CD1B75-67EF-4548-ACB5-8A0AAD079CBA}"/>
              </a:ext>
            </a:extLst>
          </p:cNvPr>
          <p:cNvSpPr>
            <a:spLocks xmlns:a="http://schemas.openxmlformats.org/drawingml/2006/main" noGrp="1"/>
          </p:cNvSpPr>
          <p:nvPr/>
        </p:nvSpPr>
        <p:spPr>
          <a:xfrm xmlns:a="http://schemas.openxmlformats.org/drawingml/2006/main">
            <a:off x="7429500" y="3448050"/>
            <a:ext cx="2381250" cy="81915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950" b="1">
                <a:solidFill>
                  <a:srgbClr val="113E7A"/>
                </a:solidFill>
                <a:latin typeface="Arial"/>
                <a:ea typeface="Arial"/>
                <a:cs typeface="Arial"/>
              </a:defRPr>
            </a:defPPr>
            <a:lvl1pPr algn="ctr">
              <a:defRPr sz="1950" b="1">
                <a:solidFill>
                  <a:srgbClr val="113E7A"/>
                </a:solidFill>
                <a:latin typeface="Arial"/>
                <a:ea typeface="Arial"/>
                <a:cs typeface="Arial"/>
              </a:defRPr>
            </a:lvl1pPr>
            <a:lvl2pPr algn="ctr">
              <a:defRPr sz="1950" b="1">
                <a:solidFill>
                  <a:srgbClr val="113E7A"/>
                </a:solidFill>
                <a:latin typeface="Arial"/>
                <a:ea typeface="Arial"/>
                <a:cs typeface="Arial"/>
              </a:defRPr>
            </a:lvl2pPr>
            <a:lvl3pPr algn="ctr">
              <a:defRPr sz="1950" b="1">
                <a:solidFill>
                  <a:srgbClr val="113E7A"/>
                </a:solidFill>
                <a:latin typeface="Arial"/>
                <a:ea typeface="Arial"/>
                <a:cs typeface="Arial"/>
              </a:defRPr>
            </a:lvl3pPr>
            <a:lvl4pPr algn="ctr">
              <a:defRPr sz="1950" b="1">
                <a:solidFill>
                  <a:srgbClr val="113E7A"/>
                </a:solidFill>
                <a:latin typeface="Arial"/>
                <a:ea typeface="Arial"/>
                <a:cs typeface="Arial"/>
              </a:defRPr>
            </a:lvl4pPr>
            <a:lvl5pPr algn="ctr">
              <a:defRPr sz="1950" b="1">
                <a:solidFill>
                  <a:srgbClr val="113E7A"/>
                </a:solidFill>
                <a:latin typeface="Arial"/>
                <a:ea typeface="Arial"/>
                <a:cs typeface="Arial"/>
              </a:defRPr>
            </a:lvl5pPr>
            <a:lvl6pPr algn="ctr">
              <a:defRPr sz="1950" b="1">
                <a:solidFill>
                  <a:srgbClr val="113E7A"/>
                </a:solidFill>
                <a:latin typeface="Arial"/>
                <a:ea typeface="Arial"/>
                <a:cs typeface="Arial"/>
              </a:defRPr>
            </a:lvl6pPr>
            <a:lvl7pPr algn="ctr">
              <a:defRPr sz="1950" b="1">
                <a:solidFill>
                  <a:srgbClr val="113E7A"/>
                </a:solidFill>
                <a:latin typeface="Arial"/>
                <a:ea typeface="Arial"/>
                <a:cs typeface="Arial"/>
              </a:defRPr>
            </a:lvl7pPr>
            <a:lvl8pPr algn="ctr">
              <a:defRPr sz="1950" b="1">
                <a:solidFill>
                  <a:srgbClr val="113E7A"/>
                </a:solidFill>
                <a:latin typeface="Arial"/>
                <a:ea typeface="Arial"/>
                <a:cs typeface="Arial"/>
              </a:defRPr>
            </a:lvl8pPr>
            <a:lvl9pPr algn="ctr">
              <a:defRPr sz="1950" b="1">
                <a:solidFill>
                  <a:srgbClr val="113E7A"/>
                </a:solidFill>
                <a:latin typeface="Arial"/>
                <a:ea typeface="Arial"/>
                <a:cs typeface="Arial"/>
              </a:defRPr>
            </a:lvl9pPr>
          </a:lstStyle>
          <a:p xmlns:a="http://schemas.openxmlformats.org/drawingml/2006/main">
            <a:pPr algn="ctr">
              <a:defRPr sz="1950" b="1">
                <a:solidFill>
                  <a:srgbClr val="113E7A"/>
                </a:solidFill>
                <a:latin typeface="Arial"/>
                <a:ea typeface="Arial"/>
                <a:cs typeface="Arial"/>
              </a:defRPr>
            </a:pPr>
            <a:r>
              <a:rPr sz="1950" b="1">
                <a:solidFill>
                  <a:srgbClr val="113E7A"/>
                </a:solidFill>
                <a:latin typeface="Arial"/>
                <a:ea typeface="Arial"/>
                <a:cs typeface="Arial"/>
              </a:rPr>
              <a:t>Trung bình</a:t>
            </a:r>
          </a:p>
          <a:p xmlns:a="http://schemas.openxmlformats.org/drawingml/2006/main">
            <a:pPr algn="ctr">
              <a:defRPr sz="1950" b="1">
                <a:solidFill>
                  <a:srgbClr val="113E7A"/>
                </a:solidFill>
                <a:latin typeface="Arial"/>
                <a:ea typeface="Arial"/>
                <a:cs typeface="Arial"/>
              </a:defRPr>
            </a:pPr>
            <a:r>
              <a:rPr sz="1950" b="1">
                <a:solidFill>
                  <a:srgbClr val="113E7A"/>
                </a:solidFill>
                <a:latin typeface="Arial"/>
                <a:ea typeface="Arial"/>
                <a:cs typeface="Arial"/>
              </a:rPr>
              <a:t>xác suất</a:t>
            </a:r>
          </a:p>
        </p:txBody>
      </p:sp>
      <p:sp>
        <p:nvSpPr>
          <p:cNvPr id="15" name="flow-arrow-92">
            <a:extLst xmlns:a="http://schemas.openxmlformats.org/drawingml/2006/main">
              <a:ext uri="{FF2B5EF4-FFF2-40B4-BE49-F238E27FC236}">
                <a16:creationId xmlns:a16="http://schemas.microsoft.com/office/drawing/2014/main" id="{016DBC0F-51E6-4F5F-B16D-B2975C3227F4}"/>
              </a:ext>
            </a:extLst>
          </p:cNvPr>
          <p:cNvSpPr>
            <a:spLocks xmlns:a="http://schemas.openxmlformats.org/drawingml/2006/main" noGrp="1"/>
          </p:cNvSpPr>
          <p:nvPr/>
        </p:nvSpPr>
        <p:spPr>
          <a:xfrm xmlns:a="http://schemas.openxmlformats.org/drawingml/2006/main" rot="1241727">
            <a:off x="5693968" y="3486150"/>
            <a:ext cx="1756564"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6" name="flow-arrow-93">
            <a:extLst xmlns:a="http://schemas.openxmlformats.org/drawingml/2006/main">
              <a:ext uri="{FF2B5EF4-FFF2-40B4-BE49-F238E27FC236}">
                <a16:creationId xmlns:a16="http://schemas.microsoft.com/office/drawing/2014/main" id="{BB9789FB-E55D-4264-8888-AF470B432048}"/>
              </a:ext>
            </a:extLst>
          </p:cNvPr>
          <p:cNvSpPr>
            <a:spLocks xmlns:a="http://schemas.openxmlformats.org/drawingml/2006/main" noGrp="1"/>
          </p:cNvSpPr>
          <p:nvPr/>
        </p:nvSpPr>
        <p:spPr>
          <a:xfrm xmlns:a="http://schemas.openxmlformats.org/drawingml/2006/main" rot="-114549">
            <a:off x="5752624" y="3838575"/>
            <a:ext cx="1639252"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7" name="flow-arrow-94">
            <a:extLst xmlns:a="http://schemas.openxmlformats.org/drawingml/2006/main">
              <a:ext uri="{FF2B5EF4-FFF2-40B4-BE49-F238E27FC236}">
                <a16:creationId xmlns:a16="http://schemas.microsoft.com/office/drawing/2014/main" id="{BAA6EEAD-4EAB-4A27-B28B-6ECFB7BE52A7}"/>
              </a:ext>
            </a:extLst>
          </p:cNvPr>
          <p:cNvSpPr>
            <a:spLocks xmlns:a="http://schemas.openxmlformats.org/drawingml/2006/main" noGrp="1"/>
          </p:cNvSpPr>
          <p:nvPr/>
        </p:nvSpPr>
        <p:spPr>
          <a:xfrm xmlns:a="http://schemas.openxmlformats.org/drawingml/2006/main" rot="-1437749">
            <a:off x="5672246" y="4191000"/>
            <a:ext cx="1800007"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18" name="text-95">
            <a:extLst xmlns:a="http://schemas.openxmlformats.org/drawingml/2006/main">
              <a:ext uri="{FF2B5EF4-FFF2-40B4-BE49-F238E27FC236}">
                <a16:creationId xmlns:a16="http://schemas.microsoft.com/office/drawing/2014/main" id="{85328422-6EE8-41F8-AAB2-45A1986BA6DB}"/>
              </a:ext>
            </a:extLst>
          </p:cNvPr>
          <p:cNvSpPr>
            <a:spLocks xmlns:a="http://schemas.openxmlformats.org/drawingml/2006/main" noGrp="1"/>
          </p:cNvSpPr>
          <p:nvPr/>
        </p:nvSpPr>
        <p:spPr>
          <a:xfrm xmlns:a="http://schemas.openxmlformats.org/drawingml/2006/main">
            <a:off x="857250" y="55626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3E7A"/>
                </a:solidFill>
                <a:latin typeface="Arial"/>
                <a:ea typeface="Arial"/>
                <a:cs typeface="Arial"/>
              </a:defRPr>
            </a:defPPr>
            <a:lvl1pPr algn="l">
              <a:defRPr sz="2025" b="1">
                <a:solidFill>
                  <a:srgbClr val="113E7A"/>
                </a:solidFill>
                <a:latin typeface="Arial"/>
                <a:ea typeface="Arial"/>
                <a:cs typeface="Arial"/>
              </a:defRPr>
            </a:lvl1pPr>
            <a:lvl2pPr algn="l">
              <a:defRPr sz="2025" b="1">
                <a:solidFill>
                  <a:srgbClr val="113E7A"/>
                </a:solidFill>
                <a:latin typeface="Arial"/>
                <a:ea typeface="Arial"/>
                <a:cs typeface="Arial"/>
              </a:defRPr>
            </a:lvl2pPr>
            <a:lvl3pPr algn="l">
              <a:defRPr sz="2025" b="1">
                <a:solidFill>
                  <a:srgbClr val="113E7A"/>
                </a:solidFill>
                <a:latin typeface="Arial"/>
                <a:ea typeface="Arial"/>
                <a:cs typeface="Arial"/>
              </a:defRPr>
            </a:lvl3pPr>
            <a:lvl4pPr algn="l">
              <a:defRPr sz="2025" b="1">
                <a:solidFill>
                  <a:srgbClr val="113E7A"/>
                </a:solidFill>
                <a:latin typeface="Arial"/>
                <a:ea typeface="Arial"/>
                <a:cs typeface="Arial"/>
              </a:defRPr>
            </a:lvl4pPr>
            <a:lvl5pPr algn="l">
              <a:defRPr sz="2025" b="1">
                <a:solidFill>
                  <a:srgbClr val="113E7A"/>
                </a:solidFill>
                <a:latin typeface="Arial"/>
                <a:ea typeface="Arial"/>
                <a:cs typeface="Arial"/>
              </a:defRPr>
            </a:lvl5pPr>
            <a:lvl6pPr algn="l">
              <a:defRPr sz="2025" b="1">
                <a:solidFill>
                  <a:srgbClr val="113E7A"/>
                </a:solidFill>
                <a:latin typeface="Arial"/>
                <a:ea typeface="Arial"/>
                <a:cs typeface="Arial"/>
              </a:defRPr>
            </a:lvl6pPr>
            <a:lvl7pPr algn="l">
              <a:defRPr sz="2025" b="1">
                <a:solidFill>
                  <a:srgbClr val="113E7A"/>
                </a:solidFill>
                <a:latin typeface="Arial"/>
                <a:ea typeface="Arial"/>
                <a:cs typeface="Arial"/>
              </a:defRPr>
            </a:lvl7pPr>
            <a:lvl8pPr algn="l">
              <a:defRPr sz="2025" b="1">
                <a:solidFill>
                  <a:srgbClr val="113E7A"/>
                </a:solidFill>
                <a:latin typeface="Arial"/>
                <a:ea typeface="Arial"/>
                <a:cs typeface="Arial"/>
              </a:defRPr>
            </a:lvl8pPr>
            <a:lvl9pPr algn="l">
              <a:defRPr sz="2025" b="1">
                <a:solidFill>
                  <a:srgbClr val="113E7A"/>
                </a:solidFill>
                <a:latin typeface="Arial"/>
                <a:ea typeface="Arial"/>
                <a:cs typeface="Arial"/>
              </a:defRPr>
            </a:lvl9pPr>
          </a:lstStyle>
          <a:p xmlns:a="http://schemas.openxmlformats.org/drawingml/2006/main">
            <a:pPr algn="l">
              <a:lnSpc>
                <a:spcPct val="113000"/>
              </a:lnSpc>
              <a:buNone/>
              <a:defRPr sz="2025" b="1">
                <a:solidFill>
                  <a:srgbClr val="113E7A"/>
                </a:solidFill>
                <a:latin typeface="Arial"/>
                <a:ea typeface="Arial"/>
                <a:cs typeface="Arial"/>
              </a:defRPr>
            </a:pPr>
            <a:r>
              <a:rPr sz="2025" b="1">
                <a:solidFill>
                  <a:srgbClr val="113E7A"/>
                </a:solidFill>
                <a:latin typeface="Arial"/>
                <a:ea typeface="Arial"/>
                <a:cs typeface="Arial"/>
              </a:rPr>
              <a:t>XGBoost</a:t>
            </a:r>
          </a:p>
        </p:txBody>
      </p:sp>
      <p:sp>
        <p:nvSpPr>
          <p:cNvPr id="19" name="diagram-96">
            <a:extLst xmlns:a="http://schemas.openxmlformats.org/drawingml/2006/main">
              <a:ext uri="{FF2B5EF4-FFF2-40B4-BE49-F238E27FC236}">
                <a16:creationId xmlns:a16="http://schemas.microsoft.com/office/drawing/2014/main" id="{D24199C0-3ED5-484B-9931-AD9EE6546A30}"/>
              </a:ext>
            </a:extLst>
          </p:cNvPr>
          <p:cNvSpPr>
            <a:spLocks xmlns:a="http://schemas.openxmlformats.org/drawingml/2006/main" noGrp="1"/>
          </p:cNvSpPr>
          <p:nvPr/>
        </p:nvSpPr>
        <p:spPr>
          <a:xfrm xmlns:a="http://schemas.openxmlformats.org/drawingml/2006/main">
            <a:off x="4191000" y="5419725"/>
            <a:ext cx="1524000" cy="571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Cây 1</a:t>
            </a:r>
          </a:p>
        </p:txBody>
      </p:sp>
      <p:sp>
        <p:nvSpPr>
          <p:cNvPr id="20" name="diagram-97">
            <a:extLst xmlns:a="http://schemas.openxmlformats.org/drawingml/2006/main">
              <a:ext uri="{FF2B5EF4-FFF2-40B4-BE49-F238E27FC236}">
                <a16:creationId xmlns:a16="http://schemas.microsoft.com/office/drawing/2014/main" id="{C1807D6A-77FD-440A-8FF7-4735047C42C7}"/>
              </a:ext>
            </a:extLst>
          </p:cNvPr>
          <p:cNvSpPr>
            <a:spLocks xmlns:a="http://schemas.openxmlformats.org/drawingml/2006/main" noGrp="1"/>
          </p:cNvSpPr>
          <p:nvPr/>
        </p:nvSpPr>
        <p:spPr>
          <a:xfrm xmlns:a="http://schemas.openxmlformats.org/drawingml/2006/main">
            <a:off x="6762750" y="5419725"/>
            <a:ext cx="1524000" cy="571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Cây 2</a:t>
            </a:r>
          </a:p>
        </p:txBody>
      </p:sp>
      <p:sp>
        <p:nvSpPr>
          <p:cNvPr id="21" name="diagram-98">
            <a:extLst xmlns:a="http://schemas.openxmlformats.org/drawingml/2006/main">
              <a:ext uri="{FF2B5EF4-FFF2-40B4-BE49-F238E27FC236}">
                <a16:creationId xmlns:a16="http://schemas.microsoft.com/office/drawing/2014/main" id="{0B8A384E-6048-43C1-864D-7A29D829E98D}"/>
              </a:ext>
            </a:extLst>
          </p:cNvPr>
          <p:cNvSpPr>
            <a:spLocks xmlns:a="http://schemas.openxmlformats.org/drawingml/2006/main" noGrp="1"/>
          </p:cNvSpPr>
          <p:nvPr/>
        </p:nvSpPr>
        <p:spPr>
          <a:xfrm xmlns:a="http://schemas.openxmlformats.org/drawingml/2006/main">
            <a:off x="9239250" y="5419725"/>
            <a:ext cx="2000250" cy="571500"/>
          </a:xfrm>
          <a:prstGeom xmlns:a="http://schemas.openxmlformats.org/drawingml/2006/main" prst="rect">
            <a:avLst/>
          </a:prstGeom>
          <a:solidFill xmlns:a="http://schemas.openxmlformats.org/drawingml/2006/main">
            <a:srgbClr val="E8F8FC"/>
          </a:solidFill>
          <a:ln xmlns:a="http://schemas.openxmlformats.org/drawingml/2006/main" w="14288">
            <a:solidFill>
              <a:srgbClr val="A4D9F0"/>
            </a:solidFill>
          </a:ln>
        </p:spPr>
        <p:txBody>
          <a:bodyPr xmlns:a="http://schemas.openxmlformats.org/drawingml/2006/main" lIns="76200" tIns="76200" rIns="76200" bIns="76200" anchor="ctr"/>
          <a:lstStyle xmlns:a="http://schemas.openxmlformats.org/drawingml/2006/main">
            <a:defPPr algn="ctr">
              <a:defRPr sz="1800" b="1">
                <a:solidFill>
                  <a:srgbClr val="113E7A"/>
                </a:solidFill>
                <a:latin typeface="Arial"/>
                <a:ea typeface="Arial"/>
                <a:cs typeface="Arial"/>
              </a:defRPr>
            </a:defPPr>
            <a:lvl1pPr algn="ctr">
              <a:defRPr sz="1800" b="1">
                <a:solidFill>
                  <a:srgbClr val="113E7A"/>
                </a:solidFill>
                <a:latin typeface="Arial"/>
                <a:ea typeface="Arial"/>
                <a:cs typeface="Arial"/>
              </a:defRPr>
            </a:lvl1pPr>
            <a:lvl2pPr algn="ctr">
              <a:defRPr sz="1800" b="1">
                <a:solidFill>
                  <a:srgbClr val="113E7A"/>
                </a:solidFill>
                <a:latin typeface="Arial"/>
                <a:ea typeface="Arial"/>
                <a:cs typeface="Arial"/>
              </a:defRPr>
            </a:lvl2pPr>
            <a:lvl3pPr algn="ctr">
              <a:defRPr sz="1800" b="1">
                <a:solidFill>
                  <a:srgbClr val="113E7A"/>
                </a:solidFill>
                <a:latin typeface="Arial"/>
                <a:ea typeface="Arial"/>
                <a:cs typeface="Arial"/>
              </a:defRPr>
            </a:lvl3pPr>
            <a:lvl4pPr algn="ctr">
              <a:defRPr sz="1800" b="1">
                <a:solidFill>
                  <a:srgbClr val="113E7A"/>
                </a:solidFill>
                <a:latin typeface="Arial"/>
                <a:ea typeface="Arial"/>
                <a:cs typeface="Arial"/>
              </a:defRPr>
            </a:lvl4pPr>
            <a:lvl5pPr algn="ctr">
              <a:defRPr sz="1800" b="1">
                <a:solidFill>
                  <a:srgbClr val="113E7A"/>
                </a:solidFill>
                <a:latin typeface="Arial"/>
                <a:ea typeface="Arial"/>
                <a:cs typeface="Arial"/>
              </a:defRPr>
            </a:lvl5pPr>
            <a:lvl6pPr algn="ctr">
              <a:defRPr sz="1800" b="1">
                <a:solidFill>
                  <a:srgbClr val="113E7A"/>
                </a:solidFill>
                <a:latin typeface="Arial"/>
                <a:ea typeface="Arial"/>
                <a:cs typeface="Arial"/>
              </a:defRPr>
            </a:lvl6pPr>
            <a:lvl7pPr algn="ctr">
              <a:defRPr sz="1800" b="1">
                <a:solidFill>
                  <a:srgbClr val="113E7A"/>
                </a:solidFill>
                <a:latin typeface="Arial"/>
                <a:ea typeface="Arial"/>
                <a:cs typeface="Arial"/>
              </a:defRPr>
            </a:lvl7pPr>
            <a:lvl8pPr algn="ctr">
              <a:defRPr sz="1800" b="1">
                <a:solidFill>
                  <a:srgbClr val="113E7A"/>
                </a:solidFill>
                <a:latin typeface="Arial"/>
                <a:ea typeface="Arial"/>
                <a:cs typeface="Arial"/>
              </a:defRPr>
            </a:lvl8pPr>
            <a:lvl9pPr algn="ctr">
              <a:defRPr sz="1800" b="1">
                <a:solidFill>
                  <a:srgbClr val="113E7A"/>
                </a:solidFill>
                <a:latin typeface="Arial"/>
                <a:ea typeface="Arial"/>
                <a:cs typeface="Arial"/>
              </a:defRPr>
            </a:lvl9pPr>
          </a:lstStyle>
          <a:p xmlns:a="http://schemas.openxmlformats.org/drawingml/2006/main">
            <a:pPr algn="ctr">
              <a:defRPr sz="1800" b="1">
                <a:solidFill>
                  <a:srgbClr val="113E7A"/>
                </a:solidFill>
                <a:latin typeface="Arial"/>
                <a:ea typeface="Arial"/>
                <a:cs typeface="Arial"/>
              </a:defRPr>
            </a:pPr>
            <a:r>
              <a:rPr sz="1800" b="1">
                <a:solidFill>
                  <a:srgbClr val="113E7A"/>
                </a:solidFill>
                <a:latin typeface="Arial"/>
                <a:ea typeface="Arial"/>
                <a:cs typeface="Arial"/>
              </a:rPr>
              <a:t>Cây tiếp theo</a:t>
            </a:r>
          </a:p>
        </p:txBody>
      </p:sp>
      <p:sp>
        <p:nvSpPr>
          <p:cNvPr id="22" name="flow-arrow-99">
            <a:extLst xmlns:a="http://schemas.openxmlformats.org/drawingml/2006/main">
              <a:ext uri="{FF2B5EF4-FFF2-40B4-BE49-F238E27FC236}">
                <a16:creationId xmlns:a16="http://schemas.microsoft.com/office/drawing/2014/main" id="{4398335A-BB28-46B8-AC48-0A8C4CF8E706}"/>
              </a:ext>
            </a:extLst>
          </p:cNvPr>
          <p:cNvSpPr>
            <a:spLocks xmlns:a="http://schemas.openxmlformats.org/drawingml/2006/main" noGrp="1"/>
          </p:cNvSpPr>
          <p:nvPr/>
        </p:nvSpPr>
        <p:spPr>
          <a:xfrm xmlns:a="http://schemas.openxmlformats.org/drawingml/2006/main" rot="0">
            <a:off x="5753100" y="5657850"/>
            <a:ext cx="97155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23" name="flow-arrow-100">
            <a:extLst xmlns:a="http://schemas.openxmlformats.org/drawingml/2006/main">
              <a:ext uri="{FF2B5EF4-FFF2-40B4-BE49-F238E27FC236}">
                <a16:creationId xmlns:a16="http://schemas.microsoft.com/office/drawing/2014/main" id="{0C9EBBE1-16D8-4F3B-B3AF-B9A5FD3F0DAA}"/>
              </a:ext>
            </a:extLst>
          </p:cNvPr>
          <p:cNvSpPr>
            <a:spLocks xmlns:a="http://schemas.openxmlformats.org/drawingml/2006/main" noGrp="1"/>
          </p:cNvSpPr>
          <p:nvPr/>
        </p:nvSpPr>
        <p:spPr>
          <a:xfrm xmlns:a="http://schemas.openxmlformats.org/drawingml/2006/main" rot="0">
            <a:off x="8324850" y="5657850"/>
            <a:ext cx="876300" cy="95250"/>
          </a:xfrm>
          <a:prstGeom xmlns:a="http://schemas.openxmlformats.org/drawingml/2006/main" prst="rightArrow">
            <a:avLst/>
          </a:prstGeom>
          <a:solidFill xmlns:a="http://schemas.openxmlformats.org/drawingml/2006/main">
            <a:srgbClr val="3168CD"/>
          </a:solidFill>
          <a:ln xmlns:a="http://schemas.openxmlformats.org/drawingml/2006/main" w="0">
            <a:solidFill>
              <a:srgbClr val="3168CD"/>
            </a:solidFill>
          </a:ln>
        </p:spPr>
      </p:sp>
      <p:sp>
        <p:nvSpPr>
          <p:cNvPr id="24" name="text-101">
            <a:extLst xmlns:a="http://schemas.openxmlformats.org/drawingml/2006/main">
              <a:ext uri="{FF2B5EF4-FFF2-40B4-BE49-F238E27FC236}">
                <a16:creationId xmlns:a16="http://schemas.microsoft.com/office/drawing/2014/main" id="{54425853-5D3C-45B8-AB10-11BE692B49FC}"/>
              </a:ext>
            </a:extLst>
          </p:cNvPr>
          <p:cNvSpPr>
            <a:spLocks xmlns:a="http://schemas.openxmlformats.org/drawingml/2006/main" noGrp="1"/>
          </p:cNvSpPr>
          <p:nvPr/>
        </p:nvSpPr>
        <p:spPr>
          <a:xfrm xmlns:a="http://schemas.openxmlformats.org/drawingml/2006/main">
            <a:off x="6667500" y="61341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718E"/>
                </a:solidFill>
                <a:latin typeface="Arial"/>
                <a:ea typeface="Arial"/>
                <a:cs typeface="Arial"/>
              </a:defRPr>
            </a:defPPr>
            <a:lvl1pPr algn="ctr">
              <a:defRPr sz="1575" b="0">
                <a:solidFill>
                  <a:srgbClr val="52718E"/>
                </a:solidFill>
                <a:latin typeface="Arial"/>
                <a:ea typeface="Arial"/>
                <a:cs typeface="Arial"/>
              </a:defRPr>
            </a:lvl1pPr>
            <a:lvl2pPr algn="ctr">
              <a:defRPr sz="1575" b="0">
                <a:solidFill>
                  <a:srgbClr val="52718E"/>
                </a:solidFill>
                <a:latin typeface="Arial"/>
                <a:ea typeface="Arial"/>
                <a:cs typeface="Arial"/>
              </a:defRPr>
            </a:lvl2pPr>
            <a:lvl3pPr algn="ctr">
              <a:defRPr sz="1575" b="0">
                <a:solidFill>
                  <a:srgbClr val="52718E"/>
                </a:solidFill>
                <a:latin typeface="Arial"/>
                <a:ea typeface="Arial"/>
                <a:cs typeface="Arial"/>
              </a:defRPr>
            </a:lvl3pPr>
            <a:lvl4pPr algn="ctr">
              <a:defRPr sz="1575" b="0">
                <a:solidFill>
                  <a:srgbClr val="52718E"/>
                </a:solidFill>
                <a:latin typeface="Arial"/>
                <a:ea typeface="Arial"/>
                <a:cs typeface="Arial"/>
              </a:defRPr>
            </a:lvl4pPr>
            <a:lvl5pPr algn="ctr">
              <a:defRPr sz="1575" b="0">
                <a:solidFill>
                  <a:srgbClr val="52718E"/>
                </a:solidFill>
                <a:latin typeface="Arial"/>
                <a:ea typeface="Arial"/>
                <a:cs typeface="Arial"/>
              </a:defRPr>
            </a:lvl5pPr>
            <a:lvl6pPr algn="ctr">
              <a:defRPr sz="1575" b="0">
                <a:solidFill>
                  <a:srgbClr val="52718E"/>
                </a:solidFill>
                <a:latin typeface="Arial"/>
                <a:ea typeface="Arial"/>
                <a:cs typeface="Arial"/>
              </a:defRPr>
            </a:lvl6pPr>
            <a:lvl7pPr algn="ctr">
              <a:defRPr sz="1575" b="0">
                <a:solidFill>
                  <a:srgbClr val="52718E"/>
                </a:solidFill>
                <a:latin typeface="Arial"/>
                <a:ea typeface="Arial"/>
                <a:cs typeface="Arial"/>
              </a:defRPr>
            </a:lvl7pPr>
            <a:lvl8pPr algn="ctr">
              <a:defRPr sz="1575" b="0">
                <a:solidFill>
                  <a:srgbClr val="52718E"/>
                </a:solidFill>
                <a:latin typeface="Arial"/>
                <a:ea typeface="Arial"/>
                <a:cs typeface="Arial"/>
              </a:defRPr>
            </a:lvl8pPr>
            <a:lvl9pPr algn="ctr">
              <a:defRPr sz="1575" b="0">
                <a:solidFill>
                  <a:srgbClr val="52718E"/>
                </a:solidFill>
                <a:latin typeface="Arial"/>
                <a:ea typeface="Arial"/>
                <a:cs typeface="Arial"/>
              </a:defRPr>
            </a:lvl9pPr>
          </a:lstStyle>
          <a:p xmlns:a="http://schemas.openxmlformats.org/drawingml/2006/main">
            <a:pPr algn="ctr">
              <a:lnSpc>
                <a:spcPct val="113000"/>
              </a:lnSpc>
              <a:buNone/>
              <a:defRPr sz="1575" b="0">
                <a:solidFill>
                  <a:srgbClr val="52718E"/>
                </a:solidFill>
                <a:latin typeface="Arial"/>
                <a:ea typeface="Arial"/>
                <a:cs typeface="Arial"/>
              </a:defRPr>
            </a:pPr>
            <a:r>
              <a:rPr sz="1575" b="0">
                <a:solidFill>
                  <a:srgbClr val="52718E"/>
                </a:solidFill>
                <a:latin typeface="Arial"/>
                <a:ea typeface="Arial"/>
                <a:cs typeface="Arial"/>
              </a:rPr>
              <a:t>Thêm cây theo hướng giảm lỗi</a:t>
            </a:r>
          </a:p>
        </p:txBody>
      </p:sp>
    </p:spTree>
    <p:extLst>
      <p:ext uri="{BB962C8B-B14F-4D97-AF65-F5344CB8AC3E}">
        <p14:creationId xmlns:p14="http://schemas.microsoft.com/office/powerpoint/2010/main" val="343947634"/>
      </p:ext>
    </p:extLst>
  </p:cSld>
</p:sld>
</file>

<file path=ppt/slides/slide9.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219AD7F-3C6E-4C67-B1E6-49019B9376C8}"/>
              </a:ext>
            </a:extLst>
          </p:cNvPr>
          <p:cNvPicPr>
            <a:picLocks xmlns:a="http://schemas.openxmlformats.org/drawingml/2006/main" noChangeAspect="1"/>
          </p:cNvPicPr>
          <p:nvPr/>
        </p:nvPicPr>
        <p:blipFill>
          <a:blip xmlns:r="http://schemas.openxmlformats.org/officeDocument/2006/relationships" xmlns:a="http://schemas.openxmlformats.org/drawingml/2006/main" r:embed="R8d9d7243d3d645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02">
            <a:extLst xmlns:a="http://schemas.openxmlformats.org/drawingml/2006/main">
              <a:ext uri="{FF2B5EF4-FFF2-40B4-BE49-F238E27FC236}">
                <a16:creationId xmlns:a16="http://schemas.microsoft.com/office/drawing/2014/main" id="{3C609DA1-3E58-4973-8B6E-854866A76A64}"/>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Quá trình huấn luyện</a:t>
            </a:r>
          </a:p>
        </p:txBody>
      </p:sp>
      <p:sp>
        <p:nvSpPr>
          <p:cNvPr id="3" name="text-103">
            <a:extLst xmlns:a="http://schemas.openxmlformats.org/drawingml/2006/main">
              <a:ext uri="{FF2B5EF4-FFF2-40B4-BE49-F238E27FC236}">
                <a16:creationId xmlns:a16="http://schemas.microsoft.com/office/drawing/2014/main" id="{314A5780-9F2B-44B3-A063-BCAD609D400B}"/>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09</a:t>
            </a:r>
          </a:p>
        </p:txBody>
      </p:sp>
      <p:sp>
        <p:nvSpPr>
          <p:cNvPr id="4" name="text-104">
            <a:extLst xmlns:a="http://schemas.openxmlformats.org/drawingml/2006/main">
              <a:ext uri="{FF2B5EF4-FFF2-40B4-BE49-F238E27FC236}">
                <a16:creationId xmlns:a16="http://schemas.microsoft.com/office/drawing/2014/main" id="{0A2BBF30-78F3-4E2E-AC96-30460F70F459}"/>
              </a:ext>
            </a:extLst>
          </p:cNvPr>
          <p:cNvSpPr>
            <a:spLocks xmlns:a="http://schemas.openxmlformats.org/drawingml/2006/main" noGrp="1"/>
          </p:cNvSpPr>
          <p:nvPr/>
        </p:nvSpPr>
        <p:spPr>
          <a:xfrm xmlns:a="http://schemas.openxmlformats.org/drawingml/2006/main">
            <a:off x="904875" y="17526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D2648"/>
                </a:solidFill>
                <a:latin typeface="Arial"/>
                <a:ea typeface="Arial"/>
                <a:cs typeface="Arial"/>
              </a:defRPr>
            </a:defPPr>
            <a:lvl1pPr algn="l">
              <a:defRPr sz="1875" b="0">
                <a:solidFill>
                  <a:srgbClr val="0D2648"/>
                </a:solidFill>
                <a:latin typeface="Arial"/>
                <a:ea typeface="Arial"/>
                <a:cs typeface="Arial"/>
              </a:defRPr>
            </a:lvl1pPr>
            <a:lvl2pPr algn="l">
              <a:defRPr sz="1875" b="0">
                <a:solidFill>
                  <a:srgbClr val="0D2648"/>
                </a:solidFill>
                <a:latin typeface="Arial"/>
                <a:ea typeface="Arial"/>
                <a:cs typeface="Arial"/>
              </a:defRPr>
            </a:lvl2pPr>
            <a:lvl3pPr algn="l">
              <a:defRPr sz="1875" b="0">
                <a:solidFill>
                  <a:srgbClr val="0D2648"/>
                </a:solidFill>
                <a:latin typeface="Arial"/>
                <a:ea typeface="Arial"/>
                <a:cs typeface="Arial"/>
              </a:defRPr>
            </a:lvl3pPr>
            <a:lvl4pPr algn="l">
              <a:defRPr sz="1875" b="0">
                <a:solidFill>
                  <a:srgbClr val="0D2648"/>
                </a:solidFill>
                <a:latin typeface="Arial"/>
                <a:ea typeface="Arial"/>
                <a:cs typeface="Arial"/>
              </a:defRPr>
            </a:lvl4pPr>
            <a:lvl5pPr algn="l">
              <a:defRPr sz="1875" b="0">
                <a:solidFill>
                  <a:srgbClr val="0D2648"/>
                </a:solidFill>
                <a:latin typeface="Arial"/>
                <a:ea typeface="Arial"/>
                <a:cs typeface="Arial"/>
              </a:defRPr>
            </a:lvl5pPr>
            <a:lvl6pPr algn="l">
              <a:defRPr sz="1875" b="0">
                <a:solidFill>
                  <a:srgbClr val="0D2648"/>
                </a:solidFill>
                <a:latin typeface="Arial"/>
                <a:ea typeface="Arial"/>
                <a:cs typeface="Arial"/>
              </a:defRPr>
            </a:lvl6pPr>
            <a:lvl7pPr algn="l">
              <a:defRPr sz="1875" b="0">
                <a:solidFill>
                  <a:srgbClr val="0D2648"/>
                </a:solidFill>
                <a:latin typeface="Arial"/>
                <a:ea typeface="Arial"/>
                <a:cs typeface="Arial"/>
              </a:defRPr>
            </a:lvl7pPr>
            <a:lvl8pPr algn="l">
              <a:defRPr sz="1875" b="0">
                <a:solidFill>
                  <a:srgbClr val="0D2648"/>
                </a:solidFill>
                <a:latin typeface="Arial"/>
                <a:ea typeface="Arial"/>
                <a:cs typeface="Arial"/>
              </a:defRPr>
            </a:lvl8pPr>
            <a:lvl9pPr algn="l">
              <a:defRPr sz="1875" b="0">
                <a:solidFill>
                  <a:srgbClr val="0D2648"/>
                </a:solidFill>
                <a:latin typeface="Arial"/>
                <a:ea typeface="Arial"/>
                <a:cs typeface="Arial"/>
              </a:defRPr>
            </a:lvl9pPr>
          </a:lstStyle>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Từ 226.980 dòng train, tách validation 20% cố định bằng stratify và seed 42.</a:t>
            </a:r>
          </a:p>
        </p:txBody>
      </p:sp>
      <p:graphicFrame>
        <p:nvGraphicFramePr>
          <p:cNvPr id="5" name="">
            <a:extLst xmlns:a="http://schemas.openxmlformats.org/drawingml/2006/main">
              <a:ext uri="{FF2B5EF4-FFF2-40B4-BE49-F238E27FC236}">
                <a16:creationId xmlns:a16="http://schemas.microsoft.com/office/drawing/2014/main" id="{9AB3C669-9E48-48AF-9EE2-AAE1FE46F81C}"/>
              </a:ext>
            </a:extLst>
          </p:cNvPr>
          <p:cNvGraphicFramePr/>
          <p:nvPr/>
        </p:nvGraphicFramePr>
        <p:xfrm>
          <a:off xmlns:a="http://schemas.openxmlformats.org/drawingml/2006/main" x="1143000" y="2419350"/>
          <a:ext xmlns:a="http://schemas.openxmlformats.org/drawingml/2006/main" cx="9906000" cy="1524000"/>
        </p:xfrm>
        <a:graphic xmlns:a="http://schemas.openxmlformats.org/drawingml/2006/main">
          <a:graphicData uri="http://schemas.openxmlformats.org/drawingml/2006/table">
            <a:tbl>
              <a:tblPr/>
              <a:tblGrid>
                <a:gridCol w="4381500"/>
                <a:gridCol w="2762250"/>
                <a:gridCol w="2762250"/>
              </a:tblGrid>
              <a:tr h="508000">
                <a:tc>
                  <a:txBody>
                    <a:bodyPr lIns="95250" tIns="95250" rIns="95250" bIns="95250"/>
                    <a:lstStyle/>
                    <a:p>
                      <a:pPr algn="l"/>
                      <a:r>
                        <a:rPr sz="1800" b="1">
                          <a:solidFill>
                            <a:srgbClr val="FFFFFF"/>
                          </a:solidFill>
                          <a:latin typeface="Arial"/>
                          <a:ea typeface="Arial"/>
                          <a:cs typeface="Arial"/>
                        </a:rPr>
                        <a:t>Tập</a:t>
                      </a:r>
                    </a:p>
                  </a:txBody>
                  <a:tcPr marL="91440" marR="91440" marT="45720" marB="45720" anchor="ctr">
                    <a:lnL w="9525">
                      <a:solidFill>
                        <a:srgbClr val="C2DFEC"/>
                      </a:solidFill>
                      <a:prstDash val="solid"/>
                    </a:lnL>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00" b="1">
                          <a:solidFill>
                            <a:srgbClr val="FFFFFF"/>
                          </a:solidFill>
                          <a:latin typeface="Arial"/>
                          <a:ea typeface="Arial"/>
                          <a:cs typeface="Arial"/>
                        </a:rPr>
                        <a:t>Số giao dịch</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00" b="1">
                          <a:solidFill>
                            <a:srgbClr val="FFFFFF"/>
                          </a:solidFill>
                          <a:latin typeface="Arial"/>
                          <a:ea typeface="Arial"/>
                          <a:cs typeface="Arial"/>
                        </a:rPr>
                        <a:t>Ca gian lận</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r>
              <a:tr h="508000">
                <a:tc>
                  <a:txBody>
                    <a:bodyPr lIns="95250" tIns="95250" rIns="95250" bIns="95250"/>
                    <a:lstStyle/>
                    <a:p>
                      <a:pPr algn="l"/>
                      <a:r>
                        <a:rPr sz="1800" b="0">
                          <a:solidFill>
                            <a:srgbClr val="0D2648"/>
                          </a:solidFill>
                          <a:latin typeface="Arial"/>
                          <a:ea typeface="Arial"/>
                          <a:cs typeface="Arial"/>
                        </a:rPr>
                        <a:t>Training subset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181.584</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302</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508000">
                <a:tc>
                  <a:txBody>
                    <a:bodyPr lIns="95250" tIns="95250" rIns="95250" bIns="95250"/>
                    <a:lstStyle/>
                    <a:p>
                      <a:pPr algn="l"/>
                      <a:r>
                        <a:rPr sz="1800" b="0">
                          <a:solidFill>
                            <a:srgbClr val="0D2648"/>
                          </a:solidFill>
                          <a:latin typeface="Arial"/>
                          <a:ea typeface="Arial"/>
                          <a:cs typeface="Arial"/>
                        </a:rPr>
                        <a:t>Validation</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45.396</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76</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5308D868-6441-4868-B57C-BBEF1D805E28}"/>
              </a:ext>
            </a:extLst>
          </p:cNvPr>
          <p:cNvGraphicFramePr/>
          <p:nvPr/>
        </p:nvGraphicFramePr>
        <p:xfrm>
          <a:off xmlns:a="http://schemas.openxmlformats.org/drawingml/2006/main" x="1143000" y="4257675"/>
          <a:ext xmlns:a="http://schemas.openxmlformats.org/drawingml/2006/main" cx="9906000" cy="1905000"/>
        </p:xfrm>
        <a:graphic xmlns:a="http://schemas.openxmlformats.org/drawingml/2006/main">
          <a:graphicData uri="http://schemas.openxmlformats.org/drawingml/2006/table">
            <a:tbl>
              <a:tblPr/>
              <a:tblGrid>
                <a:gridCol w="3143250"/>
                <a:gridCol w="6762750"/>
              </a:tblGrid>
              <a:tr h="476250">
                <a:tc>
                  <a:txBody>
                    <a:bodyPr lIns="95250" tIns="95250" rIns="95250" bIns="95250"/>
                    <a:lstStyle/>
                    <a:p>
                      <a:pPr algn="l"/>
                      <a:r>
                        <a:rPr sz="1650" b="1">
                          <a:solidFill>
                            <a:srgbClr val="FFFFFF"/>
                          </a:solidFill>
                          <a:latin typeface="Arial"/>
                          <a:ea typeface="Arial"/>
                          <a:cs typeface="Arial"/>
                        </a:rPr>
                        <a:t>Mô hình</a:t>
                      </a:r>
                    </a:p>
                  </a:txBody>
                  <a:tcPr marL="91440" marR="91440" marT="45720" marB="45720" anchor="ctr">
                    <a:lnL w="9525">
                      <a:solidFill>
                        <a:srgbClr val="C2DFEC"/>
                      </a:solidFill>
                      <a:prstDash val="solid"/>
                    </a:lnL>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650" b="1">
                          <a:solidFill>
                            <a:srgbClr val="FFFFFF"/>
                          </a:solidFill>
                          <a:latin typeface="Arial"/>
                          <a:ea typeface="Arial"/>
                          <a:cs typeface="Arial"/>
                        </a:rPr>
                        <a:t>Các cấu hình đã thử</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r>
              <a:tr h="476250">
                <a:tc>
                  <a:txBody>
                    <a:bodyPr lIns="95250" tIns="95250" rIns="95250" bIns="95250"/>
                    <a:lstStyle/>
                    <a:p>
                      <a:pPr algn="l"/>
                      <a:r>
                        <a:rPr sz="1650" b="0">
                          <a:solidFill>
                            <a:srgbClr val="0D2648"/>
                          </a:solidFill>
                          <a:latin typeface="Arial"/>
                          <a:ea typeface="Arial"/>
                          <a:cs typeface="Arial"/>
                        </a:rPr>
                        <a:t>Logistic Regression</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650" b="0">
                          <a:solidFill>
                            <a:srgbClr val="0D2648"/>
                          </a:solidFill>
                          <a:latin typeface="Arial"/>
                          <a:ea typeface="Arial"/>
                          <a:cs typeface="Arial"/>
                        </a:rPr>
                        <a:t>C = 1 và 0,1; class_weight balanced</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476250">
                <a:tc>
                  <a:txBody>
                    <a:bodyPr lIns="95250" tIns="95250" rIns="95250" bIns="95250"/>
                    <a:lstStyle/>
                    <a:p>
                      <a:pPr algn="l"/>
                      <a:r>
                        <a:rPr sz="1650" b="0">
                          <a:solidFill>
                            <a:srgbClr val="0D2648"/>
                          </a:solidFill>
                          <a:latin typeface="Arial"/>
                          <a:ea typeface="Arial"/>
                          <a:cs typeface="Arial"/>
                        </a:rPr>
                        <a:t>Random Forest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650" b="0">
                          <a:solidFill>
                            <a:srgbClr val="0D2648"/>
                          </a:solidFill>
                          <a:latin typeface="Arial"/>
                          <a:ea typeface="Arial"/>
                          <a:cs typeface="Arial"/>
                        </a:rPr>
                        <a:t>100 cây; min_samples_leaf = 1 và 2</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476250">
                <a:tc>
                  <a:txBody>
                    <a:bodyPr lIns="95250" tIns="95250" rIns="95250" bIns="95250"/>
                    <a:lstStyle/>
                    <a:p>
                      <a:pPr algn="l"/>
                      <a:r>
                        <a:rPr sz="1650" b="0">
                          <a:solidFill>
                            <a:srgbClr val="0D2648"/>
                          </a:solidFill>
                          <a:latin typeface="Arial"/>
                          <a:ea typeface="Arial"/>
                          <a:cs typeface="Arial"/>
                        </a:rPr>
                        <a:t>XGBoost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650" b="0">
                          <a:solidFill>
                            <a:srgbClr val="0D2648"/>
                          </a:solidFill>
                          <a:latin typeface="Arial"/>
                          <a:ea typeface="Arial"/>
                          <a:cs typeface="Arial"/>
                        </a:rPr>
                        <a:t>200 cây; max_depth = 4 và 3; learning_rate = 0,05</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bl>
          </a:graphicData>
        </a:graphic>
      </p:graphicFrame>
      <p:sp>
        <p:nvSpPr>
          <p:cNvPr id="7" name="text-105">
            <a:extLst xmlns:a="http://schemas.openxmlformats.org/drawingml/2006/main">
              <a:ext uri="{FF2B5EF4-FFF2-40B4-BE49-F238E27FC236}">
                <a16:creationId xmlns:a16="http://schemas.microsoft.com/office/drawing/2014/main" id="{B1FBB84A-36AE-4590-93A8-C5A7E1824048}"/>
              </a:ext>
            </a:extLst>
          </p:cNvPr>
          <p:cNvSpPr>
            <a:spLocks xmlns:a="http://schemas.openxmlformats.org/drawingml/2006/main" noGrp="1"/>
          </p:cNvSpPr>
          <p:nvPr/>
        </p:nvSpPr>
        <p:spPr>
          <a:xfrm xmlns:a="http://schemas.openxmlformats.org/drawingml/2006/main">
            <a:off x="1000125" y="63150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113E7A"/>
                </a:solidFill>
                <a:latin typeface="Arial"/>
                <a:ea typeface="Arial"/>
                <a:cs typeface="Arial"/>
              </a:defRPr>
            </a:defPPr>
            <a:lvl1pPr algn="ctr">
              <a:defRPr sz="1575" b="1">
                <a:solidFill>
                  <a:srgbClr val="113E7A"/>
                </a:solidFill>
                <a:latin typeface="Arial"/>
                <a:ea typeface="Arial"/>
                <a:cs typeface="Arial"/>
              </a:defRPr>
            </a:lvl1pPr>
            <a:lvl2pPr algn="ctr">
              <a:defRPr sz="1575" b="1">
                <a:solidFill>
                  <a:srgbClr val="113E7A"/>
                </a:solidFill>
                <a:latin typeface="Arial"/>
                <a:ea typeface="Arial"/>
                <a:cs typeface="Arial"/>
              </a:defRPr>
            </a:lvl2pPr>
            <a:lvl3pPr algn="ctr">
              <a:defRPr sz="1575" b="1">
                <a:solidFill>
                  <a:srgbClr val="113E7A"/>
                </a:solidFill>
                <a:latin typeface="Arial"/>
                <a:ea typeface="Arial"/>
                <a:cs typeface="Arial"/>
              </a:defRPr>
            </a:lvl3pPr>
            <a:lvl4pPr algn="ctr">
              <a:defRPr sz="1575" b="1">
                <a:solidFill>
                  <a:srgbClr val="113E7A"/>
                </a:solidFill>
                <a:latin typeface="Arial"/>
                <a:ea typeface="Arial"/>
                <a:cs typeface="Arial"/>
              </a:defRPr>
            </a:lvl4pPr>
            <a:lvl5pPr algn="ctr">
              <a:defRPr sz="1575" b="1">
                <a:solidFill>
                  <a:srgbClr val="113E7A"/>
                </a:solidFill>
                <a:latin typeface="Arial"/>
                <a:ea typeface="Arial"/>
                <a:cs typeface="Arial"/>
              </a:defRPr>
            </a:lvl5pPr>
            <a:lvl6pPr algn="ctr">
              <a:defRPr sz="1575" b="1">
                <a:solidFill>
                  <a:srgbClr val="113E7A"/>
                </a:solidFill>
                <a:latin typeface="Arial"/>
                <a:ea typeface="Arial"/>
                <a:cs typeface="Arial"/>
              </a:defRPr>
            </a:lvl6pPr>
            <a:lvl7pPr algn="ctr">
              <a:defRPr sz="1575" b="1">
                <a:solidFill>
                  <a:srgbClr val="113E7A"/>
                </a:solidFill>
                <a:latin typeface="Arial"/>
                <a:ea typeface="Arial"/>
                <a:cs typeface="Arial"/>
              </a:defRPr>
            </a:lvl7pPr>
            <a:lvl8pPr algn="ctr">
              <a:defRPr sz="1575" b="1">
                <a:solidFill>
                  <a:srgbClr val="113E7A"/>
                </a:solidFill>
                <a:latin typeface="Arial"/>
                <a:ea typeface="Arial"/>
                <a:cs typeface="Arial"/>
              </a:defRPr>
            </a:lvl8pPr>
            <a:lvl9pPr algn="ctr">
              <a:defRPr sz="1575" b="1">
                <a:solidFill>
                  <a:srgbClr val="113E7A"/>
                </a:solidFill>
                <a:latin typeface="Arial"/>
                <a:ea typeface="Arial"/>
                <a:cs typeface="Arial"/>
              </a:defRPr>
            </a:lvl9pPr>
          </a:lstStyle>
          <a:p xmlns:a="http://schemas.openxmlformats.org/drawingml/2006/main">
            <a:pPr algn="ctr">
              <a:lnSpc>
                <a:spcPct val="113000"/>
              </a:lnSpc>
              <a:buNone/>
              <a:defRPr sz="1575" b="1">
                <a:solidFill>
                  <a:srgbClr val="113E7A"/>
                </a:solidFill>
                <a:latin typeface="Arial"/>
                <a:ea typeface="Arial"/>
                <a:cs typeface="Arial"/>
              </a:defRPr>
            </a:pPr>
            <a:r>
              <a:rPr sz="1575" b="1">
                <a:solidFill>
                  <a:srgbClr val="113E7A"/>
                </a:solidFill>
                <a:latin typeface="Arial"/>
                <a:ea typeface="Arial"/>
                <a:cs typeface="Arial"/>
              </a:rPr>
              <a:t>6 cấu hình, cùng validation. AP là tiêu chí chính; xem thêm F1, Precision và Recall.</a:t>
            </a:r>
          </a:p>
        </p:txBody>
      </p:sp>
    </p:spTree>
    <p:extLst>
      <p:ext uri="{BB962C8B-B14F-4D97-AF65-F5344CB8AC3E}">
        <p14:creationId xmlns:p14="http://schemas.microsoft.com/office/powerpoint/2010/main" val="307393316"/>
      </p:ext>
    </p:extLst>
  </p:cSld>
</p:sld>
</file>

<file path=ppt/slides/slide10.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EFEE10A-82A8-40AD-A503-FB73FC7EE8E3}"/>
              </a:ext>
            </a:extLst>
          </p:cNvPr>
          <p:cNvPicPr>
            <a:picLocks xmlns:a="http://schemas.openxmlformats.org/drawingml/2006/main" noChangeAspect="1"/>
          </p:cNvPicPr>
          <p:nvPr/>
        </p:nvPicPr>
        <p:blipFill>
          <a:blip xmlns:r="http://schemas.openxmlformats.org/officeDocument/2006/relationships" xmlns:a="http://schemas.openxmlformats.org/drawingml/2006/main" r:embed="R22a902ac605341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06">
            <a:extLst xmlns:a="http://schemas.openxmlformats.org/drawingml/2006/main">
              <a:ext uri="{FF2B5EF4-FFF2-40B4-BE49-F238E27FC236}">
                <a16:creationId xmlns:a16="http://schemas.microsoft.com/office/drawing/2014/main" id="{2E07736D-3BC5-4402-9532-D5018D869F75}"/>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So sánh kết quả trên validation</a:t>
            </a:r>
          </a:p>
        </p:txBody>
      </p:sp>
      <p:sp>
        <p:nvSpPr>
          <p:cNvPr id="3" name="text-107">
            <a:extLst xmlns:a="http://schemas.openxmlformats.org/drawingml/2006/main">
              <a:ext uri="{FF2B5EF4-FFF2-40B4-BE49-F238E27FC236}">
                <a16:creationId xmlns:a16="http://schemas.microsoft.com/office/drawing/2014/main" id="{CA395A1B-D436-41FB-A2C4-DAA12D108BFC}"/>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F49ED7ED-77EF-4ACF-B0D7-FBD6F0B13EF9}"/>
              </a:ext>
            </a:extLst>
          </p:cNvPr>
          <p:cNvGraphicFramePr/>
          <p:nvPr/>
        </p:nvGraphicFramePr>
        <p:xfrm>
          <a:off xmlns:a="http://schemas.openxmlformats.org/drawingml/2006/main" x="952500" y="1905000"/>
          <a:ext xmlns:a="http://schemas.openxmlformats.org/drawingml/2006/main" cx="10287000" cy="2247900"/>
        </p:xfrm>
        <a:graphic xmlns:a="http://schemas.openxmlformats.org/drawingml/2006/main">
          <a:graphicData uri="http://schemas.openxmlformats.org/drawingml/2006/table">
            <a:tbl>
              <a:tblPr/>
              <a:tblGrid>
                <a:gridCol w="3429000"/>
                <a:gridCol w="1714500"/>
                <a:gridCol w="1714500"/>
                <a:gridCol w="1714500"/>
                <a:gridCol w="1714500"/>
              </a:tblGrid>
              <a:tr h="561975">
                <a:tc>
                  <a:txBody>
                    <a:bodyPr lIns="95250" tIns="95250" rIns="95250" bIns="95250"/>
                    <a:lstStyle/>
                    <a:p>
                      <a:pPr algn="l"/>
                      <a:r>
                        <a:rPr sz="1875" b="1">
                          <a:solidFill>
                            <a:srgbClr val="FFFFFF"/>
                          </a:solidFill>
                          <a:latin typeface="Arial"/>
                          <a:ea typeface="Arial"/>
                          <a:cs typeface="Arial"/>
                        </a:rPr>
                        <a:t>Mô hình</a:t>
                      </a:r>
                    </a:p>
                  </a:txBody>
                  <a:tcPr marL="91440" marR="91440" marT="45720" marB="45720" anchor="ctr">
                    <a:lnL w="9525">
                      <a:solidFill>
                        <a:srgbClr val="C2DFEC"/>
                      </a:solidFill>
                      <a:prstDash val="solid"/>
                    </a:lnL>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75" b="1">
                          <a:solidFill>
                            <a:srgbClr val="FFFFFF"/>
                          </a:solidFill>
                          <a:latin typeface="Arial"/>
                          <a:ea typeface="Arial"/>
                          <a:cs typeface="Arial"/>
                        </a:rPr>
                        <a:t>Precision</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75" b="1">
                          <a:solidFill>
                            <a:srgbClr val="FFFFFF"/>
                          </a:solidFill>
                          <a:latin typeface="Arial"/>
                          <a:ea typeface="Arial"/>
                          <a:cs typeface="Arial"/>
                        </a:rPr>
                        <a:t>Recall</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75" b="1">
                          <a:solidFill>
                            <a:srgbClr val="FFFFFF"/>
                          </a:solidFill>
                          <a:latin typeface="Arial"/>
                          <a:ea typeface="Arial"/>
                          <a:cs typeface="Arial"/>
                        </a:rPr>
                        <a:t>F1</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75" b="1">
                          <a:solidFill>
                            <a:srgbClr val="FFFFFF"/>
                          </a:solidFill>
                          <a:latin typeface="Arial"/>
                          <a:ea typeface="Arial"/>
                          <a:cs typeface="Arial"/>
                        </a:rPr>
                        <a:t>AP</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r>
              <a:tr h="561975">
                <a:tc>
                  <a:txBody>
                    <a:bodyPr lIns="95250" tIns="95250" rIns="95250" bIns="95250"/>
                    <a:lstStyle/>
                    <a:p>
                      <a:pPr algn="l"/>
                      <a:r>
                        <a:rPr sz="1875" b="0">
                          <a:solidFill>
                            <a:srgbClr val="0D2648"/>
                          </a:solidFill>
                          <a:latin typeface="Arial"/>
                          <a:ea typeface="Arial"/>
                          <a:cs typeface="Arial"/>
                        </a:rPr>
                        <a:t>Logistic Regression</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0,0544</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0,8947</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0,1025</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0,8137</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561975">
                <a:tc>
                  <a:txBody>
                    <a:bodyPr lIns="95250" tIns="95250" rIns="95250" bIns="95250"/>
                    <a:lstStyle/>
                    <a:p>
                      <a:pPr algn="l"/>
                      <a:r>
                        <a:rPr sz="1875" b="1">
                          <a:solidFill>
                            <a:srgbClr val="0D2648"/>
                          </a:solidFill>
                          <a:latin typeface="Arial"/>
                          <a:ea typeface="Arial"/>
                          <a:cs typeface="Arial"/>
                        </a:rPr>
                        <a:t>Random Forest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E8F8FC"/>
                    </a:solidFill>
                  </a:tcPr>
                </a:tc>
                <a:tc>
                  <a:txBody>
                    <a:bodyPr lIns="95250" tIns="95250" rIns="95250" bIns="95250"/>
                    <a:lstStyle/>
                    <a:p>
                      <a:pPr algn="ctr"/>
                      <a:r>
                        <a:rPr sz="1875" b="1">
                          <a:solidFill>
                            <a:srgbClr val="0D2648"/>
                          </a:solidFill>
                          <a:latin typeface="Arial"/>
                          <a:ea typeface="Arial"/>
                          <a:cs typeface="Arial"/>
                        </a:rPr>
                        <a:t>0,9545</a:t>
                      </a:r>
                    </a:p>
                  </a:txBody>
                  <a:tcPr marL="91440" marR="91440" marT="45720" marB="45720" anchor="ctr">
                    <a:lnR w="9525">
                      <a:solidFill>
                        <a:srgbClr val="C2DFEC"/>
                      </a:solidFill>
                      <a:prstDash val="solid"/>
                    </a:lnR>
                    <a:lnB w="9525">
                      <a:solidFill>
                        <a:srgbClr val="C2DFEC"/>
                      </a:solidFill>
                      <a:prstDash val="solid"/>
                    </a:lnB>
                    <a:solidFill>
                      <a:srgbClr val="E8F8FC"/>
                    </a:solidFill>
                  </a:tcPr>
                </a:tc>
                <a:tc>
                  <a:txBody>
                    <a:bodyPr lIns="95250" tIns="95250" rIns="95250" bIns="95250"/>
                    <a:lstStyle/>
                    <a:p>
                      <a:pPr algn="ctr"/>
                      <a:r>
                        <a:rPr sz="1875" b="1">
                          <a:solidFill>
                            <a:srgbClr val="0D2648"/>
                          </a:solidFill>
                          <a:latin typeface="Arial"/>
                          <a:ea typeface="Arial"/>
                          <a:cs typeface="Arial"/>
                        </a:rPr>
                        <a:t>0,8289</a:t>
                      </a:r>
                    </a:p>
                  </a:txBody>
                  <a:tcPr marL="91440" marR="91440" marT="45720" marB="45720" anchor="ctr">
                    <a:lnR w="9525">
                      <a:solidFill>
                        <a:srgbClr val="C2DFEC"/>
                      </a:solidFill>
                      <a:prstDash val="solid"/>
                    </a:lnR>
                    <a:lnB w="9525">
                      <a:solidFill>
                        <a:srgbClr val="C2DFEC"/>
                      </a:solidFill>
                      <a:prstDash val="solid"/>
                    </a:lnB>
                    <a:solidFill>
                      <a:srgbClr val="E8F8FC"/>
                    </a:solidFill>
                  </a:tcPr>
                </a:tc>
                <a:tc>
                  <a:txBody>
                    <a:bodyPr lIns="95250" tIns="95250" rIns="95250" bIns="95250"/>
                    <a:lstStyle/>
                    <a:p>
                      <a:pPr algn="ctr"/>
                      <a:r>
                        <a:rPr sz="1875" b="1">
                          <a:solidFill>
                            <a:srgbClr val="0D2648"/>
                          </a:solidFill>
                          <a:latin typeface="Arial"/>
                          <a:ea typeface="Arial"/>
                          <a:cs typeface="Arial"/>
                        </a:rPr>
                        <a:t>0,8873</a:t>
                      </a:r>
                    </a:p>
                  </a:txBody>
                  <a:tcPr marL="91440" marR="91440" marT="45720" marB="45720" anchor="ctr">
                    <a:lnR w="9525">
                      <a:solidFill>
                        <a:srgbClr val="C2DFEC"/>
                      </a:solidFill>
                      <a:prstDash val="solid"/>
                    </a:lnR>
                    <a:lnB w="9525">
                      <a:solidFill>
                        <a:srgbClr val="C2DFEC"/>
                      </a:solidFill>
                      <a:prstDash val="solid"/>
                    </a:lnB>
                    <a:solidFill>
                      <a:srgbClr val="E8F8FC"/>
                    </a:solidFill>
                  </a:tcPr>
                </a:tc>
                <a:tc>
                  <a:txBody>
                    <a:bodyPr lIns="95250" tIns="95250" rIns="95250" bIns="95250"/>
                    <a:lstStyle/>
                    <a:p>
                      <a:pPr algn="ctr"/>
                      <a:r>
                        <a:rPr sz="1875" b="1">
                          <a:solidFill>
                            <a:srgbClr val="0D2648"/>
                          </a:solidFill>
                          <a:latin typeface="Arial"/>
                          <a:ea typeface="Arial"/>
                          <a:cs typeface="Arial"/>
                        </a:rPr>
                        <a:t>0,8778</a:t>
                      </a:r>
                    </a:p>
                  </a:txBody>
                  <a:tcPr marL="91440" marR="91440" marT="45720" marB="45720" anchor="ctr">
                    <a:lnR w="9525">
                      <a:solidFill>
                        <a:srgbClr val="C2DFEC"/>
                      </a:solidFill>
                      <a:prstDash val="solid"/>
                    </a:lnR>
                    <a:lnB w="9525">
                      <a:solidFill>
                        <a:srgbClr val="C2DFEC"/>
                      </a:solidFill>
                      <a:prstDash val="solid"/>
                    </a:lnB>
                    <a:solidFill>
                      <a:srgbClr val="E8F8FC"/>
                    </a:solidFill>
                  </a:tcPr>
                </a:tc>
              </a:tr>
              <a:tr h="561975">
                <a:tc>
                  <a:txBody>
                    <a:bodyPr lIns="95250" tIns="95250" rIns="95250" bIns="95250"/>
                    <a:lstStyle/>
                    <a:p>
                      <a:pPr algn="l"/>
                      <a:r>
                        <a:rPr sz="1875" b="0">
                          <a:solidFill>
                            <a:srgbClr val="0D2648"/>
                          </a:solidFill>
                          <a:latin typeface="Arial"/>
                          <a:ea typeface="Arial"/>
                          <a:cs typeface="Arial"/>
                        </a:rPr>
                        <a:t>XGBoost</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0,4820</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0,8816</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0,6233</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75" b="0">
                          <a:solidFill>
                            <a:srgbClr val="0D2648"/>
                          </a:solidFill>
                          <a:latin typeface="Arial"/>
                          <a:ea typeface="Arial"/>
                          <a:cs typeface="Arial"/>
                        </a:rPr>
                        <a:t>0,8616</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E769B3E1-1253-4E37-A56A-C5F440669349}"/>
              </a:ext>
            </a:extLst>
          </p:cNvPr>
          <p:cNvGraphicFramePr/>
          <p:nvPr/>
        </p:nvGraphicFramePr>
        <p:xfrm>
          <a:off xmlns:a="http://schemas.openxmlformats.org/drawingml/2006/main" x="1428750" y="4410075"/>
          <a:ext xmlns:a="http://schemas.openxmlformats.org/drawingml/2006/main" cx="9239250" cy="1619250"/>
        </p:xfrm>
        <a:graphic xmlns:a="http://schemas.openxmlformats.org/drawingml/2006/main">
          <a:graphicData uri="http://schemas.openxmlformats.org/drawingml/2006/chart">
            <c:chart xmlns:r="http://schemas.openxmlformats.org/officeDocument/2006/relationships" xmlns:c="http://schemas.openxmlformats.org/drawingml/2006/chart" r:id="Rc6967c83c7fc46e5"/>
          </a:graphicData>
        </a:graphic>
      </p:graphicFrame>
      <p:sp>
        <p:nvSpPr>
          <p:cNvPr id="6" name="text-108">
            <a:extLst xmlns:a="http://schemas.openxmlformats.org/drawingml/2006/main">
              <a:ext uri="{FF2B5EF4-FFF2-40B4-BE49-F238E27FC236}">
                <a16:creationId xmlns:a16="http://schemas.microsoft.com/office/drawing/2014/main" id="{B309748C-5F98-4921-8A54-39AFFCAF54CA}"/>
              </a:ext>
            </a:extLst>
          </p:cNvPr>
          <p:cNvSpPr>
            <a:spLocks xmlns:a="http://schemas.openxmlformats.org/drawingml/2006/main" noGrp="1"/>
          </p:cNvSpPr>
          <p:nvPr/>
        </p:nvSpPr>
        <p:spPr>
          <a:xfrm xmlns:a="http://schemas.openxmlformats.org/drawingml/2006/main">
            <a:off x="904875" y="62198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13E7A"/>
                </a:solidFill>
                <a:latin typeface="Arial"/>
                <a:ea typeface="Arial"/>
                <a:cs typeface="Arial"/>
              </a:defRPr>
            </a:defPPr>
            <a:lvl1pPr algn="ctr">
              <a:defRPr sz="1725" b="1">
                <a:solidFill>
                  <a:srgbClr val="113E7A"/>
                </a:solidFill>
                <a:latin typeface="Arial"/>
                <a:ea typeface="Arial"/>
                <a:cs typeface="Arial"/>
              </a:defRPr>
            </a:lvl1pPr>
            <a:lvl2pPr algn="ctr">
              <a:defRPr sz="1725" b="1">
                <a:solidFill>
                  <a:srgbClr val="113E7A"/>
                </a:solidFill>
                <a:latin typeface="Arial"/>
                <a:ea typeface="Arial"/>
                <a:cs typeface="Arial"/>
              </a:defRPr>
            </a:lvl2pPr>
            <a:lvl3pPr algn="ctr">
              <a:defRPr sz="1725" b="1">
                <a:solidFill>
                  <a:srgbClr val="113E7A"/>
                </a:solidFill>
                <a:latin typeface="Arial"/>
                <a:ea typeface="Arial"/>
                <a:cs typeface="Arial"/>
              </a:defRPr>
            </a:lvl3pPr>
            <a:lvl4pPr algn="ctr">
              <a:defRPr sz="1725" b="1">
                <a:solidFill>
                  <a:srgbClr val="113E7A"/>
                </a:solidFill>
                <a:latin typeface="Arial"/>
                <a:ea typeface="Arial"/>
                <a:cs typeface="Arial"/>
              </a:defRPr>
            </a:lvl4pPr>
            <a:lvl5pPr algn="ctr">
              <a:defRPr sz="1725" b="1">
                <a:solidFill>
                  <a:srgbClr val="113E7A"/>
                </a:solidFill>
                <a:latin typeface="Arial"/>
                <a:ea typeface="Arial"/>
                <a:cs typeface="Arial"/>
              </a:defRPr>
            </a:lvl5pPr>
            <a:lvl6pPr algn="ctr">
              <a:defRPr sz="1725" b="1">
                <a:solidFill>
                  <a:srgbClr val="113E7A"/>
                </a:solidFill>
                <a:latin typeface="Arial"/>
                <a:ea typeface="Arial"/>
                <a:cs typeface="Arial"/>
              </a:defRPr>
            </a:lvl6pPr>
            <a:lvl7pPr algn="ctr">
              <a:defRPr sz="1725" b="1">
                <a:solidFill>
                  <a:srgbClr val="113E7A"/>
                </a:solidFill>
                <a:latin typeface="Arial"/>
                <a:ea typeface="Arial"/>
                <a:cs typeface="Arial"/>
              </a:defRPr>
            </a:lvl7pPr>
            <a:lvl8pPr algn="ctr">
              <a:defRPr sz="1725" b="1">
                <a:solidFill>
                  <a:srgbClr val="113E7A"/>
                </a:solidFill>
                <a:latin typeface="Arial"/>
                <a:ea typeface="Arial"/>
                <a:cs typeface="Arial"/>
              </a:defRPr>
            </a:lvl8pPr>
            <a:lvl9pPr algn="ctr">
              <a:defRPr sz="1725" b="1">
                <a:solidFill>
                  <a:srgbClr val="113E7A"/>
                </a:solidFill>
                <a:latin typeface="Arial"/>
                <a:ea typeface="Arial"/>
                <a:cs typeface="Arial"/>
              </a:defRPr>
            </a:lvl9pPr>
          </a:lstStyle>
          <a:p xmlns:a="http://schemas.openxmlformats.org/drawingml/2006/main">
            <a:pPr algn="ctr">
              <a:lnSpc>
                <a:spcPct val="113000"/>
              </a:lnSpc>
              <a:buNone/>
              <a:defRPr sz="1725" b="1">
                <a:solidFill>
                  <a:srgbClr val="113E7A"/>
                </a:solidFill>
                <a:latin typeface="Arial"/>
                <a:ea typeface="Arial"/>
                <a:cs typeface="Arial"/>
              </a:defRPr>
            </a:pPr>
            <a:r>
              <a:rPr sz="1725" b="1">
                <a:solidFill>
                  <a:srgbClr val="113E7A"/>
                </a:solidFill>
                <a:latin typeface="Arial"/>
                <a:ea typeface="Arial"/>
                <a:cs typeface="Arial"/>
              </a:rPr>
              <a:t>Cấu hình tốt nhất của mỗi thuật toán, ngưỡng 0,50. Random Forest có AP cao nhất.</a:t>
            </a:r>
          </a:p>
        </p:txBody>
      </p:sp>
    </p:spTree>
    <p:extLst>
      <p:ext uri="{BB962C8B-B14F-4D97-AF65-F5344CB8AC3E}">
        <p14:creationId xmlns:p14="http://schemas.microsoft.com/office/powerpoint/2010/main" val="1774895325"/>
      </p:ext>
    </p:extLst>
  </p:cSld>
</p:sld>
</file>

<file path=ppt/slides/slide11.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0B2EFEA-8005-4E45-91FD-39EFAC8410AC}"/>
              </a:ext>
            </a:extLst>
          </p:cNvPr>
          <p:cNvPicPr>
            <a:picLocks xmlns:a="http://schemas.openxmlformats.org/drawingml/2006/main" noChangeAspect="1"/>
          </p:cNvPicPr>
          <p:nvPr/>
        </p:nvPicPr>
        <p:blipFill>
          <a:blip xmlns:r="http://schemas.openxmlformats.org/officeDocument/2006/relationships" xmlns:a="http://schemas.openxmlformats.org/drawingml/2006/main" r:embed="R10526861c96f47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09">
            <a:extLst xmlns:a="http://schemas.openxmlformats.org/drawingml/2006/main">
              <a:ext uri="{FF2B5EF4-FFF2-40B4-BE49-F238E27FC236}">
                <a16:creationId xmlns:a16="http://schemas.microsoft.com/office/drawing/2014/main" id="{3E11ECA7-A354-4E79-86E3-0D1BBADCABD2}"/>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Lựa chọn Random Forest và ngưỡng</a:t>
            </a:r>
          </a:p>
        </p:txBody>
      </p:sp>
      <p:sp>
        <p:nvSpPr>
          <p:cNvPr id="3" name="text-110">
            <a:extLst xmlns:a="http://schemas.openxmlformats.org/drawingml/2006/main">
              <a:ext uri="{FF2B5EF4-FFF2-40B4-BE49-F238E27FC236}">
                <a16:creationId xmlns:a16="http://schemas.microsoft.com/office/drawing/2014/main" id="{DB18F84B-6F9B-42BA-95CE-3F6DD4EF4BF8}"/>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11</a:t>
            </a:r>
          </a:p>
        </p:txBody>
      </p:sp>
      <p:sp>
        <p:nvSpPr>
          <p:cNvPr id="4" name="text-111">
            <a:extLst xmlns:a="http://schemas.openxmlformats.org/drawingml/2006/main">
              <a:ext uri="{FF2B5EF4-FFF2-40B4-BE49-F238E27FC236}">
                <a16:creationId xmlns:a16="http://schemas.microsoft.com/office/drawing/2014/main" id="{566D5721-9C47-4ED4-BC9B-A2B016F70D31}"/>
              </a:ext>
            </a:extLst>
          </p:cNvPr>
          <p:cNvSpPr>
            <a:spLocks xmlns:a="http://schemas.openxmlformats.org/drawingml/2006/main" noGrp="1"/>
          </p:cNvSpPr>
          <p:nvPr/>
        </p:nvSpPr>
        <p:spPr>
          <a:xfrm xmlns:a="http://schemas.openxmlformats.org/drawingml/2006/main">
            <a:off x="952500" y="18669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13E7A"/>
                </a:solidFill>
                <a:latin typeface="Arial"/>
                <a:ea typeface="Arial"/>
                <a:cs typeface="Arial"/>
              </a:defRPr>
            </a:defPPr>
            <a:lvl1pPr algn="l">
              <a:defRPr sz="3225" b="1">
                <a:solidFill>
                  <a:srgbClr val="113E7A"/>
                </a:solidFill>
                <a:latin typeface="Arial"/>
                <a:ea typeface="Arial"/>
                <a:cs typeface="Arial"/>
              </a:defRPr>
            </a:lvl1pPr>
            <a:lvl2pPr algn="l">
              <a:defRPr sz="3225" b="1">
                <a:solidFill>
                  <a:srgbClr val="113E7A"/>
                </a:solidFill>
                <a:latin typeface="Arial"/>
                <a:ea typeface="Arial"/>
                <a:cs typeface="Arial"/>
              </a:defRPr>
            </a:lvl2pPr>
            <a:lvl3pPr algn="l">
              <a:defRPr sz="3225" b="1">
                <a:solidFill>
                  <a:srgbClr val="113E7A"/>
                </a:solidFill>
                <a:latin typeface="Arial"/>
                <a:ea typeface="Arial"/>
                <a:cs typeface="Arial"/>
              </a:defRPr>
            </a:lvl3pPr>
            <a:lvl4pPr algn="l">
              <a:defRPr sz="3225" b="1">
                <a:solidFill>
                  <a:srgbClr val="113E7A"/>
                </a:solidFill>
                <a:latin typeface="Arial"/>
                <a:ea typeface="Arial"/>
                <a:cs typeface="Arial"/>
              </a:defRPr>
            </a:lvl4pPr>
            <a:lvl5pPr algn="l">
              <a:defRPr sz="3225" b="1">
                <a:solidFill>
                  <a:srgbClr val="113E7A"/>
                </a:solidFill>
                <a:latin typeface="Arial"/>
                <a:ea typeface="Arial"/>
                <a:cs typeface="Arial"/>
              </a:defRPr>
            </a:lvl5pPr>
            <a:lvl6pPr algn="l">
              <a:defRPr sz="3225" b="1">
                <a:solidFill>
                  <a:srgbClr val="113E7A"/>
                </a:solidFill>
                <a:latin typeface="Arial"/>
                <a:ea typeface="Arial"/>
                <a:cs typeface="Arial"/>
              </a:defRPr>
            </a:lvl6pPr>
            <a:lvl7pPr algn="l">
              <a:defRPr sz="3225" b="1">
                <a:solidFill>
                  <a:srgbClr val="113E7A"/>
                </a:solidFill>
                <a:latin typeface="Arial"/>
                <a:ea typeface="Arial"/>
                <a:cs typeface="Arial"/>
              </a:defRPr>
            </a:lvl7pPr>
            <a:lvl8pPr algn="l">
              <a:defRPr sz="3225" b="1">
                <a:solidFill>
                  <a:srgbClr val="113E7A"/>
                </a:solidFill>
                <a:latin typeface="Arial"/>
                <a:ea typeface="Arial"/>
                <a:cs typeface="Arial"/>
              </a:defRPr>
            </a:lvl8pPr>
            <a:lvl9pPr algn="l">
              <a:defRPr sz="3225" b="1">
                <a:solidFill>
                  <a:srgbClr val="113E7A"/>
                </a:solidFill>
                <a:latin typeface="Arial"/>
                <a:ea typeface="Arial"/>
                <a:cs typeface="Arial"/>
              </a:defRPr>
            </a:lvl9pPr>
          </a:lstStyle>
          <a:p xmlns:a="http://schemas.openxmlformats.org/drawingml/2006/main">
            <a:pPr algn="l">
              <a:lnSpc>
                <a:spcPct val="113000"/>
              </a:lnSpc>
              <a:buNone/>
              <a:defRPr sz="3225" b="1">
                <a:solidFill>
                  <a:srgbClr val="113E7A"/>
                </a:solidFill>
                <a:latin typeface="Arial"/>
                <a:ea typeface="Arial"/>
                <a:cs typeface="Arial"/>
              </a:defRPr>
            </a:pPr>
            <a:r>
              <a:rPr sz="3225" b="1">
                <a:solidFill>
                  <a:srgbClr val="113E7A"/>
                </a:solidFill>
                <a:latin typeface="Arial"/>
                <a:ea typeface="Arial"/>
                <a:cs typeface="Arial"/>
              </a:rPr>
              <a:t>rf_leaf2</a:t>
            </a:r>
          </a:p>
        </p:txBody>
      </p:sp>
      <p:sp>
        <p:nvSpPr>
          <p:cNvPr id="5" name="text-112">
            <a:extLst xmlns:a="http://schemas.openxmlformats.org/drawingml/2006/main">
              <a:ext uri="{FF2B5EF4-FFF2-40B4-BE49-F238E27FC236}">
                <a16:creationId xmlns:a16="http://schemas.microsoft.com/office/drawing/2014/main" id="{8C1D646E-5E35-4ADD-AE54-8254D00F3668}"/>
              </a:ext>
            </a:extLst>
          </p:cNvPr>
          <p:cNvSpPr>
            <a:spLocks xmlns:a="http://schemas.openxmlformats.org/drawingml/2006/main" noGrp="1"/>
          </p:cNvSpPr>
          <p:nvPr/>
        </p:nvSpPr>
        <p:spPr>
          <a:xfrm xmlns:a="http://schemas.openxmlformats.org/drawingml/2006/main">
            <a:off x="971550" y="262890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168CD"/>
                </a:solidFill>
                <a:latin typeface="Arial"/>
                <a:ea typeface="Arial"/>
                <a:cs typeface="Arial"/>
              </a:defRPr>
            </a:defPPr>
            <a:lvl1pPr algn="l">
              <a:defRPr sz="2175" b="1">
                <a:solidFill>
                  <a:srgbClr val="3168CD"/>
                </a:solidFill>
                <a:latin typeface="Arial"/>
                <a:ea typeface="Arial"/>
                <a:cs typeface="Arial"/>
              </a:defRPr>
            </a:lvl1pPr>
            <a:lvl2pPr algn="l">
              <a:defRPr sz="2175" b="1">
                <a:solidFill>
                  <a:srgbClr val="3168CD"/>
                </a:solidFill>
                <a:latin typeface="Arial"/>
                <a:ea typeface="Arial"/>
                <a:cs typeface="Arial"/>
              </a:defRPr>
            </a:lvl2pPr>
            <a:lvl3pPr algn="l">
              <a:defRPr sz="2175" b="1">
                <a:solidFill>
                  <a:srgbClr val="3168CD"/>
                </a:solidFill>
                <a:latin typeface="Arial"/>
                <a:ea typeface="Arial"/>
                <a:cs typeface="Arial"/>
              </a:defRPr>
            </a:lvl3pPr>
            <a:lvl4pPr algn="l">
              <a:defRPr sz="2175" b="1">
                <a:solidFill>
                  <a:srgbClr val="3168CD"/>
                </a:solidFill>
                <a:latin typeface="Arial"/>
                <a:ea typeface="Arial"/>
                <a:cs typeface="Arial"/>
              </a:defRPr>
            </a:lvl4pPr>
            <a:lvl5pPr algn="l">
              <a:defRPr sz="2175" b="1">
                <a:solidFill>
                  <a:srgbClr val="3168CD"/>
                </a:solidFill>
                <a:latin typeface="Arial"/>
                <a:ea typeface="Arial"/>
                <a:cs typeface="Arial"/>
              </a:defRPr>
            </a:lvl5pPr>
            <a:lvl6pPr algn="l">
              <a:defRPr sz="2175" b="1">
                <a:solidFill>
                  <a:srgbClr val="3168CD"/>
                </a:solidFill>
                <a:latin typeface="Arial"/>
                <a:ea typeface="Arial"/>
                <a:cs typeface="Arial"/>
              </a:defRPr>
            </a:lvl6pPr>
            <a:lvl7pPr algn="l">
              <a:defRPr sz="2175" b="1">
                <a:solidFill>
                  <a:srgbClr val="3168CD"/>
                </a:solidFill>
                <a:latin typeface="Arial"/>
                <a:ea typeface="Arial"/>
                <a:cs typeface="Arial"/>
              </a:defRPr>
            </a:lvl7pPr>
            <a:lvl8pPr algn="l">
              <a:defRPr sz="2175" b="1">
                <a:solidFill>
                  <a:srgbClr val="3168CD"/>
                </a:solidFill>
                <a:latin typeface="Arial"/>
                <a:ea typeface="Arial"/>
                <a:cs typeface="Arial"/>
              </a:defRPr>
            </a:lvl8pPr>
            <a:lvl9pPr algn="l">
              <a:defRPr sz="2175" b="1">
                <a:solidFill>
                  <a:srgbClr val="3168CD"/>
                </a:solidFill>
                <a:latin typeface="Arial"/>
                <a:ea typeface="Arial"/>
                <a:cs typeface="Arial"/>
              </a:defRPr>
            </a:lvl9pPr>
          </a:lstStyle>
          <a:p xmlns:a="http://schemas.openxmlformats.org/drawingml/2006/main">
            <a:pPr algn="l">
              <a:lnSpc>
                <a:spcPct val="113000"/>
              </a:lnSpc>
              <a:buNone/>
              <a:defRPr sz="2175" b="1">
                <a:solidFill>
                  <a:srgbClr val="3168CD"/>
                </a:solidFill>
                <a:latin typeface="Arial"/>
                <a:ea typeface="Arial"/>
                <a:cs typeface="Arial"/>
              </a:defRPr>
            </a:pPr>
            <a:r>
              <a:rPr sz="2175" b="1">
                <a:solidFill>
                  <a:srgbClr val="3168CD"/>
                </a:solidFill>
                <a:latin typeface="Arial"/>
                <a:ea typeface="Arial"/>
                <a:cs typeface="Arial"/>
              </a:rPr>
              <a:t>AP validation: 0,8778</a:t>
            </a:r>
          </a:p>
          <a:p xmlns:a="http://schemas.openxmlformats.org/drawingml/2006/main">
            <a:pPr algn="l">
              <a:lnSpc>
                <a:spcPct val="113000"/>
              </a:lnSpc>
              <a:buNone/>
              <a:defRPr sz="2175" b="1">
                <a:solidFill>
                  <a:srgbClr val="3168CD"/>
                </a:solidFill>
                <a:latin typeface="Arial"/>
                <a:ea typeface="Arial"/>
                <a:cs typeface="Arial"/>
              </a:defRPr>
            </a:pPr>
            <a:r>
              <a:rPr sz="2175" b="1">
                <a:solidFill>
                  <a:srgbClr val="3168CD"/>
                </a:solidFill>
                <a:latin typeface="Arial"/>
                <a:ea typeface="Arial"/>
                <a:cs typeface="Arial"/>
              </a:rPr>
              <a:t>F1 tại ngưỡng 0,50: 0,8873</a:t>
            </a:r>
          </a:p>
        </p:txBody>
      </p:sp>
      <p:sp>
        <p:nvSpPr>
          <p:cNvPr id="6" name="text-113">
            <a:extLst xmlns:a="http://schemas.openxmlformats.org/drawingml/2006/main">
              <a:ext uri="{FF2B5EF4-FFF2-40B4-BE49-F238E27FC236}">
                <a16:creationId xmlns:a16="http://schemas.microsoft.com/office/drawing/2014/main" id="{BDEECC3F-089A-415C-8CD2-066E8AAF7207}"/>
              </a:ext>
            </a:extLst>
          </p:cNvPr>
          <p:cNvSpPr>
            <a:spLocks xmlns:a="http://schemas.openxmlformats.org/drawingml/2006/main" noGrp="1"/>
          </p:cNvSpPr>
          <p:nvPr/>
        </p:nvSpPr>
        <p:spPr>
          <a:xfrm xmlns:a="http://schemas.openxmlformats.org/drawingml/2006/main">
            <a:off x="971550" y="3800475"/>
            <a:ext cx="4143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100 cây, min_samples_leaf = 2</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class_weight = balanced</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max_depth = None, seed = 42</a:t>
            </a:r>
          </a:p>
        </p:txBody>
      </p:sp>
      <p:sp>
        <p:nvSpPr>
          <p:cNvPr id="7" name="text-114">
            <a:extLst xmlns:a="http://schemas.openxmlformats.org/drawingml/2006/main">
              <a:ext uri="{FF2B5EF4-FFF2-40B4-BE49-F238E27FC236}">
                <a16:creationId xmlns:a16="http://schemas.microsoft.com/office/drawing/2014/main" id="{A1CBB7D9-A7A2-466C-83F1-52549FF0F0E5}"/>
              </a:ext>
            </a:extLst>
          </p:cNvPr>
          <p:cNvSpPr>
            <a:spLocks xmlns:a="http://schemas.openxmlformats.org/drawingml/2006/main" noGrp="1"/>
          </p:cNvSpPr>
          <p:nvPr/>
        </p:nvSpPr>
        <p:spPr>
          <a:xfrm xmlns:a="http://schemas.openxmlformats.org/drawingml/2006/main">
            <a:off x="971550" y="5429250"/>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3E7A"/>
                </a:solidFill>
                <a:latin typeface="Arial"/>
                <a:ea typeface="Arial"/>
                <a:cs typeface="Arial"/>
              </a:defRPr>
            </a:defPPr>
            <a:lvl1pPr algn="l">
              <a:defRPr sz="2325" b="1">
                <a:solidFill>
                  <a:srgbClr val="113E7A"/>
                </a:solidFill>
                <a:latin typeface="Arial"/>
                <a:ea typeface="Arial"/>
                <a:cs typeface="Arial"/>
              </a:defRPr>
            </a:lvl1pPr>
            <a:lvl2pPr algn="l">
              <a:defRPr sz="2325" b="1">
                <a:solidFill>
                  <a:srgbClr val="113E7A"/>
                </a:solidFill>
                <a:latin typeface="Arial"/>
                <a:ea typeface="Arial"/>
                <a:cs typeface="Arial"/>
              </a:defRPr>
            </a:lvl2pPr>
            <a:lvl3pPr algn="l">
              <a:defRPr sz="2325" b="1">
                <a:solidFill>
                  <a:srgbClr val="113E7A"/>
                </a:solidFill>
                <a:latin typeface="Arial"/>
                <a:ea typeface="Arial"/>
                <a:cs typeface="Arial"/>
              </a:defRPr>
            </a:lvl3pPr>
            <a:lvl4pPr algn="l">
              <a:defRPr sz="2325" b="1">
                <a:solidFill>
                  <a:srgbClr val="113E7A"/>
                </a:solidFill>
                <a:latin typeface="Arial"/>
                <a:ea typeface="Arial"/>
                <a:cs typeface="Arial"/>
              </a:defRPr>
            </a:lvl4pPr>
            <a:lvl5pPr algn="l">
              <a:defRPr sz="2325" b="1">
                <a:solidFill>
                  <a:srgbClr val="113E7A"/>
                </a:solidFill>
                <a:latin typeface="Arial"/>
                <a:ea typeface="Arial"/>
                <a:cs typeface="Arial"/>
              </a:defRPr>
            </a:lvl5pPr>
            <a:lvl6pPr algn="l">
              <a:defRPr sz="2325" b="1">
                <a:solidFill>
                  <a:srgbClr val="113E7A"/>
                </a:solidFill>
                <a:latin typeface="Arial"/>
                <a:ea typeface="Arial"/>
                <a:cs typeface="Arial"/>
              </a:defRPr>
            </a:lvl6pPr>
            <a:lvl7pPr algn="l">
              <a:defRPr sz="2325" b="1">
                <a:solidFill>
                  <a:srgbClr val="113E7A"/>
                </a:solidFill>
                <a:latin typeface="Arial"/>
                <a:ea typeface="Arial"/>
                <a:cs typeface="Arial"/>
              </a:defRPr>
            </a:lvl7pPr>
            <a:lvl8pPr algn="l">
              <a:defRPr sz="2325" b="1">
                <a:solidFill>
                  <a:srgbClr val="113E7A"/>
                </a:solidFill>
                <a:latin typeface="Arial"/>
                <a:ea typeface="Arial"/>
                <a:cs typeface="Arial"/>
              </a:defRPr>
            </a:lvl8pPr>
            <a:lvl9pPr algn="l">
              <a:defRPr sz="2325" b="1">
                <a:solidFill>
                  <a:srgbClr val="113E7A"/>
                </a:solidFill>
                <a:latin typeface="Arial"/>
                <a:ea typeface="Arial"/>
                <a:cs typeface="Arial"/>
              </a:defRPr>
            </a:lvl9pPr>
          </a:lstStyle>
          <a:p xmlns:a="http://schemas.openxmlformats.org/drawingml/2006/main">
            <a:pPr algn="l">
              <a:lnSpc>
                <a:spcPct val="113000"/>
              </a:lnSpc>
              <a:buNone/>
              <a:defRPr sz="2325" b="1">
                <a:solidFill>
                  <a:srgbClr val="113E7A"/>
                </a:solidFill>
                <a:latin typeface="Arial"/>
                <a:ea typeface="Arial"/>
                <a:cs typeface="Arial"/>
              </a:defRPr>
            </a:pPr>
            <a:r>
              <a:rPr sz="2325" b="1">
                <a:solidFill>
                  <a:srgbClr val="113E7A"/>
                </a:solidFill>
                <a:latin typeface="Arial"/>
                <a:ea typeface="Arial"/>
                <a:cs typeface="Arial"/>
              </a:rPr>
              <a:t>Ngưỡng chọn: 0,37</a:t>
            </a:r>
          </a:p>
          <a:p xmlns:a="http://schemas.openxmlformats.org/drawingml/2006/main">
            <a:pPr algn="l">
              <a:lnSpc>
                <a:spcPct val="113000"/>
              </a:lnSpc>
              <a:buNone/>
              <a:defRPr sz="2325" b="1">
                <a:solidFill>
                  <a:srgbClr val="113E7A"/>
                </a:solidFill>
                <a:latin typeface="Arial"/>
                <a:ea typeface="Arial"/>
                <a:cs typeface="Arial"/>
              </a:defRPr>
            </a:pPr>
            <a:r>
              <a:rPr sz="2325" b="1">
                <a:solidFill>
                  <a:srgbClr val="113E7A"/>
                </a:solidFill>
                <a:latin typeface="Arial"/>
                <a:ea typeface="Arial"/>
                <a:cs typeface="Arial"/>
              </a:rPr>
              <a:t>F1 validation: 0,8966</a:t>
            </a:r>
          </a:p>
        </p:txBody>
      </p:sp>
      <p:pic>
        <p:nvPicPr>
          <p:cNvPr id="8" name="">
            <a:extLst xmlns:a="http://schemas.openxmlformats.org/drawingml/2006/main">
              <a:ext uri="{FF2B5EF4-FFF2-40B4-BE49-F238E27FC236}">
                <a16:creationId xmlns:a16="http://schemas.microsoft.com/office/drawing/2014/main" id="{D96A1BE0-15F7-4F3B-87FB-BDD5816A4FB2}"/>
              </a:ext>
            </a:extLst>
          </p:cNvPr>
          <p:cNvPicPr>
            <a:picLocks xmlns:a="http://schemas.openxmlformats.org/drawingml/2006/main" noChangeAspect="1"/>
          </p:cNvPicPr>
          <p:nvPr/>
        </p:nvPicPr>
        <p:blipFill>
          <a:blip xmlns:r="http://schemas.openxmlformats.org/officeDocument/2006/relationships" xmlns:a="http://schemas.openxmlformats.org/drawingml/2006/main" r:embed="R177987fbf55e4d99"/>
          <a:stretch xmlns:a="http://schemas.openxmlformats.org/drawingml/2006/main"/>
        </p:blipFill>
        <p:spPr>
          <a:xfrm xmlns:a="http://schemas.openxmlformats.org/drawingml/2006/main">
            <a:off x="5276850" y="2055201"/>
            <a:ext cx="6191250" cy="3376248"/>
          </a:xfrm>
          <a:prstGeom xmlns:a="http://schemas.openxmlformats.org/drawingml/2006/main" prst="rect">
            <a:avLst/>
          </a:prstGeom>
        </p:spPr>
      </p:pic>
      <p:sp>
        <p:nvSpPr>
          <p:cNvPr id="9" name="text-115">
            <a:extLst xmlns:a="http://schemas.openxmlformats.org/drawingml/2006/main">
              <a:ext uri="{FF2B5EF4-FFF2-40B4-BE49-F238E27FC236}">
                <a16:creationId xmlns:a16="http://schemas.microsoft.com/office/drawing/2014/main" id="{E1C2DE57-88AF-4306-A50D-EB03FC191079}"/>
              </a:ext>
            </a:extLst>
          </p:cNvPr>
          <p:cNvSpPr>
            <a:spLocks xmlns:a="http://schemas.openxmlformats.org/drawingml/2006/main" noGrp="1"/>
          </p:cNvSpPr>
          <p:nvPr/>
        </p:nvSpPr>
        <p:spPr>
          <a:xfrm xmlns:a="http://schemas.openxmlformats.org/drawingml/2006/main">
            <a:off x="5362575" y="573405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0D2648"/>
                </a:solidFill>
                <a:latin typeface="Arial"/>
                <a:ea typeface="Arial"/>
                <a:cs typeface="Arial"/>
              </a:defRPr>
            </a:defPPr>
            <a:lvl1pPr algn="ctr">
              <a:defRPr sz="1725" b="0">
                <a:solidFill>
                  <a:srgbClr val="0D2648"/>
                </a:solidFill>
                <a:latin typeface="Arial"/>
                <a:ea typeface="Arial"/>
                <a:cs typeface="Arial"/>
              </a:defRPr>
            </a:lvl1pPr>
            <a:lvl2pPr algn="ctr">
              <a:defRPr sz="1725" b="0">
                <a:solidFill>
                  <a:srgbClr val="0D2648"/>
                </a:solidFill>
                <a:latin typeface="Arial"/>
                <a:ea typeface="Arial"/>
                <a:cs typeface="Arial"/>
              </a:defRPr>
            </a:lvl2pPr>
            <a:lvl3pPr algn="ctr">
              <a:defRPr sz="1725" b="0">
                <a:solidFill>
                  <a:srgbClr val="0D2648"/>
                </a:solidFill>
                <a:latin typeface="Arial"/>
                <a:ea typeface="Arial"/>
                <a:cs typeface="Arial"/>
              </a:defRPr>
            </a:lvl3pPr>
            <a:lvl4pPr algn="ctr">
              <a:defRPr sz="1725" b="0">
                <a:solidFill>
                  <a:srgbClr val="0D2648"/>
                </a:solidFill>
                <a:latin typeface="Arial"/>
                <a:ea typeface="Arial"/>
                <a:cs typeface="Arial"/>
              </a:defRPr>
            </a:lvl4pPr>
            <a:lvl5pPr algn="ctr">
              <a:defRPr sz="1725" b="0">
                <a:solidFill>
                  <a:srgbClr val="0D2648"/>
                </a:solidFill>
                <a:latin typeface="Arial"/>
                <a:ea typeface="Arial"/>
                <a:cs typeface="Arial"/>
              </a:defRPr>
            </a:lvl5pPr>
            <a:lvl6pPr algn="ctr">
              <a:defRPr sz="1725" b="0">
                <a:solidFill>
                  <a:srgbClr val="0D2648"/>
                </a:solidFill>
                <a:latin typeface="Arial"/>
                <a:ea typeface="Arial"/>
                <a:cs typeface="Arial"/>
              </a:defRPr>
            </a:lvl6pPr>
            <a:lvl7pPr algn="ctr">
              <a:defRPr sz="1725" b="0">
                <a:solidFill>
                  <a:srgbClr val="0D2648"/>
                </a:solidFill>
                <a:latin typeface="Arial"/>
                <a:ea typeface="Arial"/>
                <a:cs typeface="Arial"/>
              </a:defRPr>
            </a:lvl7pPr>
            <a:lvl8pPr algn="ctr">
              <a:defRPr sz="1725" b="0">
                <a:solidFill>
                  <a:srgbClr val="0D2648"/>
                </a:solidFill>
                <a:latin typeface="Arial"/>
                <a:ea typeface="Arial"/>
                <a:cs typeface="Arial"/>
              </a:defRPr>
            </a:lvl8pPr>
            <a:lvl9pPr algn="ctr">
              <a:defRPr sz="1725" b="0">
                <a:solidFill>
                  <a:srgbClr val="0D2648"/>
                </a:solidFill>
                <a:latin typeface="Arial"/>
                <a:ea typeface="Arial"/>
                <a:cs typeface="Arial"/>
              </a:defRPr>
            </a:lvl9pPr>
          </a:lstStyle>
          <a:p xmlns:a="http://schemas.openxmlformats.org/drawingml/2006/main">
            <a:pPr algn="ctr">
              <a:lnSpc>
                <a:spcPct val="113000"/>
              </a:lnSpc>
              <a:buNone/>
              <a:defRPr sz="1725" b="0">
                <a:solidFill>
                  <a:srgbClr val="0D2648"/>
                </a:solidFill>
                <a:latin typeface="Arial"/>
                <a:ea typeface="Arial"/>
                <a:cs typeface="Arial"/>
              </a:defRPr>
            </a:pPr>
            <a:r>
              <a:rPr sz="1725" b="0">
                <a:solidFill>
                  <a:srgbClr val="0D2648"/>
                </a:solidFill>
                <a:latin typeface="Arial"/>
                <a:ea typeface="Arial"/>
                <a:cs typeface="Arial"/>
              </a:rPr>
              <a:t>Ngưỡng chốt trên validation trước khi đọc test.</a:t>
            </a:r>
          </a:p>
          <a:p xmlns:a="http://schemas.openxmlformats.org/drawingml/2006/main">
            <a:pPr algn="ctr">
              <a:lnSpc>
                <a:spcPct val="113000"/>
              </a:lnSpc>
              <a:buNone/>
              <a:defRPr sz="1725" b="0">
                <a:solidFill>
                  <a:srgbClr val="0D2648"/>
                </a:solidFill>
                <a:latin typeface="Arial"/>
                <a:ea typeface="Arial"/>
                <a:cs typeface="Arial"/>
              </a:defRPr>
            </a:pPr>
            <a:r>
              <a:rPr sz="1725" b="0">
                <a:solidFill>
                  <a:srgbClr val="0D2648"/>
                </a:solidFill>
                <a:latin typeface="Arial"/>
                <a:ea typeface="Arial"/>
                <a:cs typeface="Arial"/>
              </a:rPr>
              <a:t>Accuracy cao vẫn có thể bỏ sót gian lận.</a:t>
            </a:r>
          </a:p>
        </p:txBody>
      </p:sp>
    </p:spTree>
    <p:extLst>
      <p:ext uri="{BB962C8B-B14F-4D97-AF65-F5344CB8AC3E}">
        <p14:creationId xmlns:p14="http://schemas.microsoft.com/office/powerpoint/2010/main" val="1454306137"/>
      </p:ext>
    </p:extLst>
  </p:cSld>
</p:sld>
</file>

<file path=ppt/slides/slide12.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9FEA923D-929D-4B2C-BB18-E9A65E24E1A3}"/>
              </a:ext>
            </a:extLst>
          </p:cNvPr>
          <p:cNvPicPr>
            <a:picLocks xmlns:a="http://schemas.openxmlformats.org/drawingml/2006/main" noChangeAspect="1"/>
          </p:cNvPicPr>
          <p:nvPr/>
        </p:nvPicPr>
        <p:blipFill>
          <a:blip xmlns:r="http://schemas.openxmlformats.org/officeDocument/2006/relationships" xmlns:a="http://schemas.openxmlformats.org/drawingml/2006/main" r:embed="Rda63e3d87c0a4c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16">
            <a:extLst xmlns:a="http://schemas.openxmlformats.org/drawingml/2006/main">
              <a:ext uri="{FF2B5EF4-FFF2-40B4-BE49-F238E27FC236}">
                <a16:creationId xmlns:a16="http://schemas.microsoft.com/office/drawing/2014/main" id="{F11FD941-E1F5-4B39-BEDA-AED18E3266FC}"/>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Đánh giá cuối cùng trên tập test</a:t>
            </a:r>
          </a:p>
        </p:txBody>
      </p:sp>
      <p:sp>
        <p:nvSpPr>
          <p:cNvPr id="3" name="text-117">
            <a:extLst xmlns:a="http://schemas.openxmlformats.org/drawingml/2006/main">
              <a:ext uri="{FF2B5EF4-FFF2-40B4-BE49-F238E27FC236}">
                <a16:creationId xmlns:a16="http://schemas.microsoft.com/office/drawing/2014/main" id="{F3477F98-14E3-46D4-9997-0E93168240D3}"/>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12</a:t>
            </a:r>
          </a:p>
        </p:txBody>
      </p:sp>
      <p:sp>
        <p:nvSpPr>
          <p:cNvPr id="4" name="text-118">
            <a:extLst xmlns:a="http://schemas.openxmlformats.org/drawingml/2006/main">
              <a:ext uri="{FF2B5EF4-FFF2-40B4-BE49-F238E27FC236}">
                <a16:creationId xmlns:a16="http://schemas.microsoft.com/office/drawing/2014/main" id="{B222C717-D7B8-46FC-B20E-4FF2911641D7}"/>
              </a:ext>
            </a:extLst>
          </p:cNvPr>
          <p:cNvSpPr>
            <a:spLocks xmlns:a="http://schemas.openxmlformats.org/drawingml/2006/main" noGrp="1"/>
          </p:cNvSpPr>
          <p:nvPr/>
        </p:nvSpPr>
        <p:spPr>
          <a:xfrm xmlns:a="http://schemas.openxmlformats.org/drawingml/2006/main">
            <a:off x="933450" y="17335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0D2648"/>
                </a:solidFill>
                <a:latin typeface="Arial"/>
                <a:ea typeface="Arial"/>
                <a:cs typeface="Arial"/>
              </a:defRPr>
            </a:defPPr>
            <a:lvl1pPr algn="ctr">
              <a:defRPr sz="1800" b="0">
                <a:solidFill>
                  <a:srgbClr val="0D2648"/>
                </a:solidFill>
                <a:latin typeface="Arial"/>
                <a:ea typeface="Arial"/>
                <a:cs typeface="Arial"/>
              </a:defRPr>
            </a:lvl1pPr>
            <a:lvl2pPr algn="ctr">
              <a:defRPr sz="1800" b="0">
                <a:solidFill>
                  <a:srgbClr val="0D2648"/>
                </a:solidFill>
                <a:latin typeface="Arial"/>
                <a:ea typeface="Arial"/>
                <a:cs typeface="Arial"/>
              </a:defRPr>
            </a:lvl2pPr>
            <a:lvl3pPr algn="ctr">
              <a:defRPr sz="1800" b="0">
                <a:solidFill>
                  <a:srgbClr val="0D2648"/>
                </a:solidFill>
                <a:latin typeface="Arial"/>
                <a:ea typeface="Arial"/>
                <a:cs typeface="Arial"/>
              </a:defRPr>
            </a:lvl3pPr>
            <a:lvl4pPr algn="ctr">
              <a:defRPr sz="1800" b="0">
                <a:solidFill>
                  <a:srgbClr val="0D2648"/>
                </a:solidFill>
                <a:latin typeface="Arial"/>
                <a:ea typeface="Arial"/>
                <a:cs typeface="Arial"/>
              </a:defRPr>
            </a:lvl4pPr>
            <a:lvl5pPr algn="ctr">
              <a:defRPr sz="1800" b="0">
                <a:solidFill>
                  <a:srgbClr val="0D2648"/>
                </a:solidFill>
                <a:latin typeface="Arial"/>
                <a:ea typeface="Arial"/>
                <a:cs typeface="Arial"/>
              </a:defRPr>
            </a:lvl5pPr>
            <a:lvl6pPr algn="ctr">
              <a:defRPr sz="1800" b="0">
                <a:solidFill>
                  <a:srgbClr val="0D2648"/>
                </a:solidFill>
                <a:latin typeface="Arial"/>
                <a:ea typeface="Arial"/>
                <a:cs typeface="Arial"/>
              </a:defRPr>
            </a:lvl6pPr>
            <a:lvl7pPr algn="ctr">
              <a:defRPr sz="1800" b="0">
                <a:solidFill>
                  <a:srgbClr val="0D2648"/>
                </a:solidFill>
                <a:latin typeface="Arial"/>
                <a:ea typeface="Arial"/>
                <a:cs typeface="Arial"/>
              </a:defRPr>
            </a:lvl7pPr>
            <a:lvl8pPr algn="ctr">
              <a:defRPr sz="1800" b="0">
                <a:solidFill>
                  <a:srgbClr val="0D2648"/>
                </a:solidFill>
                <a:latin typeface="Arial"/>
                <a:ea typeface="Arial"/>
                <a:cs typeface="Arial"/>
              </a:defRPr>
            </a:lvl8pPr>
            <a:lvl9pPr algn="ctr">
              <a:defRPr sz="1800" b="0">
                <a:solidFill>
                  <a:srgbClr val="0D2648"/>
                </a:solidFill>
                <a:latin typeface="Arial"/>
                <a:ea typeface="Arial"/>
                <a:cs typeface="Arial"/>
              </a:defRPr>
            </a:lvl9pPr>
          </a:lstStyle>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Precision</a:t>
            </a:r>
          </a:p>
        </p:txBody>
      </p:sp>
      <p:sp>
        <p:nvSpPr>
          <p:cNvPr id="5" name="text-119">
            <a:extLst xmlns:a="http://schemas.openxmlformats.org/drawingml/2006/main">
              <a:ext uri="{FF2B5EF4-FFF2-40B4-BE49-F238E27FC236}">
                <a16:creationId xmlns:a16="http://schemas.microsoft.com/office/drawing/2014/main" id="{972DE4CE-911B-462F-B215-E3A6490B9EBC}"/>
              </a:ext>
            </a:extLst>
          </p:cNvPr>
          <p:cNvSpPr>
            <a:spLocks xmlns:a="http://schemas.openxmlformats.org/drawingml/2006/main" noGrp="1"/>
          </p:cNvSpPr>
          <p:nvPr/>
        </p:nvSpPr>
        <p:spPr>
          <a:xfrm xmlns:a="http://schemas.openxmlformats.org/drawingml/2006/main">
            <a:off x="933450" y="2095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113E7A"/>
                </a:solidFill>
                <a:latin typeface="Arial"/>
                <a:ea typeface="Arial"/>
                <a:cs typeface="Arial"/>
              </a:defRPr>
            </a:defPPr>
            <a:lvl1pPr algn="ctr">
              <a:defRPr sz="3375" b="1">
                <a:solidFill>
                  <a:srgbClr val="113E7A"/>
                </a:solidFill>
                <a:latin typeface="Arial"/>
                <a:ea typeface="Arial"/>
                <a:cs typeface="Arial"/>
              </a:defRPr>
            </a:lvl1pPr>
            <a:lvl2pPr algn="ctr">
              <a:defRPr sz="3375" b="1">
                <a:solidFill>
                  <a:srgbClr val="113E7A"/>
                </a:solidFill>
                <a:latin typeface="Arial"/>
                <a:ea typeface="Arial"/>
                <a:cs typeface="Arial"/>
              </a:defRPr>
            </a:lvl2pPr>
            <a:lvl3pPr algn="ctr">
              <a:defRPr sz="3375" b="1">
                <a:solidFill>
                  <a:srgbClr val="113E7A"/>
                </a:solidFill>
                <a:latin typeface="Arial"/>
                <a:ea typeface="Arial"/>
                <a:cs typeface="Arial"/>
              </a:defRPr>
            </a:lvl3pPr>
            <a:lvl4pPr algn="ctr">
              <a:defRPr sz="3375" b="1">
                <a:solidFill>
                  <a:srgbClr val="113E7A"/>
                </a:solidFill>
                <a:latin typeface="Arial"/>
                <a:ea typeface="Arial"/>
                <a:cs typeface="Arial"/>
              </a:defRPr>
            </a:lvl4pPr>
            <a:lvl5pPr algn="ctr">
              <a:defRPr sz="3375" b="1">
                <a:solidFill>
                  <a:srgbClr val="113E7A"/>
                </a:solidFill>
                <a:latin typeface="Arial"/>
                <a:ea typeface="Arial"/>
                <a:cs typeface="Arial"/>
              </a:defRPr>
            </a:lvl5pPr>
            <a:lvl6pPr algn="ctr">
              <a:defRPr sz="3375" b="1">
                <a:solidFill>
                  <a:srgbClr val="113E7A"/>
                </a:solidFill>
                <a:latin typeface="Arial"/>
                <a:ea typeface="Arial"/>
                <a:cs typeface="Arial"/>
              </a:defRPr>
            </a:lvl6pPr>
            <a:lvl7pPr algn="ctr">
              <a:defRPr sz="3375" b="1">
                <a:solidFill>
                  <a:srgbClr val="113E7A"/>
                </a:solidFill>
                <a:latin typeface="Arial"/>
                <a:ea typeface="Arial"/>
                <a:cs typeface="Arial"/>
              </a:defRPr>
            </a:lvl7pPr>
            <a:lvl8pPr algn="ctr">
              <a:defRPr sz="3375" b="1">
                <a:solidFill>
                  <a:srgbClr val="113E7A"/>
                </a:solidFill>
                <a:latin typeface="Arial"/>
                <a:ea typeface="Arial"/>
                <a:cs typeface="Arial"/>
              </a:defRPr>
            </a:lvl8pPr>
            <a:lvl9pPr algn="ctr">
              <a:defRPr sz="3375" b="1">
                <a:solidFill>
                  <a:srgbClr val="113E7A"/>
                </a:solidFill>
                <a:latin typeface="Arial"/>
                <a:ea typeface="Arial"/>
                <a:cs typeface="Arial"/>
              </a:defRPr>
            </a:lvl9pPr>
          </a:lstStyle>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0,9589</a:t>
            </a:r>
          </a:p>
        </p:txBody>
      </p:sp>
      <p:sp>
        <p:nvSpPr>
          <p:cNvPr id="6" name="text-120">
            <a:extLst xmlns:a="http://schemas.openxmlformats.org/drawingml/2006/main">
              <a:ext uri="{FF2B5EF4-FFF2-40B4-BE49-F238E27FC236}">
                <a16:creationId xmlns:a16="http://schemas.microsoft.com/office/drawing/2014/main" id="{F5D5EBFA-9851-4130-8007-CED74630AF54}"/>
              </a:ext>
            </a:extLst>
          </p:cNvPr>
          <p:cNvSpPr>
            <a:spLocks xmlns:a="http://schemas.openxmlformats.org/drawingml/2006/main" noGrp="1"/>
          </p:cNvSpPr>
          <p:nvPr/>
        </p:nvSpPr>
        <p:spPr>
          <a:xfrm xmlns:a="http://schemas.openxmlformats.org/drawingml/2006/main">
            <a:off x="3657600" y="17335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0D2648"/>
                </a:solidFill>
                <a:latin typeface="Arial"/>
                <a:ea typeface="Arial"/>
                <a:cs typeface="Arial"/>
              </a:defRPr>
            </a:defPPr>
            <a:lvl1pPr algn="ctr">
              <a:defRPr sz="1800" b="0">
                <a:solidFill>
                  <a:srgbClr val="0D2648"/>
                </a:solidFill>
                <a:latin typeface="Arial"/>
                <a:ea typeface="Arial"/>
                <a:cs typeface="Arial"/>
              </a:defRPr>
            </a:lvl1pPr>
            <a:lvl2pPr algn="ctr">
              <a:defRPr sz="1800" b="0">
                <a:solidFill>
                  <a:srgbClr val="0D2648"/>
                </a:solidFill>
                <a:latin typeface="Arial"/>
                <a:ea typeface="Arial"/>
                <a:cs typeface="Arial"/>
              </a:defRPr>
            </a:lvl2pPr>
            <a:lvl3pPr algn="ctr">
              <a:defRPr sz="1800" b="0">
                <a:solidFill>
                  <a:srgbClr val="0D2648"/>
                </a:solidFill>
                <a:latin typeface="Arial"/>
                <a:ea typeface="Arial"/>
                <a:cs typeface="Arial"/>
              </a:defRPr>
            </a:lvl3pPr>
            <a:lvl4pPr algn="ctr">
              <a:defRPr sz="1800" b="0">
                <a:solidFill>
                  <a:srgbClr val="0D2648"/>
                </a:solidFill>
                <a:latin typeface="Arial"/>
                <a:ea typeface="Arial"/>
                <a:cs typeface="Arial"/>
              </a:defRPr>
            </a:lvl4pPr>
            <a:lvl5pPr algn="ctr">
              <a:defRPr sz="1800" b="0">
                <a:solidFill>
                  <a:srgbClr val="0D2648"/>
                </a:solidFill>
                <a:latin typeface="Arial"/>
                <a:ea typeface="Arial"/>
                <a:cs typeface="Arial"/>
              </a:defRPr>
            </a:lvl5pPr>
            <a:lvl6pPr algn="ctr">
              <a:defRPr sz="1800" b="0">
                <a:solidFill>
                  <a:srgbClr val="0D2648"/>
                </a:solidFill>
                <a:latin typeface="Arial"/>
                <a:ea typeface="Arial"/>
                <a:cs typeface="Arial"/>
              </a:defRPr>
            </a:lvl6pPr>
            <a:lvl7pPr algn="ctr">
              <a:defRPr sz="1800" b="0">
                <a:solidFill>
                  <a:srgbClr val="0D2648"/>
                </a:solidFill>
                <a:latin typeface="Arial"/>
                <a:ea typeface="Arial"/>
                <a:cs typeface="Arial"/>
              </a:defRPr>
            </a:lvl7pPr>
            <a:lvl8pPr algn="ctr">
              <a:defRPr sz="1800" b="0">
                <a:solidFill>
                  <a:srgbClr val="0D2648"/>
                </a:solidFill>
                <a:latin typeface="Arial"/>
                <a:ea typeface="Arial"/>
                <a:cs typeface="Arial"/>
              </a:defRPr>
            </a:lvl8pPr>
            <a:lvl9pPr algn="ctr">
              <a:defRPr sz="1800" b="0">
                <a:solidFill>
                  <a:srgbClr val="0D2648"/>
                </a:solidFill>
                <a:latin typeface="Arial"/>
                <a:ea typeface="Arial"/>
                <a:cs typeface="Arial"/>
              </a:defRPr>
            </a:lvl9pPr>
          </a:lstStyle>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Recall</a:t>
            </a:r>
          </a:p>
        </p:txBody>
      </p:sp>
      <p:sp>
        <p:nvSpPr>
          <p:cNvPr id="7" name="text-121">
            <a:extLst xmlns:a="http://schemas.openxmlformats.org/drawingml/2006/main">
              <a:ext uri="{FF2B5EF4-FFF2-40B4-BE49-F238E27FC236}">
                <a16:creationId xmlns:a16="http://schemas.microsoft.com/office/drawing/2014/main" id="{50D0171A-56E7-4FC3-BE0B-232B78749EC3}"/>
              </a:ext>
            </a:extLst>
          </p:cNvPr>
          <p:cNvSpPr>
            <a:spLocks xmlns:a="http://schemas.openxmlformats.org/drawingml/2006/main" noGrp="1"/>
          </p:cNvSpPr>
          <p:nvPr/>
        </p:nvSpPr>
        <p:spPr>
          <a:xfrm xmlns:a="http://schemas.openxmlformats.org/drawingml/2006/main">
            <a:off x="3657600" y="2095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113E7A"/>
                </a:solidFill>
                <a:latin typeface="Arial"/>
                <a:ea typeface="Arial"/>
                <a:cs typeface="Arial"/>
              </a:defRPr>
            </a:defPPr>
            <a:lvl1pPr algn="ctr">
              <a:defRPr sz="3375" b="1">
                <a:solidFill>
                  <a:srgbClr val="113E7A"/>
                </a:solidFill>
                <a:latin typeface="Arial"/>
                <a:ea typeface="Arial"/>
                <a:cs typeface="Arial"/>
              </a:defRPr>
            </a:lvl1pPr>
            <a:lvl2pPr algn="ctr">
              <a:defRPr sz="3375" b="1">
                <a:solidFill>
                  <a:srgbClr val="113E7A"/>
                </a:solidFill>
                <a:latin typeface="Arial"/>
                <a:ea typeface="Arial"/>
                <a:cs typeface="Arial"/>
              </a:defRPr>
            </a:lvl2pPr>
            <a:lvl3pPr algn="ctr">
              <a:defRPr sz="3375" b="1">
                <a:solidFill>
                  <a:srgbClr val="113E7A"/>
                </a:solidFill>
                <a:latin typeface="Arial"/>
                <a:ea typeface="Arial"/>
                <a:cs typeface="Arial"/>
              </a:defRPr>
            </a:lvl3pPr>
            <a:lvl4pPr algn="ctr">
              <a:defRPr sz="3375" b="1">
                <a:solidFill>
                  <a:srgbClr val="113E7A"/>
                </a:solidFill>
                <a:latin typeface="Arial"/>
                <a:ea typeface="Arial"/>
                <a:cs typeface="Arial"/>
              </a:defRPr>
            </a:lvl4pPr>
            <a:lvl5pPr algn="ctr">
              <a:defRPr sz="3375" b="1">
                <a:solidFill>
                  <a:srgbClr val="113E7A"/>
                </a:solidFill>
                <a:latin typeface="Arial"/>
                <a:ea typeface="Arial"/>
                <a:cs typeface="Arial"/>
              </a:defRPr>
            </a:lvl5pPr>
            <a:lvl6pPr algn="ctr">
              <a:defRPr sz="3375" b="1">
                <a:solidFill>
                  <a:srgbClr val="113E7A"/>
                </a:solidFill>
                <a:latin typeface="Arial"/>
                <a:ea typeface="Arial"/>
                <a:cs typeface="Arial"/>
              </a:defRPr>
            </a:lvl6pPr>
            <a:lvl7pPr algn="ctr">
              <a:defRPr sz="3375" b="1">
                <a:solidFill>
                  <a:srgbClr val="113E7A"/>
                </a:solidFill>
                <a:latin typeface="Arial"/>
                <a:ea typeface="Arial"/>
                <a:cs typeface="Arial"/>
              </a:defRPr>
            </a:lvl7pPr>
            <a:lvl8pPr algn="ctr">
              <a:defRPr sz="3375" b="1">
                <a:solidFill>
                  <a:srgbClr val="113E7A"/>
                </a:solidFill>
                <a:latin typeface="Arial"/>
                <a:ea typeface="Arial"/>
                <a:cs typeface="Arial"/>
              </a:defRPr>
            </a:lvl8pPr>
            <a:lvl9pPr algn="ctr">
              <a:defRPr sz="3375" b="1">
                <a:solidFill>
                  <a:srgbClr val="113E7A"/>
                </a:solidFill>
                <a:latin typeface="Arial"/>
                <a:ea typeface="Arial"/>
                <a:cs typeface="Arial"/>
              </a:defRPr>
            </a:lvl9pPr>
          </a:lstStyle>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0,7368</a:t>
            </a:r>
          </a:p>
        </p:txBody>
      </p:sp>
      <p:sp>
        <p:nvSpPr>
          <p:cNvPr id="8" name="text-122">
            <a:extLst xmlns:a="http://schemas.openxmlformats.org/drawingml/2006/main">
              <a:ext uri="{FF2B5EF4-FFF2-40B4-BE49-F238E27FC236}">
                <a16:creationId xmlns:a16="http://schemas.microsoft.com/office/drawing/2014/main" id="{471B7F7A-109F-42E7-88D4-70E44DF38039}"/>
              </a:ext>
            </a:extLst>
          </p:cNvPr>
          <p:cNvSpPr>
            <a:spLocks xmlns:a="http://schemas.openxmlformats.org/drawingml/2006/main" noGrp="1"/>
          </p:cNvSpPr>
          <p:nvPr/>
        </p:nvSpPr>
        <p:spPr>
          <a:xfrm xmlns:a="http://schemas.openxmlformats.org/drawingml/2006/main">
            <a:off x="6381750" y="17335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0D2648"/>
                </a:solidFill>
                <a:latin typeface="Arial"/>
                <a:ea typeface="Arial"/>
                <a:cs typeface="Arial"/>
              </a:defRPr>
            </a:defPPr>
            <a:lvl1pPr algn="ctr">
              <a:defRPr sz="1800" b="0">
                <a:solidFill>
                  <a:srgbClr val="0D2648"/>
                </a:solidFill>
                <a:latin typeface="Arial"/>
                <a:ea typeface="Arial"/>
                <a:cs typeface="Arial"/>
              </a:defRPr>
            </a:lvl1pPr>
            <a:lvl2pPr algn="ctr">
              <a:defRPr sz="1800" b="0">
                <a:solidFill>
                  <a:srgbClr val="0D2648"/>
                </a:solidFill>
                <a:latin typeface="Arial"/>
                <a:ea typeface="Arial"/>
                <a:cs typeface="Arial"/>
              </a:defRPr>
            </a:lvl2pPr>
            <a:lvl3pPr algn="ctr">
              <a:defRPr sz="1800" b="0">
                <a:solidFill>
                  <a:srgbClr val="0D2648"/>
                </a:solidFill>
                <a:latin typeface="Arial"/>
                <a:ea typeface="Arial"/>
                <a:cs typeface="Arial"/>
              </a:defRPr>
            </a:lvl3pPr>
            <a:lvl4pPr algn="ctr">
              <a:defRPr sz="1800" b="0">
                <a:solidFill>
                  <a:srgbClr val="0D2648"/>
                </a:solidFill>
                <a:latin typeface="Arial"/>
                <a:ea typeface="Arial"/>
                <a:cs typeface="Arial"/>
              </a:defRPr>
            </a:lvl4pPr>
            <a:lvl5pPr algn="ctr">
              <a:defRPr sz="1800" b="0">
                <a:solidFill>
                  <a:srgbClr val="0D2648"/>
                </a:solidFill>
                <a:latin typeface="Arial"/>
                <a:ea typeface="Arial"/>
                <a:cs typeface="Arial"/>
              </a:defRPr>
            </a:lvl5pPr>
            <a:lvl6pPr algn="ctr">
              <a:defRPr sz="1800" b="0">
                <a:solidFill>
                  <a:srgbClr val="0D2648"/>
                </a:solidFill>
                <a:latin typeface="Arial"/>
                <a:ea typeface="Arial"/>
                <a:cs typeface="Arial"/>
              </a:defRPr>
            </a:lvl6pPr>
            <a:lvl7pPr algn="ctr">
              <a:defRPr sz="1800" b="0">
                <a:solidFill>
                  <a:srgbClr val="0D2648"/>
                </a:solidFill>
                <a:latin typeface="Arial"/>
                <a:ea typeface="Arial"/>
                <a:cs typeface="Arial"/>
              </a:defRPr>
            </a:lvl7pPr>
            <a:lvl8pPr algn="ctr">
              <a:defRPr sz="1800" b="0">
                <a:solidFill>
                  <a:srgbClr val="0D2648"/>
                </a:solidFill>
                <a:latin typeface="Arial"/>
                <a:ea typeface="Arial"/>
                <a:cs typeface="Arial"/>
              </a:defRPr>
            </a:lvl8pPr>
            <a:lvl9pPr algn="ctr">
              <a:defRPr sz="1800" b="0">
                <a:solidFill>
                  <a:srgbClr val="0D2648"/>
                </a:solidFill>
                <a:latin typeface="Arial"/>
                <a:ea typeface="Arial"/>
                <a:cs typeface="Arial"/>
              </a:defRPr>
            </a:lvl9pPr>
          </a:lstStyle>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F1-score</a:t>
            </a:r>
          </a:p>
        </p:txBody>
      </p:sp>
      <p:sp>
        <p:nvSpPr>
          <p:cNvPr id="9" name="text-123">
            <a:extLst xmlns:a="http://schemas.openxmlformats.org/drawingml/2006/main">
              <a:ext uri="{FF2B5EF4-FFF2-40B4-BE49-F238E27FC236}">
                <a16:creationId xmlns:a16="http://schemas.microsoft.com/office/drawing/2014/main" id="{5012B31A-F8AD-4506-9DF5-17D7E999DC78}"/>
              </a:ext>
            </a:extLst>
          </p:cNvPr>
          <p:cNvSpPr>
            <a:spLocks xmlns:a="http://schemas.openxmlformats.org/drawingml/2006/main" noGrp="1"/>
          </p:cNvSpPr>
          <p:nvPr/>
        </p:nvSpPr>
        <p:spPr>
          <a:xfrm xmlns:a="http://schemas.openxmlformats.org/drawingml/2006/main">
            <a:off x="6381750" y="2095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113E7A"/>
                </a:solidFill>
                <a:latin typeface="Arial"/>
                <a:ea typeface="Arial"/>
                <a:cs typeface="Arial"/>
              </a:defRPr>
            </a:defPPr>
            <a:lvl1pPr algn="ctr">
              <a:defRPr sz="3375" b="1">
                <a:solidFill>
                  <a:srgbClr val="113E7A"/>
                </a:solidFill>
                <a:latin typeface="Arial"/>
                <a:ea typeface="Arial"/>
                <a:cs typeface="Arial"/>
              </a:defRPr>
            </a:lvl1pPr>
            <a:lvl2pPr algn="ctr">
              <a:defRPr sz="3375" b="1">
                <a:solidFill>
                  <a:srgbClr val="113E7A"/>
                </a:solidFill>
                <a:latin typeface="Arial"/>
                <a:ea typeface="Arial"/>
                <a:cs typeface="Arial"/>
              </a:defRPr>
            </a:lvl2pPr>
            <a:lvl3pPr algn="ctr">
              <a:defRPr sz="3375" b="1">
                <a:solidFill>
                  <a:srgbClr val="113E7A"/>
                </a:solidFill>
                <a:latin typeface="Arial"/>
                <a:ea typeface="Arial"/>
                <a:cs typeface="Arial"/>
              </a:defRPr>
            </a:lvl3pPr>
            <a:lvl4pPr algn="ctr">
              <a:defRPr sz="3375" b="1">
                <a:solidFill>
                  <a:srgbClr val="113E7A"/>
                </a:solidFill>
                <a:latin typeface="Arial"/>
                <a:ea typeface="Arial"/>
                <a:cs typeface="Arial"/>
              </a:defRPr>
            </a:lvl4pPr>
            <a:lvl5pPr algn="ctr">
              <a:defRPr sz="3375" b="1">
                <a:solidFill>
                  <a:srgbClr val="113E7A"/>
                </a:solidFill>
                <a:latin typeface="Arial"/>
                <a:ea typeface="Arial"/>
                <a:cs typeface="Arial"/>
              </a:defRPr>
            </a:lvl5pPr>
            <a:lvl6pPr algn="ctr">
              <a:defRPr sz="3375" b="1">
                <a:solidFill>
                  <a:srgbClr val="113E7A"/>
                </a:solidFill>
                <a:latin typeface="Arial"/>
                <a:ea typeface="Arial"/>
                <a:cs typeface="Arial"/>
              </a:defRPr>
            </a:lvl6pPr>
            <a:lvl7pPr algn="ctr">
              <a:defRPr sz="3375" b="1">
                <a:solidFill>
                  <a:srgbClr val="113E7A"/>
                </a:solidFill>
                <a:latin typeface="Arial"/>
                <a:ea typeface="Arial"/>
                <a:cs typeface="Arial"/>
              </a:defRPr>
            </a:lvl7pPr>
            <a:lvl8pPr algn="ctr">
              <a:defRPr sz="3375" b="1">
                <a:solidFill>
                  <a:srgbClr val="113E7A"/>
                </a:solidFill>
                <a:latin typeface="Arial"/>
                <a:ea typeface="Arial"/>
                <a:cs typeface="Arial"/>
              </a:defRPr>
            </a:lvl8pPr>
            <a:lvl9pPr algn="ctr">
              <a:defRPr sz="3375" b="1">
                <a:solidFill>
                  <a:srgbClr val="113E7A"/>
                </a:solidFill>
                <a:latin typeface="Arial"/>
                <a:ea typeface="Arial"/>
                <a:cs typeface="Arial"/>
              </a:defRPr>
            </a:lvl9pPr>
          </a:lstStyle>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0,8333</a:t>
            </a:r>
          </a:p>
        </p:txBody>
      </p:sp>
      <p:sp>
        <p:nvSpPr>
          <p:cNvPr id="10" name="text-124">
            <a:extLst xmlns:a="http://schemas.openxmlformats.org/drawingml/2006/main">
              <a:ext uri="{FF2B5EF4-FFF2-40B4-BE49-F238E27FC236}">
                <a16:creationId xmlns:a16="http://schemas.microsoft.com/office/drawing/2014/main" id="{7BA69EAD-361A-4C71-8217-7BA28F8A4910}"/>
              </a:ext>
            </a:extLst>
          </p:cNvPr>
          <p:cNvSpPr>
            <a:spLocks xmlns:a="http://schemas.openxmlformats.org/drawingml/2006/main" noGrp="1"/>
          </p:cNvSpPr>
          <p:nvPr/>
        </p:nvSpPr>
        <p:spPr>
          <a:xfrm xmlns:a="http://schemas.openxmlformats.org/drawingml/2006/main">
            <a:off x="9105900" y="17335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0D2648"/>
                </a:solidFill>
                <a:latin typeface="Arial"/>
                <a:ea typeface="Arial"/>
                <a:cs typeface="Arial"/>
              </a:defRPr>
            </a:defPPr>
            <a:lvl1pPr algn="ctr">
              <a:defRPr sz="1800" b="0">
                <a:solidFill>
                  <a:srgbClr val="0D2648"/>
                </a:solidFill>
                <a:latin typeface="Arial"/>
                <a:ea typeface="Arial"/>
                <a:cs typeface="Arial"/>
              </a:defRPr>
            </a:lvl1pPr>
            <a:lvl2pPr algn="ctr">
              <a:defRPr sz="1800" b="0">
                <a:solidFill>
                  <a:srgbClr val="0D2648"/>
                </a:solidFill>
                <a:latin typeface="Arial"/>
                <a:ea typeface="Arial"/>
                <a:cs typeface="Arial"/>
              </a:defRPr>
            </a:lvl2pPr>
            <a:lvl3pPr algn="ctr">
              <a:defRPr sz="1800" b="0">
                <a:solidFill>
                  <a:srgbClr val="0D2648"/>
                </a:solidFill>
                <a:latin typeface="Arial"/>
                <a:ea typeface="Arial"/>
                <a:cs typeface="Arial"/>
              </a:defRPr>
            </a:lvl3pPr>
            <a:lvl4pPr algn="ctr">
              <a:defRPr sz="1800" b="0">
                <a:solidFill>
                  <a:srgbClr val="0D2648"/>
                </a:solidFill>
                <a:latin typeface="Arial"/>
                <a:ea typeface="Arial"/>
                <a:cs typeface="Arial"/>
              </a:defRPr>
            </a:lvl4pPr>
            <a:lvl5pPr algn="ctr">
              <a:defRPr sz="1800" b="0">
                <a:solidFill>
                  <a:srgbClr val="0D2648"/>
                </a:solidFill>
                <a:latin typeface="Arial"/>
                <a:ea typeface="Arial"/>
                <a:cs typeface="Arial"/>
              </a:defRPr>
            </a:lvl5pPr>
            <a:lvl6pPr algn="ctr">
              <a:defRPr sz="1800" b="0">
                <a:solidFill>
                  <a:srgbClr val="0D2648"/>
                </a:solidFill>
                <a:latin typeface="Arial"/>
                <a:ea typeface="Arial"/>
                <a:cs typeface="Arial"/>
              </a:defRPr>
            </a:lvl6pPr>
            <a:lvl7pPr algn="ctr">
              <a:defRPr sz="1800" b="0">
                <a:solidFill>
                  <a:srgbClr val="0D2648"/>
                </a:solidFill>
                <a:latin typeface="Arial"/>
                <a:ea typeface="Arial"/>
                <a:cs typeface="Arial"/>
              </a:defRPr>
            </a:lvl7pPr>
            <a:lvl8pPr algn="ctr">
              <a:defRPr sz="1800" b="0">
                <a:solidFill>
                  <a:srgbClr val="0D2648"/>
                </a:solidFill>
                <a:latin typeface="Arial"/>
                <a:ea typeface="Arial"/>
                <a:cs typeface="Arial"/>
              </a:defRPr>
            </a:lvl8pPr>
            <a:lvl9pPr algn="ctr">
              <a:defRPr sz="1800" b="0">
                <a:solidFill>
                  <a:srgbClr val="0D2648"/>
                </a:solidFill>
                <a:latin typeface="Arial"/>
                <a:ea typeface="Arial"/>
                <a:cs typeface="Arial"/>
              </a:defRPr>
            </a:lvl9pPr>
          </a:lstStyle>
          <a:p xmlns:a="http://schemas.openxmlformats.org/drawingml/2006/main">
            <a:pPr algn="ctr">
              <a:lnSpc>
                <a:spcPct val="113000"/>
              </a:lnSpc>
              <a:buNone/>
              <a:defRPr sz="1800" b="0">
                <a:solidFill>
                  <a:srgbClr val="0D2648"/>
                </a:solidFill>
                <a:latin typeface="Arial"/>
                <a:ea typeface="Arial"/>
                <a:cs typeface="Arial"/>
              </a:defRPr>
            </a:pPr>
            <a:r>
              <a:rPr sz="1800" b="0">
                <a:solidFill>
                  <a:srgbClr val="0D2648"/>
                </a:solidFill>
                <a:latin typeface="Arial"/>
                <a:ea typeface="Arial"/>
                <a:cs typeface="Arial"/>
              </a:rPr>
              <a:t>Average Precision</a:t>
            </a:r>
          </a:p>
        </p:txBody>
      </p:sp>
      <p:sp>
        <p:nvSpPr>
          <p:cNvPr id="11" name="text-125">
            <a:extLst xmlns:a="http://schemas.openxmlformats.org/drawingml/2006/main">
              <a:ext uri="{FF2B5EF4-FFF2-40B4-BE49-F238E27FC236}">
                <a16:creationId xmlns:a16="http://schemas.microsoft.com/office/drawing/2014/main" id="{13883563-2854-4741-9735-AB1A88D6B257}"/>
              </a:ext>
            </a:extLst>
          </p:cNvPr>
          <p:cNvSpPr>
            <a:spLocks xmlns:a="http://schemas.openxmlformats.org/drawingml/2006/main" noGrp="1"/>
          </p:cNvSpPr>
          <p:nvPr/>
        </p:nvSpPr>
        <p:spPr>
          <a:xfrm xmlns:a="http://schemas.openxmlformats.org/drawingml/2006/main">
            <a:off x="9105900" y="20955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375" b="1">
                <a:solidFill>
                  <a:srgbClr val="113E7A"/>
                </a:solidFill>
                <a:latin typeface="Arial"/>
                <a:ea typeface="Arial"/>
                <a:cs typeface="Arial"/>
              </a:defRPr>
            </a:defPPr>
            <a:lvl1pPr algn="ctr">
              <a:defRPr sz="3375" b="1">
                <a:solidFill>
                  <a:srgbClr val="113E7A"/>
                </a:solidFill>
                <a:latin typeface="Arial"/>
                <a:ea typeface="Arial"/>
                <a:cs typeface="Arial"/>
              </a:defRPr>
            </a:lvl1pPr>
            <a:lvl2pPr algn="ctr">
              <a:defRPr sz="3375" b="1">
                <a:solidFill>
                  <a:srgbClr val="113E7A"/>
                </a:solidFill>
                <a:latin typeface="Arial"/>
                <a:ea typeface="Arial"/>
                <a:cs typeface="Arial"/>
              </a:defRPr>
            </a:lvl2pPr>
            <a:lvl3pPr algn="ctr">
              <a:defRPr sz="3375" b="1">
                <a:solidFill>
                  <a:srgbClr val="113E7A"/>
                </a:solidFill>
                <a:latin typeface="Arial"/>
                <a:ea typeface="Arial"/>
                <a:cs typeface="Arial"/>
              </a:defRPr>
            </a:lvl3pPr>
            <a:lvl4pPr algn="ctr">
              <a:defRPr sz="3375" b="1">
                <a:solidFill>
                  <a:srgbClr val="113E7A"/>
                </a:solidFill>
                <a:latin typeface="Arial"/>
                <a:ea typeface="Arial"/>
                <a:cs typeface="Arial"/>
              </a:defRPr>
            </a:lvl4pPr>
            <a:lvl5pPr algn="ctr">
              <a:defRPr sz="3375" b="1">
                <a:solidFill>
                  <a:srgbClr val="113E7A"/>
                </a:solidFill>
                <a:latin typeface="Arial"/>
                <a:ea typeface="Arial"/>
                <a:cs typeface="Arial"/>
              </a:defRPr>
            </a:lvl5pPr>
            <a:lvl6pPr algn="ctr">
              <a:defRPr sz="3375" b="1">
                <a:solidFill>
                  <a:srgbClr val="113E7A"/>
                </a:solidFill>
                <a:latin typeface="Arial"/>
                <a:ea typeface="Arial"/>
                <a:cs typeface="Arial"/>
              </a:defRPr>
            </a:lvl6pPr>
            <a:lvl7pPr algn="ctr">
              <a:defRPr sz="3375" b="1">
                <a:solidFill>
                  <a:srgbClr val="113E7A"/>
                </a:solidFill>
                <a:latin typeface="Arial"/>
                <a:ea typeface="Arial"/>
                <a:cs typeface="Arial"/>
              </a:defRPr>
            </a:lvl7pPr>
            <a:lvl8pPr algn="ctr">
              <a:defRPr sz="3375" b="1">
                <a:solidFill>
                  <a:srgbClr val="113E7A"/>
                </a:solidFill>
                <a:latin typeface="Arial"/>
                <a:ea typeface="Arial"/>
                <a:cs typeface="Arial"/>
              </a:defRPr>
            </a:lvl8pPr>
            <a:lvl9pPr algn="ctr">
              <a:defRPr sz="3375" b="1">
                <a:solidFill>
                  <a:srgbClr val="113E7A"/>
                </a:solidFill>
                <a:latin typeface="Arial"/>
                <a:ea typeface="Arial"/>
                <a:cs typeface="Arial"/>
              </a:defRPr>
            </a:lvl9pPr>
          </a:lstStyle>
          <a:p xmlns:a="http://schemas.openxmlformats.org/drawingml/2006/main">
            <a:pPr algn="ctr">
              <a:lnSpc>
                <a:spcPct val="113000"/>
              </a:lnSpc>
              <a:buNone/>
              <a:defRPr sz="3375" b="1">
                <a:solidFill>
                  <a:srgbClr val="113E7A"/>
                </a:solidFill>
                <a:latin typeface="Arial"/>
                <a:ea typeface="Arial"/>
                <a:cs typeface="Arial"/>
              </a:defRPr>
            </a:pPr>
            <a:r>
              <a:rPr sz="3375" b="1">
                <a:solidFill>
                  <a:srgbClr val="113E7A"/>
                </a:solidFill>
                <a:latin typeface="Arial"/>
                <a:ea typeface="Arial"/>
                <a:cs typeface="Arial"/>
              </a:rPr>
              <a:t>0,8128</a:t>
            </a:r>
          </a:p>
        </p:txBody>
      </p:sp>
      <p:sp>
        <p:nvSpPr>
          <p:cNvPr id="12" name="text-126">
            <a:extLst xmlns:a="http://schemas.openxmlformats.org/drawingml/2006/main">
              <a:ext uri="{FF2B5EF4-FFF2-40B4-BE49-F238E27FC236}">
                <a16:creationId xmlns:a16="http://schemas.microsoft.com/office/drawing/2014/main" id="{4934DFD3-7636-4A17-8FA3-173534742957}"/>
              </a:ext>
            </a:extLst>
          </p:cNvPr>
          <p:cNvSpPr>
            <a:spLocks xmlns:a="http://schemas.openxmlformats.org/drawingml/2006/main" noGrp="1"/>
          </p:cNvSpPr>
          <p:nvPr/>
        </p:nvSpPr>
        <p:spPr>
          <a:xfrm xmlns:a="http://schemas.openxmlformats.org/drawingml/2006/main">
            <a:off x="952500" y="2962275"/>
            <a:ext cx="461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13E7A"/>
                </a:solidFill>
                <a:latin typeface="Arial"/>
                <a:ea typeface="Arial"/>
                <a:cs typeface="Arial"/>
              </a:defRPr>
            </a:defPPr>
            <a:lvl1pPr algn="ctr">
              <a:defRPr sz="2175" b="1">
                <a:solidFill>
                  <a:srgbClr val="113E7A"/>
                </a:solidFill>
                <a:latin typeface="Arial"/>
                <a:ea typeface="Arial"/>
                <a:cs typeface="Arial"/>
              </a:defRPr>
            </a:lvl1pPr>
            <a:lvl2pPr algn="ctr">
              <a:defRPr sz="2175" b="1">
                <a:solidFill>
                  <a:srgbClr val="113E7A"/>
                </a:solidFill>
                <a:latin typeface="Arial"/>
                <a:ea typeface="Arial"/>
                <a:cs typeface="Arial"/>
              </a:defRPr>
            </a:lvl2pPr>
            <a:lvl3pPr algn="ctr">
              <a:defRPr sz="2175" b="1">
                <a:solidFill>
                  <a:srgbClr val="113E7A"/>
                </a:solidFill>
                <a:latin typeface="Arial"/>
                <a:ea typeface="Arial"/>
                <a:cs typeface="Arial"/>
              </a:defRPr>
            </a:lvl3pPr>
            <a:lvl4pPr algn="ctr">
              <a:defRPr sz="2175" b="1">
                <a:solidFill>
                  <a:srgbClr val="113E7A"/>
                </a:solidFill>
                <a:latin typeface="Arial"/>
                <a:ea typeface="Arial"/>
                <a:cs typeface="Arial"/>
              </a:defRPr>
            </a:lvl4pPr>
            <a:lvl5pPr algn="ctr">
              <a:defRPr sz="2175" b="1">
                <a:solidFill>
                  <a:srgbClr val="113E7A"/>
                </a:solidFill>
                <a:latin typeface="Arial"/>
                <a:ea typeface="Arial"/>
                <a:cs typeface="Arial"/>
              </a:defRPr>
            </a:lvl5pPr>
            <a:lvl6pPr algn="ctr">
              <a:defRPr sz="2175" b="1">
                <a:solidFill>
                  <a:srgbClr val="113E7A"/>
                </a:solidFill>
                <a:latin typeface="Arial"/>
                <a:ea typeface="Arial"/>
                <a:cs typeface="Arial"/>
              </a:defRPr>
            </a:lvl6pPr>
            <a:lvl7pPr algn="ctr">
              <a:defRPr sz="2175" b="1">
                <a:solidFill>
                  <a:srgbClr val="113E7A"/>
                </a:solidFill>
                <a:latin typeface="Arial"/>
                <a:ea typeface="Arial"/>
                <a:cs typeface="Arial"/>
              </a:defRPr>
            </a:lvl7pPr>
            <a:lvl8pPr algn="ctr">
              <a:defRPr sz="2175" b="1">
                <a:solidFill>
                  <a:srgbClr val="113E7A"/>
                </a:solidFill>
                <a:latin typeface="Arial"/>
                <a:ea typeface="Arial"/>
                <a:cs typeface="Arial"/>
              </a:defRPr>
            </a:lvl8pPr>
            <a:lvl9pPr algn="ctr">
              <a:defRPr sz="2175" b="1">
                <a:solidFill>
                  <a:srgbClr val="113E7A"/>
                </a:solidFill>
                <a:latin typeface="Arial"/>
                <a:ea typeface="Arial"/>
                <a:cs typeface="Arial"/>
              </a:defRPr>
            </a:lvl9pPr>
          </a:lstStyle>
          <a:p xmlns:a="http://schemas.openxmlformats.org/drawingml/2006/main">
            <a:pPr algn="ctr">
              <a:lnSpc>
                <a:spcPct val="113000"/>
              </a:lnSpc>
              <a:buNone/>
              <a:defRPr sz="2175" b="1">
                <a:solidFill>
                  <a:srgbClr val="113E7A"/>
                </a:solidFill>
                <a:latin typeface="Arial"/>
                <a:ea typeface="Arial"/>
                <a:cs typeface="Arial"/>
              </a:defRPr>
            </a:pPr>
            <a:r>
              <a:rPr sz="2175" b="1">
                <a:solidFill>
                  <a:srgbClr val="113E7A"/>
                </a:solidFill>
                <a:latin typeface="Arial"/>
                <a:ea typeface="Arial"/>
                <a:cs typeface="Arial"/>
              </a:rPr>
              <a:t>Confusion Matrix</a:t>
            </a:r>
          </a:p>
        </p:txBody>
      </p:sp>
      <p:graphicFrame>
        <p:nvGraphicFramePr>
          <p:cNvPr id="13" name="">
            <a:extLst xmlns:a="http://schemas.openxmlformats.org/drawingml/2006/main">
              <a:ext uri="{FF2B5EF4-FFF2-40B4-BE49-F238E27FC236}">
                <a16:creationId xmlns:a16="http://schemas.microsoft.com/office/drawing/2014/main" id="{12C8D26B-04C0-4132-80D8-FB836B9CFB35}"/>
              </a:ext>
            </a:extLst>
          </p:cNvPr>
          <p:cNvGraphicFramePr/>
          <p:nvPr/>
        </p:nvGraphicFramePr>
        <p:xfrm>
          <a:off xmlns:a="http://schemas.openxmlformats.org/drawingml/2006/main" x="838200" y="3505200"/>
          <a:ext xmlns:a="http://schemas.openxmlformats.org/drawingml/2006/main" cx="4905375" cy="2238375"/>
        </p:xfrm>
        <a:graphic xmlns:a="http://schemas.openxmlformats.org/drawingml/2006/main">
          <a:graphicData uri="http://schemas.openxmlformats.org/drawingml/2006/table">
            <a:tbl>
              <a:tblPr/>
              <a:tblGrid>
                <a:gridCol w="2238375"/>
                <a:gridCol w="1333500"/>
                <a:gridCol w="1333500"/>
              </a:tblGrid>
              <a:tr h="746125">
                <a:tc>
                  <a:txBody>
                    <a:bodyPr lIns="95250" tIns="95250" rIns="95250" bIns="95250"/>
                    <a:lstStyle/>
                    <a:p>
                      <a:pPr algn="l"/>
                      <a:r>
                        <a:rPr sz="1800" b="1">
                          <a:solidFill>
                            <a:srgbClr val="FFFFFF"/>
                          </a:solidFill>
                          <a:latin typeface="Arial"/>
                          <a:ea typeface="Arial"/>
                          <a:cs typeface="Arial"/>
                        </a:rPr>
                        <a:t>Thực tế / Dự đoán</a:t>
                      </a:r>
                    </a:p>
                  </a:txBody>
                  <a:tcPr marL="91440" marR="91440" marT="45720" marB="45720" anchor="ctr">
                    <a:lnL w="9525">
                      <a:solidFill>
                        <a:srgbClr val="C2DFEC"/>
                      </a:solidFill>
                      <a:prstDash val="solid"/>
                    </a:lnL>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00" b="1">
                          <a:solidFill>
                            <a:srgbClr val="FFFFFF"/>
                          </a:solidFill>
                          <a:latin typeface="Arial"/>
                          <a:ea typeface="Arial"/>
                          <a:cs typeface="Arial"/>
                        </a:rPr>
                        <a:t>Bình thường</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c>
                  <a:txBody>
                    <a:bodyPr lIns="95250" tIns="95250" rIns="95250" bIns="95250"/>
                    <a:lstStyle/>
                    <a:p>
                      <a:pPr algn="ctr"/>
                      <a:r>
                        <a:rPr sz="1800" b="1">
                          <a:solidFill>
                            <a:srgbClr val="FFFFFF"/>
                          </a:solidFill>
                          <a:latin typeface="Arial"/>
                          <a:ea typeface="Arial"/>
                          <a:cs typeface="Arial"/>
                        </a:rPr>
                        <a:t>Gian lận</a:t>
                      </a:r>
                    </a:p>
                  </a:txBody>
                  <a:tcPr marL="91440" marR="91440" marT="45720" marB="45720" anchor="ctr">
                    <a:lnR w="9525">
                      <a:solidFill>
                        <a:srgbClr val="C2DFEC"/>
                      </a:solidFill>
                      <a:prstDash val="solid"/>
                    </a:lnR>
                    <a:lnT w="9525">
                      <a:solidFill>
                        <a:srgbClr val="C2DFEC"/>
                      </a:solidFill>
                      <a:prstDash val="solid"/>
                    </a:lnT>
                    <a:lnB w="9525">
                      <a:solidFill>
                        <a:srgbClr val="C2DFEC"/>
                      </a:solidFill>
                      <a:prstDash val="solid"/>
                    </a:lnB>
                    <a:solidFill>
                      <a:srgbClr val="113E7A"/>
                    </a:solidFill>
                  </a:tcPr>
                </a:tc>
              </a:tr>
              <a:tr h="746125">
                <a:tc>
                  <a:txBody>
                    <a:bodyPr lIns="95250" tIns="95250" rIns="95250" bIns="95250"/>
                    <a:lstStyle/>
                    <a:p>
                      <a:pPr algn="l"/>
                      <a:r>
                        <a:rPr sz="1800" b="0">
                          <a:solidFill>
                            <a:srgbClr val="0D2648"/>
                          </a:solidFill>
                          <a:latin typeface="Arial"/>
                          <a:ea typeface="Arial"/>
                          <a:cs typeface="Arial"/>
                        </a:rPr>
                        <a:t>Bình thường</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56648</a:t>
                      </a:r>
                    </a:p>
                  </a:txBody>
                  <a:tcPr marL="91440" marR="91440" marT="45720" marB="45720" anchor="ctr">
                    <a:lnR w="9525">
                      <a:solidFill>
                        <a:srgbClr val="C2DFEC"/>
                      </a:solidFill>
                      <a:prstDash val="solid"/>
                    </a:lnR>
                    <a:lnB w="9525">
                      <a:solidFill>
                        <a:srgbClr val="C2DFEC"/>
                      </a:solidFill>
                      <a:prstDash val="solid"/>
                    </a:lnB>
                    <a:solidFill>
                      <a:srgbClr val="DCEFF9"/>
                    </a:solidFill>
                  </a:tcPr>
                </a:tc>
                <a:tc>
                  <a:txBody>
                    <a:bodyPr lIns="76200" tIns="76200" rIns="76200" bIns="76200"/>
                    <a:lstStyle/>
                    <a:p>
                      <a:pPr algn="ctr"/>
                      <a:r>
                        <a:rPr sz="2550" b="1">
                          <a:solidFill>
                            <a:srgbClr val="B64551"/>
                          </a:solidFill>
                          <a:latin typeface="Arial"/>
                          <a:ea typeface="Arial"/>
                          <a:cs typeface="Arial"/>
                        </a:rPr>
                        <a:t>3</a:t>
                      </a:r>
                    </a:p>
                  </a:txBody>
                  <a:tcPr marL="91440" marR="91440" marT="45720" marB="45720" anchor="ctr">
                    <a:lnR w="9525">
                      <a:solidFill>
                        <a:srgbClr val="C2DFEC"/>
                      </a:solidFill>
                      <a:prstDash val="solid"/>
                    </a:lnR>
                    <a:lnB w="9525">
                      <a:solidFill>
                        <a:srgbClr val="C2DFEC"/>
                      </a:solidFill>
                      <a:prstDash val="solid"/>
                    </a:lnB>
                    <a:solidFill>
                      <a:srgbClr val="FFFFFF"/>
                    </a:solidFill>
                  </a:tcPr>
                </a:tc>
              </a:tr>
              <a:tr h="746125">
                <a:tc>
                  <a:txBody>
                    <a:bodyPr lIns="95250" tIns="95250" rIns="95250" bIns="95250"/>
                    <a:lstStyle/>
                    <a:p>
                      <a:pPr algn="l"/>
                      <a:r>
                        <a:rPr sz="1800" b="0">
                          <a:solidFill>
                            <a:srgbClr val="0D2648"/>
                          </a:solidFill>
                          <a:latin typeface="Arial"/>
                          <a:ea typeface="Arial"/>
                          <a:cs typeface="Arial"/>
                        </a:rPr>
                        <a:t>Gian lận</a:t>
                      </a:r>
                    </a:p>
                  </a:txBody>
                  <a:tcPr marL="91440" marR="91440" marT="45720" marB="45720" anchor="ctr">
                    <a:lnL w="9525">
                      <a:solidFill>
                        <a:srgbClr val="C2DFEC"/>
                      </a:solidFill>
                      <a:prstDash val="solid"/>
                    </a:lnL>
                    <a:lnR w="9525">
                      <a:solidFill>
                        <a:srgbClr val="C2DFEC"/>
                      </a:solidFill>
                      <a:prstDash val="solid"/>
                    </a:lnR>
                    <a:lnB w="9525">
                      <a:solidFill>
                        <a:srgbClr val="C2DFEC"/>
                      </a:solidFill>
                      <a:prstDash val="solid"/>
                    </a:lnB>
                    <a:solidFill>
                      <a:srgbClr val="FFFFFF"/>
                    </a:solidFill>
                  </a:tcPr>
                </a:tc>
                <a:tc>
                  <a:txBody>
                    <a:bodyPr lIns="76200" tIns="76200" rIns="76200" bIns="76200"/>
                    <a:lstStyle/>
                    <a:p>
                      <a:pPr algn="ctr"/>
                      <a:r>
                        <a:rPr sz="2550" b="1">
                          <a:solidFill>
                            <a:srgbClr val="B64551"/>
                          </a:solidFill>
                          <a:latin typeface="Arial"/>
                          <a:ea typeface="Arial"/>
                          <a:cs typeface="Arial"/>
                        </a:rPr>
                        <a:t>25</a:t>
                      </a:r>
                    </a:p>
                  </a:txBody>
                  <a:tcPr marL="91440" marR="91440" marT="45720" marB="45720" anchor="ctr">
                    <a:lnR w="9525">
                      <a:solidFill>
                        <a:srgbClr val="C2DFEC"/>
                      </a:solidFill>
                      <a:prstDash val="solid"/>
                    </a:lnR>
                    <a:lnB w="9525">
                      <a:solidFill>
                        <a:srgbClr val="C2DFEC"/>
                      </a:solidFill>
                      <a:prstDash val="solid"/>
                    </a:lnB>
                    <a:solidFill>
                      <a:srgbClr val="FFFFFF"/>
                    </a:solidFill>
                  </a:tcPr>
                </a:tc>
                <a:tc>
                  <a:txBody>
                    <a:bodyPr lIns="95250" tIns="95250" rIns="95250" bIns="95250"/>
                    <a:lstStyle/>
                    <a:p>
                      <a:pPr algn="ctr"/>
                      <a:r>
                        <a:rPr sz="1800" b="0">
                          <a:solidFill>
                            <a:srgbClr val="0D2648"/>
                          </a:solidFill>
                          <a:latin typeface="Arial"/>
                          <a:ea typeface="Arial"/>
                          <a:cs typeface="Arial"/>
                        </a:rPr>
                        <a:t>70</a:t>
                      </a:r>
                    </a:p>
                  </a:txBody>
                  <a:tcPr marL="91440" marR="91440" marT="45720" marB="45720" anchor="ctr">
                    <a:lnR w="9525">
                      <a:solidFill>
                        <a:srgbClr val="C2DFEC"/>
                      </a:solidFill>
                      <a:prstDash val="solid"/>
                    </a:lnR>
                    <a:lnB w="9525">
                      <a:solidFill>
                        <a:srgbClr val="C2DFEC"/>
                      </a:solidFill>
                      <a:prstDash val="solid"/>
                    </a:lnB>
                    <a:solidFill>
                      <a:srgbClr val="DCEFF9"/>
                    </a:solidFill>
                  </a:tcPr>
                </a:tc>
              </a:tr>
            </a:tbl>
          </a:graphicData>
        </a:graphic>
      </p:graphicFrame>
      <p:graphicFrame>
        <p:nvGraphicFramePr>
          <p:cNvPr id="14" name="Chart">
            <a:extLst xmlns:a="http://schemas.openxmlformats.org/drawingml/2006/main">
              <a:ext uri="{FF2B5EF4-FFF2-40B4-BE49-F238E27FC236}">
                <a16:creationId xmlns:a16="http://schemas.microsoft.com/office/drawing/2014/main" id="{F598FC89-7BBA-42C4-AE00-B603312F294D}"/>
              </a:ext>
            </a:extLst>
          </p:cNvPr>
          <p:cNvGraphicFramePr/>
          <p:nvPr/>
        </p:nvGraphicFramePr>
        <p:xfrm>
          <a:off xmlns:a="http://schemas.openxmlformats.org/drawingml/2006/main" x="6048375" y="3028950"/>
          <a:ext xmlns:a="http://schemas.openxmlformats.org/drawingml/2006/main" cx="2619375" cy="2714625"/>
        </p:xfrm>
        <a:graphic xmlns:a="http://schemas.openxmlformats.org/drawingml/2006/main">
          <a:graphicData uri="http://schemas.openxmlformats.org/drawingml/2006/chart">
            <c:chart xmlns:r="http://schemas.openxmlformats.org/officeDocument/2006/relationships" xmlns:c="http://schemas.openxmlformats.org/drawingml/2006/chart" r:id="R8e6e1a0110c74edd"/>
          </a:graphicData>
        </a:graphic>
      </p:graphicFrame>
      <p:graphicFrame>
        <p:nvGraphicFramePr>
          <p:cNvPr id="15" name="Chart">
            <a:extLst xmlns:a="http://schemas.openxmlformats.org/drawingml/2006/main">
              <a:ext uri="{FF2B5EF4-FFF2-40B4-BE49-F238E27FC236}">
                <a16:creationId xmlns:a16="http://schemas.microsoft.com/office/drawing/2014/main" id="{E9F03A54-68F1-41B0-88EA-277F0B361815}"/>
              </a:ext>
            </a:extLst>
          </p:cNvPr>
          <p:cNvGraphicFramePr/>
          <p:nvPr/>
        </p:nvGraphicFramePr>
        <p:xfrm>
          <a:off xmlns:a="http://schemas.openxmlformats.org/drawingml/2006/main" x="9001125" y="3028950"/>
          <a:ext xmlns:a="http://schemas.openxmlformats.org/drawingml/2006/main" cx="2619375" cy="2714625"/>
        </p:xfrm>
        <a:graphic xmlns:a="http://schemas.openxmlformats.org/drawingml/2006/main">
          <a:graphicData uri="http://schemas.openxmlformats.org/drawingml/2006/chart">
            <c:chart xmlns:r="http://schemas.openxmlformats.org/officeDocument/2006/relationships" xmlns:c="http://schemas.openxmlformats.org/drawingml/2006/chart" r:id="R9722e6c6259d4fd1"/>
          </a:graphicData>
        </a:graphic>
      </p:graphicFrame>
      <p:sp>
        <p:nvSpPr>
          <p:cNvPr id="16" name="text-127">
            <a:extLst xmlns:a="http://schemas.openxmlformats.org/drawingml/2006/main">
              <a:ext uri="{FF2B5EF4-FFF2-40B4-BE49-F238E27FC236}">
                <a16:creationId xmlns:a16="http://schemas.microsoft.com/office/drawing/2014/main" id="{D0E2996A-BCFA-4E9C-8A3E-9DD2D490933A}"/>
              </a:ext>
            </a:extLst>
          </p:cNvPr>
          <p:cNvSpPr>
            <a:spLocks xmlns:a="http://schemas.openxmlformats.org/drawingml/2006/main" noGrp="1"/>
          </p:cNvSpPr>
          <p:nvPr/>
        </p:nvSpPr>
        <p:spPr>
          <a:xfrm xmlns:a="http://schemas.openxmlformats.org/drawingml/2006/main">
            <a:off x="904875" y="6067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13E7A"/>
                </a:solidFill>
                <a:latin typeface="Arial"/>
                <a:ea typeface="Arial"/>
                <a:cs typeface="Arial"/>
              </a:defRPr>
            </a:defPPr>
            <a:lvl1pPr algn="ctr">
              <a:defRPr sz="1950" b="1">
                <a:solidFill>
                  <a:srgbClr val="113E7A"/>
                </a:solidFill>
                <a:latin typeface="Arial"/>
                <a:ea typeface="Arial"/>
                <a:cs typeface="Arial"/>
              </a:defRPr>
            </a:lvl1pPr>
            <a:lvl2pPr algn="ctr">
              <a:defRPr sz="1950" b="1">
                <a:solidFill>
                  <a:srgbClr val="113E7A"/>
                </a:solidFill>
                <a:latin typeface="Arial"/>
                <a:ea typeface="Arial"/>
                <a:cs typeface="Arial"/>
              </a:defRPr>
            </a:lvl2pPr>
            <a:lvl3pPr algn="ctr">
              <a:defRPr sz="1950" b="1">
                <a:solidFill>
                  <a:srgbClr val="113E7A"/>
                </a:solidFill>
                <a:latin typeface="Arial"/>
                <a:ea typeface="Arial"/>
                <a:cs typeface="Arial"/>
              </a:defRPr>
            </a:lvl3pPr>
            <a:lvl4pPr algn="ctr">
              <a:defRPr sz="1950" b="1">
                <a:solidFill>
                  <a:srgbClr val="113E7A"/>
                </a:solidFill>
                <a:latin typeface="Arial"/>
                <a:ea typeface="Arial"/>
                <a:cs typeface="Arial"/>
              </a:defRPr>
            </a:lvl4pPr>
            <a:lvl5pPr algn="ctr">
              <a:defRPr sz="1950" b="1">
                <a:solidFill>
                  <a:srgbClr val="113E7A"/>
                </a:solidFill>
                <a:latin typeface="Arial"/>
                <a:ea typeface="Arial"/>
                <a:cs typeface="Arial"/>
              </a:defRPr>
            </a:lvl5pPr>
            <a:lvl6pPr algn="ctr">
              <a:defRPr sz="1950" b="1">
                <a:solidFill>
                  <a:srgbClr val="113E7A"/>
                </a:solidFill>
                <a:latin typeface="Arial"/>
                <a:ea typeface="Arial"/>
                <a:cs typeface="Arial"/>
              </a:defRPr>
            </a:lvl6pPr>
            <a:lvl7pPr algn="ctr">
              <a:defRPr sz="1950" b="1">
                <a:solidFill>
                  <a:srgbClr val="113E7A"/>
                </a:solidFill>
                <a:latin typeface="Arial"/>
                <a:ea typeface="Arial"/>
                <a:cs typeface="Arial"/>
              </a:defRPr>
            </a:lvl7pPr>
            <a:lvl8pPr algn="ctr">
              <a:defRPr sz="1950" b="1">
                <a:solidFill>
                  <a:srgbClr val="113E7A"/>
                </a:solidFill>
                <a:latin typeface="Arial"/>
                <a:ea typeface="Arial"/>
                <a:cs typeface="Arial"/>
              </a:defRPr>
            </a:lvl8pPr>
            <a:lvl9pPr algn="ctr">
              <a:defRPr sz="1950" b="1">
                <a:solidFill>
                  <a:srgbClr val="113E7A"/>
                </a:solidFill>
                <a:latin typeface="Arial"/>
                <a:ea typeface="Arial"/>
                <a:cs typeface="Arial"/>
              </a:defRPr>
            </a:lvl9pPr>
          </a:lstStyle>
          <a:p xmlns:a="http://schemas.openxmlformats.org/drawingml/2006/main">
            <a:pPr algn="ctr">
              <a:lnSpc>
                <a:spcPct val="113000"/>
              </a:lnSpc>
              <a:buNone/>
              <a:defRPr sz="1950" b="1">
                <a:solidFill>
                  <a:srgbClr val="113E7A"/>
                </a:solidFill>
                <a:latin typeface="Arial"/>
                <a:ea typeface="Arial"/>
                <a:cs typeface="Arial"/>
              </a:defRPr>
            </a:pPr>
            <a:r>
              <a:rPr sz="1950" b="1">
                <a:solidFill>
                  <a:srgbClr val="113E7A"/>
                </a:solidFill>
                <a:latin typeface="Arial"/>
                <a:ea typeface="Arial"/>
                <a:cs typeface="Arial"/>
              </a:rPr>
              <a:t>70/95 ca gian lận phát hiện đúng; bỏ sót 25 ca; cảnh báo nhầm 3 giao dịch.</a:t>
            </a:r>
          </a:p>
        </p:txBody>
      </p:sp>
      <p:sp>
        <p:nvSpPr>
          <p:cNvPr id="17" name="text-128">
            <a:extLst xmlns:a="http://schemas.openxmlformats.org/drawingml/2006/main">
              <a:ext uri="{FF2B5EF4-FFF2-40B4-BE49-F238E27FC236}">
                <a16:creationId xmlns:a16="http://schemas.microsoft.com/office/drawing/2014/main" id="{E0830B7F-B16A-400F-B8A3-BED9D3D7FC8D}"/>
              </a:ext>
            </a:extLst>
          </p:cNvPr>
          <p:cNvSpPr>
            <a:spLocks xmlns:a="http://schemas.openxmlformats.org/drawingml/2006/main" noGrp="1"/>
          </p:cNvSpPr>
          <p:nvPr/>
        </p:nvSpPr>
        <p:spPr>
          <a:xfrm xmlns:a="http://schemas.openxmlformats.org/drawingml/2006/main">
            <a:off x="952500" y="65055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718E"/>
                </a:solidFill>
                <a:latin typeface="Arial"/>
                <a:ea typeface="Arial"/>
                <a:cs typeface="Arial"/>
              </a:defRPr>
            </a:defPPr>
            <a:lvl1pPr algn="ctr">
              <a:defRPr sz="1350" b="0">
                <a:solidFill>
                  <a:srgbClr val="52718E"/>
                </a:solidFill>
                <a:latin typeface="Arial"/>
                <a:ea typeface="Arial"/>
                <a:cs typeface="Arial"/>
              </a:defRPr>
            </a:lvl1pPr>
            <a:lvl2pPr algn="ctr">
              <a:defRPr sz="1350" b="0">
                <a:solidFill>
                  <a:srgbClr val="52718E"/>
                </a:solidFill>
                <a:latin typeface="Arial"/>
                <a:ea typeface="Arial"/>
                <a:cs typeface="Arial"/>
              </a:defRPr>
            </a:lvl2pPr>
            <a:lvl3pPr algn="ctr">
              <a:defRPr sz="1350" b="0">
                <a:solidFill>
                  <a:srgbClr val="52718E"/>
                </a:solidFill>
                <a:latin typeface="Arial"/>
                <a:ea typeface="Arial"/>
                <a:cs typeface="Arial"/>
              </a:defRPr>
            </a:lvl3pPr>
            <a:lvl4pPr algn="ctr">
              <a:defRPr sz="1350" b="0">
                <a:solidFill>
                  <a:srgbClr val="52718E"/>
                </a:solidFill>
                <a:latin typeface="Arial"/>
                <a:ea typeface="Arial"/>
                <a:cs typeface="Arial"/>
              </a:defRPr>
            </a:lvl4pPr>
            <a:lvl5pPr algn="ctr">
              <a:defRPr sz="1350" b="0">
                <a:solidFill>
                  <a:srgbClr val="52718E"/>
                </a:solidFill>
                <a:latin typeface="Arial"/>
                <a:ea typeface="Arial"/>
                <a:cs typeface="Arial"/>
              </a:defRPr>
            </a:lvl5pPr>
            <a:lvl6pPr algn="ctr">
              <a:defRPr sz="1350" b="0">
                <a:solidFill>
                  <a:srgbClr val="52718E"/>
                </a:solidFill>
                <a:latin typeface="Arial"/>
                <a:ea typeface="Arial"/>
                <a:cs typeface="Arial"/>
              </a:defRPr>
            </a:lvl6pPr>
            <a:lvl7pPr algn="ctr">
              <a:defRPr sz="1350" b="0">
                <a:solidFill>
                  <a:srgbClr val="52718E"/>
                </a:solidFill>
                <a:latin typeface="Arial"/>
                <a:ea typeface="Arial"/>
                <a:cs typeface="Arial"/>
              </a:defRPr>
            </a:lvl7pPr>
            <a:lvl8pPr algn="ctr">
              <a:defRPr sz="1350" b="0">
                <a:solidFill>
                  <a:srgbClr val="52718E"/>
                </a:solidFill>
                <a:latin typeface="Arial"/>
                <a:ea typeface="Arial"/>
                <a:cs typeface="Arial"/>
              </a:defRPr>
            </a:lvl8pPr>
            <a:lvl9pPr algn="ctr">
              <a:defRPr sz="1350" b="0">
                <a:solidFill>
                  <a:srgbClr val="52718E"/>
                </a:solidFill>
                <a:latin typeface="Arial"/>
                <a:ea typeface="Arial"/>
                <a:cs typeface="Arial"/>
              </a:defRPr>
            </a:lvl9pPr>
          </a:lstStyle>
          <a:p xmlns:a="http://schemas.openxmlformats.org/drawingml/2006/main">
            <a:pPr algn="ctr">
              <a:lnSpc>
                <a:spcPct val="113000"/>
              </a:lnSpc>
              <a:buNone/>
              <a:defRPr sz="1350" b="0">
                <a:solidFill>
                  <a:srgbClr val="52718E"/>
                </a:solidFill>
                <a:latin typeface="Arial"/>
                <a:ea typeface="Arial"/>
                <a:cs typeface="Arial"/>
              </a:defRPr>
            </a:pPr>
            <a:r>
              <a:rPr sz="1350" b="0">
                <a:solidFill>
                  <a:srgbClr val="52718E"/>
                </a:solidFill>
                <a:latin typeface="Arial"/>
                <a:ea typeface="Arial"/>
                <a:cs typeface="Arial"/>
              </a:rPr>
              <a:t>Test: 56.746 giao dịch. Ngưỡng 0,37 cố định từ validation. Mô hình đã refit toàn bộ train.</a:t>
            </a:r>
          </a:p>
        </p:txBody>
      </p:sp>
    </p:spTree>
    <p:extLst>
      <p:ext uri="{BB962C8B-B14F-4D97-AF65-F5344CB8AC3E}">
        <p14:creationId xmlns:p14="http://schemas.microsoft.com/office/powerpoint/2010/main" val="780185123"/>
      </p:ext>
    </p:extLst>
  </p:cSld>
</p:sld>
</file>

<file path=ppt/slides/slide13.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2F7326E-E4B1-4EE5-8899-7C221E28A8F2}"/>
              </a:ext>
            </a:extLst>
          </p:cNvPr>
          <p:cNvPicPr>
            <a:picLocks xmlns:a="http://schemas.openxmlformats.org/drawingml/2006/main" noChangeAspect="1"/>
          </p:cNvPicPr>
          <p:nvPr/>
        </p:nvPicPr>
        <p:blipFill>
          <a:blip xmlns:r="http://schemas.openxmlformats.org/officeDocument/2006/relationships" xmlns:a="http://schemas.openxmlformats.org/drawingml/2006/main" r:embed="R18d8fd2d9ee64c6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29">
            <a:extLst xmlns:a="http://schemas.openxmlformats.org/drawingml/2006/main">
              <a:ext uri="{FF2B5EF4-FFF2-40B4-BE49-F238E27FC236}">
                <a16:creationId xmlns:a16="http://schemas.microsoft.com/office/drawing/2014/main" id="{2846DEBC-52EF-46A4-993C-7D335ECF0618}"/>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Ứng dụng demo Streamlit</a:t>
            </a:r>
          </a:p>
        </p:txBody>
      </p:sp>
      <p:sp>
        <p:nvSpPr>
          <p:cNvPr id="3" name="text-130">
            <a:extLst xmlns:a="http://schemas.openxmlformats.org/drawingml/2006/main">
              <a:ext uri="{FF2B5EF4-FFF2-40B4-BE49-F238E27FC236}">
                <a16:creationId xmlns:a16="http://schemas.microsoft.com/office/drawing/2014/main" id="{2ECBF291-6F1F-48E7-97DE-633E967F945A}"/>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13</a:t>
            </a:r>
          </a:p>
        </p:txBody>
      </p:sp>
      <p:pic>
        <p:nvPicPr>
          <p:cNvPr id="4" name="">
            <a:extLst xmlns:a="http://schemas.openxmlformats.org/drawingml/2006/main">
              <a:ext uri="{FF2B5EF4-FFF2-40B4-BE49-F238E27FC236}">
                <a16:creationId xmlns:a16="http://schemas.microsoft.com/office/drawing/2014/main" id="{8335C767-5009-4672-A4AB-DCADE8CF561B}"/>
              </a:ext>
            </a:extLst>
          </p:cNvPr>
          <p:cNvPicPr>
            <a:picLocks xmlns:a="http://schemas.openxmlformats.org/drawingml/2006/main" noChangeAspect="1"/>
          </p:cNvPicPr>
          <p:nvPr/>
        </p:nvPicPr>
        <p:blipFill>
          <a:blip xmlns:r="http://schemas.openxmlformats.org/officeDocument/2006/relationships" xmlns:a="http://schemas.openxmlformats.org/drawingml/2006/main" r:embed="R37ed380320514ae2"/>
          <a:stretch xmlns:a="http://schemas.openxmlformats.org/drawingml/2006/main"/>
        </p:blipFill>
        <p:spPr>
          <a:xfrm xmlns:a="http://schemas.openxmlformats.org/drawingml/2006/main">
            <a:off x="1081875" y="1819275"/>
            <a:ext cx="4713300" cy="4362450"/>
          </a:xfrm>
          <a:prstGeom xmlns:a="http://schemas.openxmlformats.org/drawingml/2006/main" prst="rect">
            <a:avLst/>
          </a:prstGeom>
        </p:spPr>
      </p:pic>
      <p:sp>
        <p:nvSpPr>
          <p:cNvPr id="5" name="text-131">
            <a:extLst xmlns:a="http://schemas.openxmlformats.org/drawingml/2006/main">
              <a:ext uri="{FF2B5EF4-FFF2-40B4-BE49-F238E27FC236}">
                <a16:creationId xmlns:a16="http://schemas.microsoft.com/office/drawing/2014/main" id="{3CEB884C-D975-4837-A3E4-9883A22E4354}"/>
              </a:ext>
            </a:extLst>
          </p:cNvPr>
          <p:cNvSpPr>
            <a:spLocks xmlns:a="http://schemas.openxmlformats.org/drawingml/2006/main" noGrp="1"/>
          </p:cNvSpPr>
          <p:nvPr/>
        </p:nvSpPr>
        <p:spPr>
          <a:xfrm xmlns:a="http://schemas.openxmlformats.org/drawingml/2006/main">
            <a:off x="6667500" y="19526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3E7A"/>
                </a:solidFill>
                <a:latin typeface="Arial"/>
                <a:ea typeface="Arial"/>
                <a:cs typeface="Arial"/>
              </a:defRPr>
            </a:defPPr>
            <a:lvl1pPr algn="l">
              <a:defRPr sz="2400" b="1">
                <a:solidFill>
                  <a:srgbClr val="113E7A"/>
                </a:solidFill>
                <a:latin typeface="Arial"/>
                <a:ea typeface="Arial"/>
                <a:cs typeface="Arial"/>
              </a:defRPr>
            </a:lvl1pPr>
            <a:lvl2pPr algn="l">
              <a:defRPr sz="2400" b="1">
                <a:solidFill>
                  <a:srgbClr val="113E7A"/>
                </a:solidFill>
                <a:latin typeface="Arial"/>
                <a:ea typeface="Arial"/>
                <a:cs typeface="Arial"/>
              </a:defRPr>
            </a:lvl2pPr>
            <a:lvl3pPr algn="l">
              <a:defRPr sz="2400" b="1">
                <a:solidFill>
                  <a:srgbClr val="113E7A"/>
                </a:solidFill>
                <a:latin typeface="Arial"/>
                <a:ea typeface="Arial"/>
                <a:cs typeface="Arial"/>
              </a:defRPr>
            </a:lvl3pPr>
            <a:lvl4pPr algn="l">
              <a:defRPr sz="2400" b="1">
                <a:solidFill>
                  <a:srgbClr val="113E7A"/>
                </a:solidFill>
                <a:latin typeface="Arial"/>
                <a:ea typeface="Arial"/>
                <a:cs typeface="Arial"/>
              </a:defRPr>
            </a:lvl4pPr>
            <a:lvl5pPr algn="l">
              <a:defRPr sz="2400" b="1">
                <a:solidFill>
                  <a:srgbClr val="113E7A"/>
                </a:solidFill>
                <a:latin typeface="Arial"/>
                <a:ea typeface="Arial"/>
                <a:cs typeface="Arial"/>
              </a:defRPr>
            </a:lvl5pPr>
            <a:lvl6pPr algn="l">
              <a:defRPr sz="2400" b="1">
                <a:solidFill>
                  <a:srgbClr val="113E7A"/>
                </a:solidFill>
                <a:latin typeface="Arial"/>
                <a:ea typeface="Arial"/>
                <a:cs typeface="Arial"/>
              </a:defRPr>
            </a:lvl6pPr>
            <a:lvl7pPr algn="l">
              <a:defRPr sz="2400" b="1">
                <a:solidFill>
                  <a:srgbClr val="113E7A"/>
                </a:solidFill>
                <a:latin typeface="Arial"/>
                <a:ea typeface="Arial"/>
                <a:cs typeface="Arial"/>
              </a:defRPr>
            </a:lvl7pPr>
            <a:lvl8pPr algn="l">
              <a:defRPr sz="2400" b="1">
                <a:solidFill>
                  <a:srgbClr val="113E7A"/>
                </a:solidFill>
                <a:latin typeface="Arial"/>
                <a:ea typeface="Arial"/>
                <a:cs typeface="Arial"/>
              </a:defRPr>
            </a:lvl8pPr>
            <a:lvl9pPr algn="l">
              <a:defRPr sz="2400" b="1">
                <a:solidFill>
                  <a:srgbClr val="113E7A"/>
                </a:solidFill>
                <a:latin typeface="Arial"/>
                <a:ea typeface="Arial"/>
                <a:cs typeface="Arial"/>
              </a:defRPr>
            </a:lvl9pPr>
          </a:lstStyle>
          <a:p xmlns:a="http://schemas.openxmlformats.org/drawingml/2006/main">
            <a:pPr algn="l">
              <a:lnSpc>
                <a:spcPct val="113000"/>
              </a:lnSpc>
              <a:buNone/>
              <a:defRPr sz="2400" b="1">
                <a:solidFill>
                  <a:srgbClr val="113E7A"/>
                </a:solidFill>
                <a:latin typeface="Arial"/>
                <a:ea typeface="Arial"/>
                <a:cs typeface="Arial"/>
              </a:defRPr>
            </a:pPr>
            <a:r>
              <a:rPr sz="2400" b="1">
                <a:solidFill>
                  <a:srgbClr val="113E7A"/>
                </a:solidFill>
                <a:latin typeface="Arial"/>
                <a:ea typeface="Arial"/>
                <a:cs typeface="Arial"/>
              </a:rPr>
              <a:t>Tải CSV</a:t>
            </a:r>
          </a:p>
        </p:txBody>
      </p:sp>
      <p:sp>
        <p:nvSpPr>
          <p:cNvPr id="6" name="text-132">
            <a:extLst xmlns:a="http://schemas.openxmlformats.org/drawingml/2006/main">
              <a:ext uri="{FF2B5EF4-FFF2-40B4-BE49-F238E27FC236}">
                <a16:creationId xmlns:a16="http://schemas.microsoft.com/office/drawing/2014/main" id="{D4599D35-0DC8-4ED3-AE4F-FD5199B6074A}"/>
              </a:ext>
            </a:extLst>
          </p:cNvPr>
          <p:cNvSpPr>
            <a:spLocks xmlns:a="http://schemas.openxmlformats.org/drawingml/2006/main" noGrp="1"/>
          </p:cNvSpPr>
          <p:nvPr/>
        </p:nvSpPr>
        <p:spPr>
          <a:xfrm xmlns:a="http://schemas.openxmlformats.org/drawingml/2006/main">
            <a:off x="6667500" y="240030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D2648"/>
                </a:solidFill>
                <a:latin typeface="Arial"/>
                <a:ea typeface="Arial"/>
                <a:cs typeface="Arial"/>
              </a:defRPr>
            </a:defPPr>
            <a:lvl1pPr algn="l">
              <a:defRPr sz="1875" b="0">
                <a:solidFill>
                  <a:srgbClr val="0D2648"/>
                </a:solidFill>
                <a:latin typeface="Arial"/>
                <a:ea typeface="Arial"/>
                <a:cs typeface="Arial"/>
              </a:defRPr>
            </a:lvl1pPr>
            <a:lvl2pPr algn="l">
              <a:defRPr sz="1875" b="0">
                <a:solidFill>
                  <a:srgbClr val="0D2648"/>
                </a:solidFill>
                <a:latin typeface="Arial"/>
                <a:ea typeface="Arial"/>
                <a:cs typeface="Arial"/>
              </a:defRPr>
            </a:lvl2pPr>
            <a:lvl3pPr algn="l">
              <a:defRPr sz="1875" b="0">
                <a:solidFill>
                  <a:srgbClr val="0D2648"/>
                </a:solidFill>
                <a:latin typeface="Arial"/>
                <a:ea typeface="Arial"/>
                <a:cs typeface="Arial"/>
              </a:defRPr>
            </a:lvl3pPr>
            <a:lvl4pPr algn="l">
              <a:defRPr sz="1875" b="0">
                <a:solidFill>
                  <a:srgbClr val="0D2648"/>
                </a:solidFill>
                <a:latin typeface="Arial"/>
                <a:ea typeface="Arial"/>
                <a:cs typeface="Arial"/>
              </a:defRPr>
            </a:lvl4pPr>
            <a:lvl5pPr algn="l">
              <a:defRPr sz="1875" b="0">
                <a:solidFill>
                  <a:srgbClr val="0D2648"/>
                </a:solidFill>
                <a:latin typeface="Arial"/>
                <a:ea typeface="Arial"/>
                <a:cs typeface="Arial"/>
              </a:defRPr>
            </a:lvl5pPr>
            <a:lvl6pPr algn="l">
              <a:defRPr sz="1875" b="0">
                <a:solidFill>
                  <a:srgbClr val="0D2648"/>
                </a:solidFill>
                <a:latin typeface="Arial"/>
                <a:ea typeface="Arial"/>
                <a:cs typeface="Arial"/>
              </a:defRPr>
            </a:lvl6pPr>
            <a:lvl7pPr algn="l">
              <a:defRPr sz="1875" b="0">
                <a:solidFill>
                  <a:srgbClr val="0D2648"/>
                </a:solidFill>
                <a:latin typeface="Arial"/>
                <a:ea typeface="Arial"/>
                <a:cs typeface="Arial"/>
              </a:defRPr>
            </a:lvl7pPr>
            <a:lvl8pPr algn="l">
              <a:defRPr sz="1875" b="0">
                <a:solidFill>
                  <a:srgbClr val="0D2648"/>
                </a:solidFill>
                <a:latin typeface="Arial"/>
                <a:ea typeface="Arial"/>
                <a:cs typeface="Arial"/>
              </a:defRPr>
            </a:lvl8pPr>
            <a:lvl9pPr algn="l">
              <a:defRPr sz="1875" b="0">
                <a:solidFill>
                  <a:srgbClr val="0D2648"/>
                </a:solidFill>
                <a:latin typeface="Arial"/>
                <a:ea typeface="Arial"/>
                <a:cs typeface="Arial"/>
              </a:defRPr>
            </a:lvl9pPr>
          </a:lstStyle>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Kiểm tra đủ 30 đặc trưng số,</a:t>
            </a:r>
          </a:p>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sắp đúng thứ tự từ features.json.</a:t>
            </a:r>
          </a:p>
        </p:txBody>
      </p:sp>
      <p:sp>
        <p:nvSpPr>
          <p:cNvPr id="7" name="text-133">
            <a:extLst xmlns:a="http://schemas.openxmlformats.org/drawingml/2006/main">
              <a:ext uri="{FF2B5EF4-FFF2-40B4-BE49-F238E27FC236}">
                <a16:creationId xmlns:a16="http://schemas.microsoft.com/office/drawing/2014/main" id="{74E9CAC4-A3E1-4C37-A001-93B73AF848C7}"/>
              </a:ext>
            </a:extLst>
          </p:cNvPr>
          <p:cNvSpPr>
            <a:spLocks xmlns:a="http://schemas.openxmlformats.org/drawingml/2006/main" noGrp="1"/>
          </p:cNvSpPr>
          <p:nvPr/>
        </p:nvSpPr>
        <p:spPr>
          <a:xfrm xmlns:a="http://schemas.openxmlformats.org/drawingml/2006/main">
            <a:off x="6667500" y="33718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3E7A"/>
                </a:solidFill>
                <a:latin typeface="Arial"/>
                <a:ea typeface="Arial"/>
                <a:cs typeface="Arial"/>
              </a:defRPr>
            </a:defPPr>
            <a:lvl1pPr algn="l">
              <a:defRPr sz="2400" b="1">
                <a:solidFill>
                  <a:srgbClr val="113E7A"/>
                </a:solidFill>
                <a:latin typeface="Arial"/>
                <a:ea typeface="Arial"/>
                <a:cs typeface="Arial"/>
              </a:defRPr>
            </a:lvl1pPr>
            <a:lvl2pPr algn="l">
              <a:defRPr sz="2400" b="1">
                <a:solidFill>
                  <a:srgbClr val="113E7A"/>
                </a:solidFill>
                <a:latin typeface="Arial"/>
                <a:ea typeface="Arial"/>
                <a:cs typeface="Arial"/>
              </a:defRPr>
            </a:lvl2pPr>
            <a:lvl3pPr algn="l">
              <a:defRPr sz="2400" b="1">
                <a:solidFill>
                  <a:srgbClr val="113E7A"/>
                </a:solidFill>
                <a:latin typeface="Arial"/>
                <a:ea typeface="Arial"/>
                <a:cs typeface="Arial"/>
              </a:defRPr>
            </a:lvl3pPr>
            <a:lvl4pPr algn="l">
              <a:defRPr sz="2400" b="1">
                <a:solidFill>
                  <a:srgbClr val="113E7A"/>
                </a:solidFill>
                <a:latin typeface="Arial"/>
                <a:ea typeface="Arial"/>
                <a:cs typeface="Arial"/>
              </a:defRPr>
            </a:lvl4pPr>
            <a:lvl5pPr algn="l">
              <a:defRPr sz="2400" b="1">
                <a:solidFill>
                  <a:srgbClr val="113E7A"/>
                </a:solidFill>
                <a:latin typeface="Arial"/>
                <a:ea typeface="Arial"/>
                <a:cs typeface="Arial"/>
              </a:defRPr>
            </a:lvl5pPr>
            <a:lvl6pPr algn="l">
              <a:defRPr sz="2400" b="1">
                <a:solidFill>
                  <a:srgbClr val="113E7A"/>
                </a:solidFill>
                <a:latin typeface="Arial"/>
                <a:ea typeface="Arial"/>
                <a:cs typeface="Arial"/>
              </a:defRPr>
            </a:lvl6pPr>
            <a:lvl7pPr algn="l">
              <a:defRPr sz="2400" b="1">
                <a:solidFill>
                  <a:srgbClr val="113E7A"/>
                </a:solidFill>
                <a:latin typeface="Arial"/>
                <a:ea typeface="Arial"/>
                <a:cs typeface="Arial"/>
              </a:defRPr>
            </a:lvl7pPr>
            <a:lvl8pPr algn="l">
              <a:defRPr sz="2400" b="1">
                <a:solidFill>
                  <a:srgbClr val="113E7A"/>
                </a:solidFill>
                <a:latin typeface="Arial"/>
                <a:ea typeface="Arial"/>
                <a:cs typeface="Arial"/>
              </a:defRPr>
            </a:lvl8pPr>
            <a:lvl9pPr algn="l">
              <a:defRPr sz="2400" b="1">
                <a:solidFill>
                  <a:srgbClr val="113E7A"/>
                </a:solidFill>
                <a:latin typeface="Arial"/>
                <a:ea typeface="Arial"/>
                <a:cs typeface="Arial"/>
              </a:defRPr>
            </a:lvl9pPr>
          </a:lstStyle>
          <a:p xmlns:a="http://schemas.openxmlformats.org/drawingml/2006/main">
            <a:pPr algn="l">
              <a:lnSpc>
                <a:spcPct val="113000"/>
              </a:lnSpc>
              <a:buNone/>
              <a:defRPr sz="2400" b="1">
                <a:solidFill>
                  <a:srgbClr val="113E7A"/>
                </a:solidFill>
                <a:latin typeface="Arial"/>
                <a:ea typeface="Arial"/>
                <a:cs typeface="Arial"/>
              </a:defRPr>
            </a:pPr>
            <a:r>
              <a:rPr sz="2400" b="1">
                <a:solidFill>
                  <a:srgbClr val="113E7A"/>
                </a:solidFill>
                <a:latin typeface="Arial"/>
                <a:ea typeface="Arial"/>
                <a:cs typeface="Arial"/>
              </a:rPr>
              <a:t>Dự đoán và xem kết quả</a:t>
            </a:r>
          </a:p>
        </p:txBody>
      </p:sp>
      <p:sp>
        <p:nvSpPr>
          <p:cNvPr id="8" name="text-134">
            <a:extLst xmlns:a="http://schemas.openxmlformats.org/drawingml/2006/main">
              <a:ext uri="{FF2B5EF4-FFF2-40B4-BE49-F238E27FC236}">
                <a16:creationId xmlns:a16="http://schemas.microsoft.com/office/drawing/2014/main" id="{3B34EC2F-9D78-4C00-AA2F-534A2DB44E4F}"/>
              </a:ext>
            </a:extLst>
          </p:cNvPr>
          <p:cNvSpPr>
            <a:spLocks xmlns:a="http://schemas.openxmlformats.org/drawingml/2006/main" noGrp="1"/>
          </p:cNvSpPr>
          <p:nvPr/>
        </p:nvSpPr>
        <p:spPr>
          <a:xfrm xmlns:a="http://schemas.openxmlformats.org/drawingml/2006/main">
            <a:off x="6667500" y="38290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D2648"/>
                </a:solidFill>
                <a:latin typeface="Arial"/>
                <a:ea typeface="Arial"/>
                <a:cs typeface="Arial"/>
              </a:defRPr>
            </a:defPPr>
            <a:lvl1pPr algn="l">
              <a:defRPr sz="1875" b="0">
                <a:solidFill>
                  <a:srgbClr val="0D2648"/>
                </a:solidFill>
                <a:latin typeface="Arial"/>
                <a:ea typeface="Arial"/>
                <a:cs typeface="Arial"/>
              </a:defRPr>
            </a:lvl1pPr>
            <a:lvl2pPr algn="l">
              <a:defRPr sz="1875" b="0">
                <a:solidFill>
                  <a:srgbClr val="0D2648"/>
                </a:solidFill>
                <a:latin typeface="Arial"/>
                <a:ea typeface="Arial"/>
                <a:cs typeface="Arial"/>
              </a:defRPr>
            </a:lvl2pPr>
            <a:lvl3pPr algn="l">
              <a:defRPr sz="1875" b="0">
                <a:solidFill>
                  <a:srgbClr val="0D2648"/>
                </a:solidFill>
                <a:latin typeface="Arial"/>
                <a:ea typeface="Arial"/>
                <a:cs typeface="Arial"/>
              </a:defRPr>
            </a:lvl3pPr>
            <a:lvl4pPr algn="l">
              <a:defRPr sz="1875" b="0">
                <a:solidFill>
                  <a:srgbClr val="0D2648"/>
                </a:solidFill>
                <a:latin typeface="Arial"/>
                <a:ea typeface="Arial"/>
                <a:cs typeface="Arial"/>
              </a:defRPr>
            </a:lvl4pPr>
            <a:lvl5pPr algn="l">
              <a:defRPr sz="1875" b="0">
                <a:solidFill>
                  <a:srgbClr val="0D2648"/>
                </a:solidFill>
                <a:latin typeface="Arial"/>
                <a:ea typeface="Arial"/>
                <a:cs typeface="Arial"/>
              </a:defRPr>
            </a:lvl5pPr>
            <a:lvl6pPr algn="l">
              <a:defRPr sz="1875" b="0">
                <a:solidFill>
                  <a:srgbClr val="0D2648"/>
                </a:solidFill>
                <a:latin typeface="Arial"/>
                <a:ea typeface="Arial"/>
                <a:cs typeface="Arial"/>
              </a:defRPr>
            </a:lvl6pPr>
            <a:lvl7pPr algn="l">
              <a:defRPr sz="1875" b="0">
                <a:solidFill>
                  <a:srgbClr val="0D2648"/>
                </a:solidFill>
                <a:latin typeface="Arial"/>
                <a:ea typeface="Arial"/>
                <a:cs typeface="Arial"/>
              </a:defRPr>
            </a:lvl7pPr>
            <a:lvl8pPr algn="l">
              <a:defRPr sz="1875" b="0">
                <a:solidFill>
                  <a:srgbClr val="0D2648"/>
                </a:solidFill>
                <a:latin typeface="Arial"/>
                <a:ea typeface="Arial"/>
                <a:cs typeface="Arial"/>
              </a:defRPr>
            </a:lvl8pPr>
            <a:lvl9pPr algn="l">
              <a:defRPr sz="1875" b="0">
                <a:solidFill>
                  <a:srgbClr val="0D2648"/>
                </a:solidFill>
                <a:latin typeface="Arial"/>
                <a:ea typeface="Arial"/>
                <a:cs typeface="Arial"/>
              </a:defRPr>
            </a:lvl9pPr>
          </a:lstStyle>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Model đã lưu, ngưỡng từ JSON.</a:t>
            </a:r>
          </a:p>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Thống kê, lọc, sắp xếp và đánh giá nhãn.</a:t>
            </a:r>
          </a:p>
        </p:txBody>
      </p:sp>
      <p:sp>
        <p:nvSpPr>
          <p:cNvPr id="9" name="text-135">
            <a:extLst xmlns:a="http://schemas.openxmlformats.org/drawingml/2006/main">
              <a:ext uri="{FF2B5EF4-FFF2-40B4-BE49-F238E27FC236}">
                <a16:creationId xmlns:a16="http://schemas.microsoft.com/office/drawing/2014/main" id="{CDEA8433-45CA-4C8D-8335-A4F73606150A}"/>
              </a:ext>
            </a:extLst>
          </p:cNvPr>
          <p:cNvSpPr>
            <a:spLocks xmlns:a="http://schemas.openxmlformats.org/drawingml/2006/main" noGrp="1"/>
          </p:cNvSpPr>
          <p:nvPr/>
        </p:nvSpPr>
        <p:spPr>
          <a:xfrm xmlns:a="http://schemas.openxmlformats.org/drawingml/2006/main">
            <a:off x="6667500" y="48577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13E7A"/>
                </a:solidFill>
                <a:latin typeface="Arial"/>
                <a:ea typeface="Arial"/>
                <a:cs typeface="Arial"/>
              </a:defRPr>
            </a:defPPr>
            <a:lvl1pPr algn="l">
              <a:defRPr sz="2400" b="1">
                <a:solidFill>
                  <a:srgbClr val="113E7A"/>
                </a:solidFill>
                <a:latin typeface="Arial"/>
                <a:ea typeface="Arial"/>
                <a:cs typeface="Arial"/>
              </a:defRPr>
            </a:lvl1pPr>
            <a:lvl2pPr algn="l">
              <a:defRPr sz="2400" b="1">
                <a:solidFill>
                  <a:srgbClr val="113E7A"/>
                </a:solidFill>
                <a:latin typeface="Arial"/>
                <a:ea typeface="Arial"/>
                <a:cs typeface="Arial"/>
              </a:defRPr>
            </a:lvl2pPr>
            <a:lvl3pPr algn="l">
              <a:defRPr sz="2400" b="1">
                <a:solidFill>
                  <a:srgbClr val="113E7A"/>
                </a:solidFill>
                <a:latin typeface="Arial"/>
                <a:ea typeface="Arial"/>
                <a:cs typeface="Arial"/>
              </a:defRPr>
            </a:lvl3pPr>
            <a:lvl4pPr algn="l">
              <a:defRPr sz="2400" b="1">
                <a:solidFill>
                  <a:srgbClr val="113E7A"/>
                </a:solidFill>
                <a:latin typeface="Arial"/>
                <a:ea typeface="Arial"/>
                <a:cs typeface="Arial"/>
              </a:defRPr>
            </a:lvl4pPr>
            <a:lvl5pPr algn="l">
              <a:defRPr sz="2400" b="1">
                <a:solidFill>
                  <a:srgbClr val="113E7A"/>
                </a:solidFill>
                <a:latin typeface="Arial"/>
                <a:ea typeface="Arial"/>
                <a:cs typeface="Arial"/>
              </a:defRPr>
            </a:lvl5pPr>
            <a:lvl6pPr algn="l">
              <a:defRPr sz="2400" b="1">
                <a:solidFill>
                  <a:srgbClr val="113E7A"/>
                </a:solidFill>
                <a:latin typeface="Arial"/>
                <a:ea typeface="Arial"/>
                <a:cs typeface="Arial"/>
              </a:defRPr>
            </a:lvl6pPr>
            <a:lvl7pPr algn="l">
              <a:defRPr sz="2400" b="1">
                <a:solidFill>
                  <a:srgbClr val="113E7A"/>
                </a:solidFill>
                <a:latin typeface="Arial"/>
                <a:ea typeface="Arial"/>
                <a:cs typeface="Arial"/>
              </a:defRPr>
            </a:lvl7pPr>
            <a:lvl8pPr algn="l">
              <a:defRPr sz="2400" b="1">
                <a:solidFill>
                  <a:srgbClr val="113E7A"/>
                </a:solidFill>
                <a:latin typeface="Arial"/>
                <a:ea typeface="Arial"/>
                <a:cs typeface="Arial"/>
              </a:defRPr>
            </a:lvl8pPr>
            <a:lvl9pPr algn="l">
              <a:defRPr sz="2400" b="1">
                <a:solidFill>
                  <a:srgbClr val="113E7A"/>
                </a:solidFill>
                <a:latin typeface="Arial"/>
                <a:ea typeface="Arial"/>
                <a:cs typeface="Arial"/>
              </a:defRPr>
            </a:lvl9pPr>
          </a:lstStyle>
          <a:p xmlns:a="http://schemas.openxmlformats.org/drawingml/2006/main">
            <a:pPr algn="l">
              <a:lnSpc>
                <a:spcPct val="113000"/>
              </a:lnSpc>
              <a:buNone/>
              <a:defRPr sz="2400" b="1">
                <a:solidFill>
                  <a:srgbClr val="113E7A"/>
                </a:solidFill>
                <a:latin typeface="Arial"/>
                <a:ea typeface="Arial"/>
                <a:cs typeface="Arial"/>
              </a:defRPr>
            </a:pPr>
            <a:r>
              <a:rPr sz="2400" b="1">
                <a:solidFill>
                  <a:srgbClr val="113E7A"/>
                </a:solidFill>
                <a:latin typeface="Arial"/>
                <a:ea typeface="Arial"/>
                <a:cs typeface="Arial"/>
              </a:rPr>
              <a:t>Xuất CSV</a:t>
            </a:r>
          </a:p>
        </p:txBody>
      </p:sp>
      <p:sp>
        <p:nvSpPr>
          <p:cNvPr id="10" name="text-136">
            <a:extLst xmlns:a="http://schemas.openxmlformats.org/drawingml/2006/main">
              <a:ext uri="{FF2B5EF4-FFF2-40B4-BE49-F238E27FC236}">
                <a16:creationId xmlns:a16="http://schemas.microsoft.com/office/drawing/2014/main" id="{BC2A7925-7D8F-486F-A205-56A85B291EB6}"/>
              </a:ext>
            </a:extLst>
          </p:cNvPr>
          <p:cNvSpPr>
            <a:spLocks xmlns:a="http://schemas.openxmlformats.org/drawingml/2006/main" noGrp="1"/>
          </p:cNvSpPr>
          <p:nvPr/>
        </p:nvSpPr>
        <p:spPr>
          <a:xfrm xmlns:a="http://schemas.openxmlformats.org/drawingml/2006/main">
            <a:off x="6667500" y="53054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D2648"/>
                </a:solidFill>
                <a:latin typeface="Arial"/>
                <a:ea typeface="Arial"/>
                <a:cs typeface="Arial"/>
              </a:defRPr>
            </a:defPPr>
            <a:lvl1pPr algn="l">
              <a:defRPr sz="1875" b="0">
                <a:solidFill>
                  <a:srgbClr val="0D2648"/>
                </a:solidFill>
                <a:latin typeface="Arial"/>
                <a:ea typeface="Arial"/>
                <a:cs typeface="Arial"/>
              </a:defRPr>
            </a:lvl1pPr>
            <a:lvl2pPr algn="l">
              <a:defRPr sz="1875" b="0">
                <a:solidFill>
                  <a:srgbClr val="0D2648"/>
                </a:solidFill>
                <a:latin typeface="Arial"/>
                <a:ea typeface="Arial"/>
                <a:cs typeface="Arial"/>
              </a:defRPr>
            </a:lvl2pPr>
            <a:lvl3pPr algn="l">
              <a:defRPr sz="1875" b="0">
                <a:solidFill>
                  <a:srgbClr val="0D2648"/>
                </a:solidFill>
                <a:latin typeface="Arial"/>
                <a:ea typeface="Arial"/>
                <a:cs typeface="Arial"/>
              </a:defRPr>
            </a:lvl3pPr>
            <a:lvl4pPr algn="l">
              <a:defRPr sz="1875" b="0">
                <a:solidFill>
                  <a:srgbClr val="0D2648"/>
                </a:solidFill>
                <a:latin typeface="Arial"/>
                <a:ea typeface="Arial"/>
                <a:cs typeface="Arial"/>
              </a:defRPr>
            </a:lvl4pPr>
            <a:lvl5pPr algn="l">
              <a:defRPr sz="1875" b="0">
                <a:solidFill>
                  <a:srgbClr val="0D2648"/>
                </a:solidFill>
                <a:latin typeface="Arial"/>
                <a:ea typeface="Arial"/>
                <a:cs typeface="Arial"/>
              </a:defRPr>
            </a:lvl5pPr>
            <a:lvl6pPr algn="l">
              <a:defRPr sz="1875" b="0">
                <a:solidFill>
                  <a:srgbClr val="0D2648"/>
                </a:solidFill>
                <a:latin typeface="Arial"/>
                <a:ea typeface="Arial"/>
                <a:cs typeface="Arial"/>
              </a:defRPr>
            </a:lvl6pPr>
            <a:lvl7pPr algn="l">
              <a:defRPr sz="1875" b="0">
                <a:solidFill>
                  <a:srgbClr val="0D2648"/>
                </a:solidFill>
                <a:latin typeface="Arial"/>
                <a:ea typeface="Arial"/>
                <a:cs typeface="Arial"/>
              </a:defRPr>
            </a:lvl7pPr>
            <a:lvl8pPr algn="l">
              <a:defRPr sz="1875" b="0">
                <a:solidFill>
                  <a:srgbClr val="0D2648"/>
                </a:solidFill>
                <a:latin typeface="Arial"/>
                <a:ea typeface="Arial"/>
                <a:cs typeface="Arial"/>
              </a:defRPr>
            </a:lvl8pPr>
            <a:lvl9pPr algn="l">
              <a:defRPr sz="1875" b="0">
                <a:solidFill>
                  <a:srgbClr val="0D2648"/>
                </a:solidFill>
                <a:latin typeface="Arial"/>
                <a:ea typeface="Arial"/>
                <a:cs typeface="Arial"/>
              </a:defRPr>
            </a:lvl9pPr>
          </a:lstStyle>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Giữ dữ liệu gốc, thêm fraud_score</a:t>
            </a:r>
          </a:p>
          <a:p xmlns:a="http://schemas.openxmlformats.org/drawingml/2006/main">
            <a:pPr algn="l">
              <a:lnSpc>
                <a:spcPct val="113000"/>
              </a:lnSpc>
              <a:buNone/>
              <a:defRPr sz="1875" b="0">
                <a:solidFill>
                  <a:srgbClr val="0D2648"/>
                </a:solidFill>
                <a:latin typeface="Arial"/>
                <a:ea typeface="Arial"/>
                <a:cs typeface="Arial"/>
              </a:defRPr>
            </a:pPr>
            <a:r>
              <a:rPr sz="1875" b="0">
                <a:solidFill>
                  <a:srgbClr val="0D2648"/>
                </a:solidFill>
                <a:latin typeface="Arial"/>
                <a:ea typeface="Arial"/>
                <a:cs typeface="Arial"/>
              </a:rPr>
              <a:t>và prediction. Không huấn luyện lại.</a:t>
            </a:r>
          </a:p>
        </p:txBody>
      </p:sp>
      <p:sp>
        <p:nvSpPr>
          <p:cNvPr id="11" name="text-137">
            <a:extLst xmlns:a="http://schemas.openxmlformats.org/drawingml/2006/main">
              <a:ext uri="{FF2B5EF4-FFF2-40B4-BE49-F238E27FC236}">
                <a16:creationId xmlns:a16="http://schemas.microsoft.com/office/drawing/2014/main" id="{C8C6BCD9-03D6-44B8-8FAA-A2EA46079C23}"/>
              </a:ext>
            </a:extLst>
          </p:cNvPr>
          <p:cNvSpPr>
            <a:spLocks xmlns:a="http://schemas.openxmlformats.org/drawingml/2006/main" noGrp="1"/>
          </p:cNvSpPr>
          <p:nvPr/>
        </p:nvSpPr>
        <p:spPr>
          <a:xfrm xmlns:a="http://schemas.openxmlformats.org/drawingml/2006/main">
            <a:off x="952500" y="6419850"/>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2718E"/>
                </a:solidFill>
                <a:latin typeface="Arial"/>
                <a:ea typeface="Arial"/>
                <a:cs typeface="Arial"/>
              </a:defRPr>
            </a:defPPr>
            <a:lvl1pPr algn="ctr">
              <a:defRPr sz="1425" b="0">
                <a:solidFill>
                  <a:srgbClr val="52718E"/>
                </a:solidFill>
                <a:latin typeface="Arial"/>
                <a:ea typeface="Arial"/>
                <a:cs typeface="Arial"/>
              </a:defRPr>
            </a:lvl1pPr>
            <a:lvl2pPr algn="ctr">
              <a:defRPr sz="1425" b="0">
                <a:solidFill>
                  <a:srgbClr val="52718E"/>
                </a:solidFill>
                <a:latin typeface="Arial"/>
                <a:ea typeface="Arial"/>
                <a:cs typeface="Arial"/>
              </a:defRPr>
            </a:lvl2pPr>
            <a:lvl3pPr algn="ctr">
              <a:defRPr sz="1425" b="0">
                <a:solidFill>
                  <a:srgbClr val="52718E"/>
                </a:solidFill>
                <a:latin typeface="Arial"/>
                <a:ea typeface="Arial"/>
                <a:cs typeface="Arial"/>
              </a:defRPr>
            </a:lvl3pPr>
            <a:lvl4pPr algn="ctr">
              <a:defRPr sz="1425" b="0">
                <a:solidFill>
                  <a:srgbClr val="52718E"/>
                </a:solidFill>
                <a:latin typeface="Arial"/>
                <a:ea typeface="Arial"/>
                <a:cs typeface="Arial"/>
              </a:defRPr>
            </a:lvl4pPr>
            <a:lvl5pPr algn="ctr">
              <a:defRPr sz="1425" b="0">
                <a:solidFill>
                  <a:srgbClr val="52718E"/>
                </a:solidFill>
                <a:latin typeface="Arial"/>
                <a:ea typeface="Arial"/>
                <a:cs typeface="Arial"/>
              </a:defRPr>
            </a:lvl5pPr>
            <a:lvl6pPr algn="ctr">
              <a:defRPr sz="1425" b="0">
                <a:solidFill>
                  <a:srgbClr val="52718E"/>
                </a:solidFill>
                <a:latin typeface="Arial"/>
                <a:ea typeface="Arial"/>
                <a:cs typeface="Arial"/>
              </a:defRPr>
            </a:lvl6pPr>
            <a:lvl7pPr algn="ctr">
              <a:defRPr sz="1425" b="0">
                <a:solidFill>
                  <a:srgbClr val="52718E"/>
                </a:solidFill>
                <a:latin typeface="Arial"/>
                <a:ea typeface="Arial"/>
                <a:cs typeface="Arial"/>
              </a:defRPr>
            </a:lvl7pPr>
            <a:lvl8pPr algn="ctr">
              <a:defRPr sz="1425" b="0">
                <a:solidFill>
                  <a:srgbClr val="52718E"/>
                </a:solidFill>
                <a:latin typeface="Arial"/>
                <a:ea typeface="Arial"/>
                <a:cs typeface="Arial"/>
              </a:defRPr>
            </a:lvl8pPr>
            <a:lvl9pPr algn="ctr">
              <a:defRPr sz="1425" b="0">
                <a:solidFill>
                  <a:srgbClr val="52718E"/>
                </a:solidFill>
                <a:latin typeface="Arial"/>
                <a:ea typeface="Arial"/>
                <a:cs typeface="Arial"/>
              </a:defRPr>
            </a:lvl9pPr>
          </a:lstStyle>
          <a:p xmlns:a="http://schemas.openxmlformats.org/drawingml/2006/main">
            <a:pPr algn="ctr">
              <a:lnSpc>
                <a:spcPct val="113000"/>
              </a:lnSpc>
              <a:buNone/>
              <a:defRPr sz="1425" b="0">
                <a:solidFill>
                  <a:srgbClr val="52718E"/>
                </a:solidFill>
                <a:latin typeface="Arial"/>
                <a:ea typeface="Arial"/>
                <a:cs typeface="Arial"/>
              </a:defRPr>
            </a:pPr>
            <a:r>
              <a:rPr sz="1425" b="0">
                <a:solidFill>
                  <a:srgbClr val="52718E"/>
                </a:solidFill>
                <a:latin typeface="Arial"/>
                <a:ea typeface="Arial"/>
                <a:cs typeface="Arial"/>
              </a:rPr>
              <a:t>Ảnh demo: 20 giao dịch thật được chọn để minh họa, không đại diện tỷ lệ gian lận.</a:t>
            </a:r>
          </a:p>
        </p:txBody>
      </p:sp>
    </p:spTree>
    <p:extLst>
      <p:ext uri="{BB962C8B-B14F-4D97-AF65-F5344CB8AC3E}">
        <p14:creationId xmlns:p14="http://schemas.microsoft.com/office/powerpoint/2010/main" val="893268633"/>
      </p:ext>
    </p:extLst>
  </p:cSld>
</p:sld>
</file>

<file path=ppt/slides/slide14.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0B5CD99-944A-40FE-9460-CED8A61F756E}"/>
              </a:ext>
            </a:extLst>
          </p:cNvPr>
          <p:cNvPicPr>
            <a:picLocks xmlns:a="http://schemas.openxmlformats.org/drawingml/2006/main" noChangeAspect="1"/>
          </p:cNvPicPr>
          <p:nvPr/>
        </p:nvPicPr>
        <p:blipFill>
          <a:blip xmlns:r="http://schemas.openxmlformats.org/officeDocument/2006/relationships" xmlns:a="http://schemas.openxmlformats.org/drawingml/2006/main" r:embed="Ra0c1ce8b33294e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38">
            <a:extLst xmlns:a="http://schemas.openxmlformats.org/drawingml/2006/main">
              <a:ext uri="{FF2B5EF4-FFF2-40B4-BE49-F238E27FC236}">
                <a16:creationId xmlns:a16="http://schemas.microsoft.com/office/drawing/2014/main" id="{2EFCF203-80A5-4B06-8492-880C23C1FB42}"/>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Hạn chế và hướng phát triển</a:t>
            </a:r>
          </a:p>
        </p:txBody>
      </p:sp>
      <p:sp>
        <p:nvSpPr>
          <p:cNvPr id="3" name="text-139">
            <a:extLst xmlns:a="http://schemas.openxmlformats.org/drawingml/2006/main">
              <a:ext uri="{FF2B5EF4-FFF2-40B4-BE49-F238E27FC236}">
                <a16:creationId xmlns:a16="http://schemas.microsoft.com/office/drawing/2014/main" id="{40B96688-2CE0-4F09-97B4-B6FD17C998F9}"/>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14</a:t>
            </a:r>
          </a:p>
        </p:txBody>
      </p:sp>
      <p:sp>
        <p:nvSpPr>
          <p:cNvPr id="4" name="text-140">
            <a:extLst xmlns:a="http://schemas.openxmlformats.org/drawingml/2006/main">
              <a:ext uri="{FF2B5EF4-FFF2-40B4-BE49-F238E27FC236}">
                <a16:creationId xmlns:a16="http://schemas.microsoft.com/office/drawing/2014/main" id="{D50C75E4-1216-485E-A87A-3806BBB221B0}"/>
              </a:ext>
            </a:extLst>
          </p:cNvPr>
          <p:cNvSpPr>
            <a:spLocks xmlns:a="http://schemas.openxmlformats.org/drawingml/2006/main" noGrp="1"/>
          </p:cNvSpPr>
          <p:nvPr/>
        </p:nvSpPr>
        <p:spPr>
          <a:xfrm xmlns:a="http://schemas.openxmlformats.org/drawingml/2006/main">
            <a:off x="1047750" y="19526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13E7A"/>
                </a:solidFill>
                <a:latin typeface="Arial"/>
                <a:ea typeface="Arial"/>
                <a:cs typeface="Arial"/>
              </a:defRPr>
            </a:defPPr>
            <a:lvl1pPr algn="l">
              <a:defRPr sz="2550" b="1">
                <a:solidFill>
                  <a:srgbClr val="113E7A"/>
                </a:solidFill>
                <a:latin typeface="Arial"/>
                <a:ea typeface="Arial"/>
                <a:cs typeface="Arial"/>
              </a:defRPr>
            </a:lvl1pPr>
            <a:lvl2pPr algn="l">
              <a:defRPr sz="2550" b="1">
                <a:solidFill>
                  <a:srgbClr val="113E7A"/>
                </a:solidFill>
                <a:latin typeface="Arial"/>
                <a:ea typeface="Arial"/>
                <a:cs typeface="Arial"/>
              </a:defRPr>
            </a:lvl2pPr>
            <a:lvl3pPr algn="l">
              <a:defRPr sz="2550" b="1">
                <a:solidFill>
                  <a:srgbClr val="113E7A"/>
                </a:solidFill>
                <a:latin typeface="Arial"/>
                <a:ea typeface="Arial"/>
                <a:cs typeface="Arial"/>
              </a:defRPr>
            </a:lvl3pPr>
            <a:lvl4pPr algn="l">
              <a:defRPr sz="2550" b="1">
                <a:solidFill>
                  <a:srgbClr val="113E7A"/>
                </a:solidFill>
                <a:latin typeface="Arial"/>
                <a:ea typeface="Arial"/>
                <a:cs typeface="Arial"/>
              </a:defRPr>
            </a:lvl4pPr>
            <a:lvl5pPr algn="l">
              <a:defRPr sz="2550" b="1">
                <a:solidFill>
                  <a:srgbClr val="113E7A"/>
                </a:solidFill>
                <a:latin typeface="Arial"/>
                <a:ea typeface="Arial"/>
                <a:cs typeface="Arial"/>
              </a:defRPr>
            </a:lvl5pPr>
            <a:lvl6pPr algn="l">
              <a:defRPr sz="2550" b="1">
                <a:solidFill>
                  <a:srgbClr val="113E7A"/>
                </a:solidFill>
                <a:latin typeface="Arial"/>
                <a:ea typeface="Arial"/>
                <a:cs typeface="Arial"/>
              </a:defRPr>
            </a:lvl6pPr>
            <a:lvl7pPr algn="l">
              <a:defRPr sz="2550" b="1">
                <a:solidFill>
                  <a:srgbClr val="113E7A"/>
                </a:solidFill>
                <a:latin typeface="Arial"/>
                <a:ea typeface="Arial"/>
                <a:cs typeface="Arial"/>
              </a:defRPr>
            </a:lvl7pPr>
            <a:lvl8pPr algn="l">
              <a:defRPr sz="2550" b="1">
                <a:solidFill>
                  <a:srgbClr val="113E7A"/>
                </a:solidFill>
                <a:latin typeface="Arial"/>
                <a:ea typeface="Arial"/>
                <a:cs typeface="Arial"/>
              </a:defRPr>
            </a:lvl8pPr>
            <a:lvl9pPr algn="l">
              <a:defRPr sz="2550" b="1">
                <a:solidFill>
                  <a:srgbClr val="113E7A"/>
                </a:solidFill>
                <a:latin typeface="Arial"/>
                <a:ea typeface="Arial"/>
                <a:cs typeface="Arial"/>
              </a:defRPr>
            </a:lvl9pPr>
          </a:lstStyle>
          <a:p xmlns:a="http://schemas.openxmlformats.org/drawingml/2006/main">
            <a:pPr algn="l">
              <a:lnSpc>
                <a:spcPct val="113000"/>
              </a:lnSpc>
              <a:buNone/>
              <a:defRPr sz="2550" b="1">
                <a:solidFill>
                  <a:srgbClr val="113E7A"/>
                </a:solidFill>
                <a:latin typeface="Arial"/>
                <a:ea typeface="Arial"/>
                <a:cs typeface="Arial"/>
              </a:defRPr>
            </a:pPr>
            <a:r>
              <a:rPr sz="2550" b="1">
                <a:solidFill>
                  <a:srgbClr val="113E7A"/>
                </a:solidFill>
                <a:latin typeface="Arial"/>
                <a:ea typeface="Arial"/>
                <a:cs typeface="Arial"/>
              </a:rPr>
              <a:t>Hạn chế hiện tại</a:t>
            </a:r>
          </a:p>
        </p:txBody>
      </p:sp>
      <p:sp>
        <p:nvSpPr>
          <p:cNvPr id="5" name="text-141">
            <a:extLst xmlns:a="http://schemas.openxmlformats.org/drawingml/2006/main">
              <a:ext uri="{FF2B5EF4-FFF2-40B4-BE49-F238E27FC236}">
                <a16:creationId xmlns:a16="http://schemas.microsoft.com/office/drawing/2014/main" id="{678F7E02-75A0-4903-9A1F-612ECD08DE6E}"/>
              </a:ext>
            </a:extLst>
          </p:cNvPr>
          <p:cNvSpPr>
            <a:spLocks xmlns:a="http://schemas.openxmlformats.org/drawingml/2006/main" noGrp="1"/>
          </p:cNvSpPr>
          <p:nvPr/>
        </p:nvSpPr>
        <p:spPr>
          <a:xfrm xmlns:a="http://schemas.openxmlformats.org/drawingml/2006/main">
            <a:off x="6762750" y="195262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13E7A"/>
                </a:solidFill>
                <a:latin typeface="Arial"/>
                <a:ea typeface="Arial"/>
                <a:cs typeface="Arial"/>
              </a:defRPr>
            </a:defPPr>
            <a:lvl1pPr algn="l">
              <a:defRPr sz="2550" b="1">
                <a:solidFill>
                  <a:srgbClr val="113E7A"/>
                </a:solidFill>
                <a:latin typeface="Arial"/>
                <a:ea typeface="Arial"/>
                <a:cs typeface="Arial"/>
              </a:defRPr>
            </a:lvl1pPr>
            <a:lvl2pPr algn="l">
              <a:defRPr sz="2550" b="1">
                <a:solidFill>
                  <a:srgbClr val="113E7A"/>
                </a:solidFill>
                <a:latin typeface="Arial"/>
                <a:ea typeface="Arial"/>
                <a:cs typeface="Arial"/>
              </a:defRPr>
            </a:lvl2pPr>
            <a:lvl3pPr algn="l">
              <a:defRPr sz="2550" b="1">
                <a:solidFill>
                  <a:srgbClr val="113E7A"/>
                </a:solidFill>
                <a:latin typeface="Arial"/>
                <a:ea typeface="Arial"/>
                <a:cs typeface="Arial"/>
              </a:defRPr>
            </a:lvl3pPr>
            <a:lvl4pPr algn="l">
              <a:defRPr sz="2550" b="1">
                <a:solidFill>
                  <a:srgbClr val="113E7A"/>
                </a:solidFill>
                <a:latin typeface="Arial"/>
                <a:ea typeface="Arial"/>
                <a:cs typeface="Arial"/>
              </a:defRPr>
            </a:lvl4pPr>
            <a:lvl5pPr algn="l">
              <a:defRPr sz="2550" b="1">
                <a:solidFill>
                  <a:srgbClr val="113E7A"/>
                </a:solidFill>
                <a:latin typeface="Arial"/>
                <a:ea typeface="Arial"/>
                <a:cs typeface="Arial"/>
              </a:defRPr>
            </a:lvl5pPr>
            <a:lvl6pPr algn="l">
              <a:defRPr sz="2550" b="1">
                <a:solidFill>
                  <a:srgbClr val="113E7A"/>
                </a:solidFill>
                <a:latin typeface="Arial"/>
                <a:ea typeface="Arial"/>
                <a:cs typeface="Arial"/>
              </a:defRPr>
            </a:lvl6pPr>
            <a:lvl7pPr algn="l">
              <a:defRPr sz="2550" b="1">
                <a:solidFill>
                  <a:srgbClr val="113E7A"/>
                </a:solidFill>
                <a:latin typeface="Arial"/>
                <a:ea typeface="Arial"/>
                <a:cs typeface="Arial"/>
              </a:defRPr>
            </a:lvl7pPr>
            <a:lvl8pPr algn="l">
              <a:defRPr sz="2550" b="1">
                <a:solidFill>
                  <a:srgbClr val="113E7A"/>
                </a:solidFill>
                <a:latin typeface="Arial"/>
                <a:ea typeface="Arial"/>
                <a:cs typeface="Arial"/>
              </a:defRPr>
            </a:lvl8pPr>
            <a:lvl9pPr algn="l">
              <a:defRPr sz="2550" b="1">
                <a:solidFill>
                  <a:srgbClr val="113E7A"/>
                </a:solidFill>
                <a:latin typeface="Arial"/>
                <a:ea typeface="Arial"/>
                <a:cs typeface="Arial"/>
              </a:defRPr>
            </a:lvl9pPr>
          </a:lstStyle>
          <a:p xmlns:a="http://schemas.openxmlformats.org/drawingml/2006/main">
            <a:pPr algn="l">
              <a:lnSpc>
                <a:spcPct val="113000"/>
              </a:lnSpc>
              <a:buNone/>
              <a:defRPr sz="2550" b="1">
                <a:solidFill>
                  <a:srgbClr val="113E7A"/>
                </a:solidFill>
                <a:latin typeface="Arial"/>
                <a:ea typeface="Arial"/>
                <a:cs typeface="Arial"/>
              </a:defRPr>
            </a:pPr>
            <a:r>
              <a:rPr sz="2550" b="1">
                <a:solidFill>
                  <a:srgbClr val="113E7A"/>
                </a:solidFill>
                <a:latin typeface="Arial"/>
                <a:ea typeface="Arial"/>
                <a:cs typeface="Arial"/>
              </a:rPr>
              <a:t>Hướng phát triển</a:t>
            </a:r>
          </a:p>
        </p:txBody>
      </p:sp>
      <p:sp>
        <p:nvSpPr>
          <p:cNvPr id="6" name="text-142">
            <a:extLst xmlns:a="http://schemas.openxmlformats.org/drawingml/2006/main">
              <a:ext uri="{FF2B5EF4-FFF2-40B4-BE49-F238E27FC236}">
                <a16:creationId xmlns:a16="http://schemas.microsoft.com/office/drawing/2014/main" id="{28A910C7-DA9A-469B-9540-E82C5482A8B0}"/>
              </a:ext>
            </a:extLst>
          </p:cNvPr>
          <p:cNvSpPr>
            <a:spLocks xmlns:a="http://schemas.openxmlformats.org/drawingml/2006/main" noGrp="1"/>
          </p:cNvSpPr>
          <p:nvPr/>
        </p:nvSpPr>
        <p:spPr>
          <a:xfrm xmlns:a="http://schemas.openxmlformats.org/drawingml/2006/main">
            <a:off x="1047750" y="273367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1. Chỉ 473 ca gian lận sau bỏ trùng.</a:t>
            </a:r>
          </a:p>
        </p:txBody>
      </p:sp>
      <p:sp>
        <p:nvSpPr>
          <p:cNvPr id="7" name="text-143">
            <a:extLst xmlns:a="http://schemas.openxmlformats.org/drawingml/2006/main">
              <a:ext uri="{FF2B5EF4-FFF2-40B4-BE49-F238E27FC236}">
                <a16:creationId xmlns:a16="http://schemas.microsoft.com/office/drawing/2014/main" id="{0BDD75E9-F2D7-4D1A-837A-949272942C4E}"/>
              </a:ext>
            </a:extLst>
          </p:cNvPr>
          <p:cNvSpPr>
            <a:spLocks xmlns:a="http://schemas.openxmlformats.org/drawingml/2006/main" noGrp="1"/>
          </p:cNvSpPr>
          <p:nvPr/>
        </p:nvSpPr>
        <p:spPr>
          <a:xfrm xmlns:a="http://schemas.openxmlformats.org/drawingml/2006/main">
            <a:off x="1047750" y="359092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2. Test vẫn bỏ sót 25/95 ca gian lận.</a:t>
            </a:r>
          </a:p>
        </p:txBody>
      </p:sp>
      <p:sp>
        <p:nvSpPr>
          <p:cNvPr id="8" name="text-144">
            <a:extLst xmlns:a="http://schemas.openxmlformats.org/drawingml/2006/main">
              <a:ext uri="{FF2B5EF4-FFF2-40B4-BE49-F238E27FC236}">
                <a16:creationId xmlns:a16="http://schemas.microsoft.com/office/drawing/2014/main" id="{191817BB-282A-4F3A-91A4-7C5A61C2D099}"/>
              </a:ext>
            </a:extLst>
          </p:cNvPr>
          <p:cNvSpPr>
            <a:spLocks xmlns:a="http://schemas.openxmlformats.org/drawingml/2006/main" noGrp="1"/>
          </p:cNvSpPr>
          <p:nvPr/>
        </p:nvSpPr>
        <p:spPr>
          <a:xfrm xmlns:a="http://schemas.openxmlformats.org/drawingml/2006/main">
            <a:off x="1047750" y="444817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3. PCA làm giảm khả năng giải thích</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trực tiếp theo nghiệp vụ.</a:t>
            </a:r>
          </a:p>
        </p:txBody>
      </p:sp>
      <p:sp>
        <p:nvSpPr>
          <p:cNvPr id="9" name="text-145">
            <a:extLst xmlns:a="http://schemas.openxmlformats.org/drawingml/2006/main">
              <a:ext uri="{FF2B5EF4-FFF2-40B4-BE49-F238E27FC236}">
                <a16:creationId xmlns:a16="http://schemas.microsoft.com/office/drawing/2014/main" id="{76233395-455D-4575-9BB0-16B4C8B355A0}"/>
              </a:ext>
            </a:extLst>
          </p:cNvPr>
          <p:cNvSpPr>
            <a:spLocks xmlns:a="http://schemas.openxmlformats.org/drawingml/2006/main" noGrp="1"/>
          </p:cNvSpPr>
          <p:nvPr/>
        </p:nvSpPr>
        <p:spPr>
          <a:xfrm xmlns:a="http://schemas.openxmlformats.org/drawingml/2006/main">
            <a:off x="1047750" y="530542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4. Một dataset và một phân hoạch</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chưa bảo đảm hiệu quả triển khai.</a:t>
            </a:r>
          </a:p>
        </p:txBody>
      </p:sp>
      <p:sp>
        <p:nvSpPr>
          <p:cNvPr id="10" name="text-146">
            <a:extLst xmlns:a="http://schemas.openxmlformats.org/drawingml/2006/main">
              <a:ext uri="{FF2B5EF4-FFF2-40B4-BE49-F238E27FC236}">
                <a16:creationId xmlns:a16="http://schemas.microsoft.com/office/drawing/2014/main" id="{86837CB6-FE21-4A47-956E-FF89E30469DE}"/>
              </a:ext>
            </a:extLst>
          </p:cNvPr>
          <p:cNvSpPr>
            <a:spLocks xmlns:a="http://schemas.openxmlformats.org/drawingml/2006/main" noGrp="1"/>
          </p:cNvSpPr>
          <p:nvPr/>
        </p:nvSpPr>
        <p:spPr>
          <a:xfrm xmlns:a="http://schemas.openxmlformats.org/drawingml/2006/main">
            <a:off x="6762750" y="273367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1. Thử xử lý mất cân bằng</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đúng trong training/fold.</a:t>
            </a:r>
          </a:p>
        </p:txBody>
      </p:sp>
      <p:sp>
        <p:nvSpPr>
          <p:cNvPr id="11" name="text-147">
            <a:extLst xmlns:a="http://schemas.openxmlformats.org/drawingml/2006/main">
              <a:ext uri="{FF2B5EF4-FFF2-40B4-BE49-F238E27FC236}">
                <a16:creationId xmlns:a16="http://schemas.microsoft.com/office/drawing/2014/main" id="{A2A056EB-36DD-4E0C-A9FB-0DC011D9E452}"/>
              </a:ext>
            </a:extLst>
          </p:cNvPr>
          <p:cNvSpPr>
            <a:spLocks xmlns:a="http://schemas.openxmlformats.org/drawingml/2006/main" noGrp="1"/>
          </p:cNvSpPr>
          <p:nvPr/>
        </p:nvSpPr>
        <p:spPr>
          <a:xfrm xmlns:a="http://schemas.openxmlformats.org/drawingml/2006/main">
            <a:off x="6762750" y="359092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2. Chọn ngưỡng theo chi phí</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bỏ sót và cảnh báo nhầm.</a:t>
            </a:r>
          </a:p>
        </p:txBody>
      </p:sp>
      <p:sp>
        <p:nvSpPr>
          <p:cNvPr id="12" name="text-148">
            <a:extLst xmlns:a="http://schemas.openxmlformats.org/drawingml/2006/main">
              <a:ext uri="{FF2B5EF4-FFF2-40B4-BE49-F238E27FC236}">
                <a16:creationId xmlns:a16="http://schemas.microsoft.com/office/drawing/2014/main" id="{70AF2417-1EB6-46DD-96D8-CBE7EBB1F520}"/>
              </a:ext>
            </a:extLst>
          </p:cNvPr>
          <p:cNvSpPr>
            <a:spLocks xmlns:a="http://schemas.openxmlformats.org/drawingml/2006/main" noGrp="1"/>
          </p:cNvSpPr>
          <p:nvPr/>
        </p:nvSpPr>
        <p:spPr>
          <a:xfrm xmlns:a="http://schemas.openxmlformats.org/drawingml/2006/main">
            <a:off x="6762750" y="444817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3. Bổ sung cách giải thích mô hình</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cho người kiểm tra giao dịch.</a:t>
            </a:r>
          </a:p>
        </p:txBody>
      </p:sp>
      <p:sp>
        <p:nvSpPr>
          <p:cNvPr id="13" name="text-149">
            <a:extLst xmlns:a="http://schemas.openxmlformats.org/drawingml/2006/main">
              <a:ext uri="{FF2B5EF4-FFF2-40B4-BE49-F238E27FC236}">
                <a16:creationId xmlns:a16="http://schemas.microsoft.com/office/drawing/2014/main" id="{25C77009-7461-4D27-A2EF-B3C40A2C5120}"/>
              </a:ext>
            </a:extLst>
          </p:cNvPr>
          <p:cNvSpPr>
            <a:spLocks xmlns:a="http://schemas.openxmlformats.org/drawingml/2006/main" noGrp="1"/>
          </p:cNvSpPr>
          <p:nvPr/>
        </p:nvSpPr>
        <p:spPr>
          <a:xfrm xmlns:a="http://schemas.openxmlformats.org/drawingml/2006/main">
            <a:off x="6762750" y="530542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D2648"/>
                </a:solidFill>
                <a:latin typeface="Arial"/>
                <a:ea typeface="Arial"/>
                <a:cs typeface="Arial"/>
              </a:defRPr>
            </a:defPPr>
            <a:lvl1pPr algn="l">
              <a:defRPr sz="1950" b="0">
                <a:solidFill>
                  <a:srgbClr val="0D2648"/>
                </a:solidFill>
                <a:latin typeface="Arial"/>
                <a:ea typeface="Arial"/>
                <a:cs typeface="Arial"/>
              </a:defRPr>
            </a:lvl1pPr>
            <a:lvl2pPr algn="l">
              <a:defRPr sz="1950" b="0">
                <a:solidFill>
                  <a:srgbClr val="0D2648"/>
                </a:solidFill>
                <a:latin typeface="Arial"/>
                <a:ea typeface="Arial"/>
                <a:cs typeface="Arial"/>
              </a:defRPr>
            </a:lvl2pPr>
            <a:lvl3pPr algn="l">
              <a:defRPr sz="1950" b="0">
                <a:solidFill>
                  <a:srgbClr val="0D2648"/>
                </a:solidFill>
                <a:latin typeface="Arial"/>
                <a:ea typeface="Arial"/>
                <a:cs typeface="Arial"/>
              </a:defRPr>
            </a:lvl3pPr>
            <a:lvl4pPr algn="l">
              <a:defRPr sz="1950" b="0">
                <a:solidFill>
                  <a:srgbClr val="0D2648"/>
                </a:solidFill>
                <a:latin typeface="Arial"/>
                <a:ea typeface="Arial"/>
                <a:cs typeface="Arial"/>
              </a:defRPr>
            </a:lvl4pPr>
            <a:lvl5pPr algn="l">
              <a:defRPr sz="1950" b="0">
                <a:solidFill>
                  <a:srgbClr val="0D2648"/>
                </a:solidFill>
                <a:latin typeface="Arial"/>
                <a:ea typeface="Arial"/>
                <a:cs typeface="Arial"/>
              </a:defRPr>
            </a:lvl5pPr>
            <a:lvl6pPr algn="l">
              <a:defRPr sz="1950" b="0">
                <a:solidFill>
                  <a:srgbClr val="0D2648"/>
                </a:solidFill>
                <a:latin typeface="Arial"/>
                <a:ea typeface="Arial"/>
                <a:cs typeface="Arial"/>
              </a:defRPr>
            </a:lvl6pPr>
            <a:lvl7pPr algn="l">
              <a:defRPr sz="1950" b="0">
                <a:solidFill>
                  <a:srgbClr val="0D2648"/>
                </a:solidFill>
                <a:latin typeface="Arial"/>
                <a:ea typeface="Arial"/>
                <a:cs typeface="Arial"/>
              </a:defRPr>
            </a:lvl7pPr>
            <a:lvl8pPr algn="l">
              <a:defRPr sz="1950" b="0">
                <a:solidFill>
                  <a:srgbClr val="0D2648"/>
                </a:solidFill>
                <a:latin typeface="Arial"/>
                <a:ea typeface="Arial"/>
                <a:cs typeface="Arial"/>
              </a:defRPr>
            </a:lvl8pPr>
            <a:lvl9pPr algn="l">
              <a:defRPr sz="1950" b="0">
                <a:solidFill>
                  <a:srgbClr val="0D2648"/>
                </a:solidFill>
                <a:latin typeface="Arial"/>
                <a:ea typeface="Arial"/>
                <a:cs typeface="Arial"/>
              </a:defRPr>
            </a:lvl9pPr>
          </a:lstStyle>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4. Đánh giá dữ liệu mới, theo dõi</a:t>
            </a:r>
          </a:p>
          <a:p xmlns:a="http://schemas.openxmlformats.org/drawingml/2006/main">
            <a:pPr algn="l">
              <a:lnSpc>
                <a:spcPct val="113000"/>
              </a:lnSpc>
              <a:buNone/>
              <a:defRPr sz="1950" b="0">
                <a:solidFill>
                  <a:srgbClr val="0D2648"/>
                </a:solidFill>
                <a:latin typeface="Arial"/>
                <a:ea typeface="Arial"/>
                <a:cs typeface="Arial"/>
              </a:defRPr>
            </a:pPr>
            <a:r>
              <a:rPr sz="1950" b="0">
                <a:solidFill>
                  <a:srgbClr val="0D2648"/>
                </a:solidFill>
                <a:latin typeface="Arial"/>
                <a:ea typeface="Arial"/>
                <a:cs typeface="Arial"/>
              </a:rPr>
              <a:t>thay đổi phân phối, cải thiện demo.</a:t>
            </a:r>
          </a:p>
        </p:txBody>
      </p:sp>
    </p:spTree>
    <p:extLst>
      <p:ext uri="{BB962C8B-B14F-4D97-AF65-F5344CB8AC3E}">
        <p14:creationId xmlns:p14="http://schemas.microsoft.com/office/powerpoint/2010/main" val="94821436"/>
      </p:ext>
    </p:extLst>
  </p:cSld>
</p:sld>
</file>

<file path=ppt/slides/slide15.xml><?xml version="1.0" encoding="utf-8"?>
<p:sld xmlns:p="http://schemas.openxmlformats.org/presentationml/2006/main">
  <p:cSld>
    <p:bg>
      <p:bgPr>
        <a:solidFill xmlns:a="http://schemas.openxmlformats.org/drawingml/2006/main">
          <a:srgbClr val="F8FC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5042781-DFC3-41FC-AA10-60D6AB80D037}"/>
              </a:ext>
            </a:extLst>
          </p:cNvPr>
          <p:cNvPicPr>
            <a:picLocks xmlns:a="http://schemas.openxmlformats.org/drawingml/2006/main" noChangeAspect="1"/>
          </p:cNvPicPr>
          <p:nvPr/>
        </p:nvPicPr>
        <p:blipFill>
          <a:blip xmlns:r="http://schemas.openxmlformats.org/officeDocument/2006/relationships" xmlns:a="http://schemas.openxmlformats.org/drawingml/2006/main" r:embed="Rfaca6269bd8e4a5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150">
            <a:extLst xmlns:a="http://schemas.openxmlformats.org/drawingml/2006/main">
              <a:ext uri="{FF2B5EF4-FFF2-40B4-BE49-F238E27FC236}">
                <a16:creationId xmlns:a16="http://schemas.microsoft.com/office/drawing/2014/main" id="{57A71524-C3E7-4427-9B57-295C751CCD92}"/>
              </a:ext>
            </a:extLst>
          </p:cNvPr>
          <p:cNvSpPr>
            <a:spLocks xmlns:a="http://schemas.openxmlformats.org/drawingml/2006/main" noGrp="1"/>
          </p:cNvSpPr>
          <p:nvPr/>
        </p:nvSpPr>
        <p:spPr>
          <a:xfrm xmlns:a="http://schemas.openxmlformats.org/drawingml/2006/main">
            <a:off x="904875" y="733425"/>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600" b="1">
                <a:solidFill>
                  <a:srgbClr val="113E7A"/>
                </a:solidFill>
                <a:latin typeface="Arial"/>
                <a:ea typeface="Arial"/>
                <a:cs typeface="Arial"/>
              </a:defRPr>
            </a:defPPr>
            <a:lvl1pPr algn="ctr">
              <a:defRPr sz="3600" b="1">
                <a:solidFill>
                  <a:srgbClr val="113E7A"/>
                </a:solidFill>
                <a:latin typeface="Arial"/>
                <a:ea typeface="Arial"/>
                <a:cs typeface="Arial"/>
              </a:defRPr>
            </a:lvl1pPr>
            <a:lvl2pPr algn="ctr">
              <a:defRPr sz="3600" b="1">
                <a:solidFill>
                  <a:srgbClr val="113E7A"/>
                </a:solidFill>
                <a:latin typeface="Arial"/>
                <a:ea typeface="Arial"/>
                <a:cs typeface="Arial"/>
              </a:defRPr>
            </a:lvl2pPr>
            <a:lvl3pPr algn="ctr">
              <a:defRPr sz="3600" b="1">
                <a:solidFill>
                  <a:srgbClr val="113E7A"/>
                </a:solidFill>
                <a:latin typeface="Arial"/>
                <a:ea typeface="Arial"/>
                <a:cs typeface="Arial"/>
              </a:defRPr>
            </a:lvl3pPr>
            <a:lvl4pPr algn="ctr">
              <a:defRPr sz="3600" b="1">
                <a:solidFill>
                  <a:srgbClr val="113E7A"/>
                </a:solidFill>
                <a:latin typeface="Arial"/>
                <a:ea typeface="Arial"/>
                <a:cs typeface="Arial"/>
              </a:defRPr>
            </a:lvl4pPr>
            <a:lvl5pPr algn="ctr">
              <a:defRPr sz="3600" b="1">
                <a:solidFill>
                  <a:srgbClr val="113E7A"/>
                </a:solidFill>
                <a:latin typeface="Arial"/>
                <a:ea typeface="Arial"/>
                <a:cs typeface="Arial"/>
              </a:defRPr>
            </a:lvl5pPr>
            <a:lvl6pPr algn="ctr">
              <a:defRPr sz="3600" b="1">
                <a:solidFill>
                  <a:srgbClr val="113E7A"/>
                </a:solidFill>
                <a:latin typeface="Arial"/>
                <a:ea typeface="Arial"/>
                <a:cs typeface="Arial"/>
              </a:defRPr>
            </a:lvl6pPr>
            <a:lvl7pPr algn="ctr">
              <a:defRPr sz="3600" b="1">
                <a:solidFill>
                  <a:srgbClr val="113E7A"/>
                </a:solidFill>
                <a:latin typeface="Arial"/>
                <a:ea typeface="Arial"/>
                <a:cs typeface="Arial"/>
              </a:defRPr>
            </a:lvl7pPr>
            <a:lvl8pPr algn="ctr">
              <a:defRPr sz="3600" b="1">
                <a:solidFill>
                  <a:srgbClr val="113E7A"/>
                </a:solidFill>
                <a:latin typeface="Arial"/>
                <a:ea typeface="Arial"/>
                <a:cs typeface="Arial"/>
              </a:defRPr>
            </a:lvl8pPr>
            <a:lvl9pPr algn="ctr">
              <a:defRPr sz="3600" b="1">
                <a:solidFill>
                  <a:srgbClr val="113E7A"/>
                </a:solidFill>
                <a:latin typeface="Arial"/>
                <a:ea typeface="Arial"/>
                <a:cs typeface="Arial"/>
              </a:defRPr>
            </a:lvl9pPr>
          </a:lstStyle>
          <a:p xmlns:a="http://schemas.openxmlformats.org/drawingml/2006/main">
            <a:pPr algn="ctr">
              <a:lnSpc>
                <a:spcPct val="113000"/>
              </a:lnSpc>
              <a:buNone/>
              <a:defRPr sz="3600" b="1">
                <a:solidFill>
                  <a:srgbClr val="113E7A"/>
                </a:solidFill>
                <a:latin typeface="Arial"/>
                <a:ea typeface="Arial"/>
                <a:cs typeface="Arial"/>
              </a:defRPr>
            </a:pPr>
            <a:r>
              <a:rPr sz="3600" b="1">
                <a:solidFill>
                  <a:srgbClr val="113E7A"/>
                </a:solidFill>
                <a:latin typeface="Arial"/>
                <a:ea typeface="Arial"/>
                <a:cs typeface="Arial"/>
              </a:rPr>
              <a:t>Kết luận</a:t>
            </a:r>
          </a:p>
        </p:txBody>
      </p:sp>
      <p:sp>
        <p:nvSpPr>
          <p:cNvPr id="3" name="text-151">
            <a:extLst xmlns:a="http://schemas.openxmlformats.org/drawingml/2006/main">
              <a:ext uri="{FF2B5EF4-FFF2-40B4-BE49-F238E27FC236}">
                <a16:creationId xmlns:a16="http://schemas.microsoft.com/office/drawing/2014/main" id="{F218B2C1-F058-4B96-B269-840988CE5F34}"/>
              </a:ext>
            </a:extLst>
          </p:cNvPr>
          <p:cNvSpPr>
            <a:spLocks xmlns:a="http://schemas.openxmlformats.org/drawingml/2006/main" noGrp="1"/>
          </p:cNvSpPr>
          <p:nvPr/>
        </p:nvSpPr>
        <p:spPr>
          <a:xfrm xmlns:a="http://schemas.openxmlformats.org/drawingml/2006/main">
            <a:off x="10953750" y="64579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718E"/>
                </a:solidFill>
                <a:latin typeface="Arial"/>
                <a:ea typeface="Arial"/>
                <a:cs typeface="Arial"/>
              </a:defRPr>
            </a:defPPr>
            <a:lvl1pPr algn="r">
              <a:defRPr sz="1200" b="0">
                <a:solidFill>
                  <a:srgbClr val="52718E"/>
                </a:solidFill>
                <a:latin typeface="Arial"/>
                <a:ea typeface="Arial"/>
                <a:cs typeface="Arial"/>
              </a:defRPr>
            </a:lvl1pPr>
            <a:lvl2pPr algn="r">
              <a:defRPr sz="1200" b="0">
                <a:solidFill>
                  <a:srgbClr val="52718E"/>
                </a:solidFill>
                <a:latin typeface="Arial"/>
                <a:ea typeface="Arial"/>
                <a:cs typeface="Arial"/>
              </a:defRPr>
            </a:lvl2pPr>
            <a:lvl3pPr algn="r">
              <a:defRPr sz="1200" b="0">
                <a:solidFill>
                  <a:srgbClr val="52718E"/>
                </a:solidFill>
                <a:latin typeface="Arial"/>
                <a:ea typeface="Arial"/>
                <a:cs typeface="Arial"/>
              </a:defRPr>
            </a:lvl3pPr>
            <a:lvl4pPr algn="r">
              <a:defRPr sz="1200" b="0">
                <a:solidFill>
                  <a:srgbClr val="52718E"/>
                </a:solidFill>
                <a:latin typeface="Arial"/>
                <a:ea typeface="Arial"/>
                <a:cs typeface="Arial"/>
              </a:defRPr>
            </a:lvl4pPr>
            <a:lvl5pPr algn="r">
              <a:defRPr sz="1200" b="0">
                <a:solidFill>
                  <a:srgbClr val="52718E"/>
                </a:solidFill>
                <a:latin typeface="Arial"/>
                <a:ea typeface="Arial"/>
                <a:cs typeface="Arial"/>
              </a:defRPr>
            </a:lvl5pPr>
            <a:lvl6pPr algn="r">
              <a:defRPr sz="1200" b="0">
                <a:solidFill>
                  <a:srgbClr val="52718E"/>
                </a:solidFill>
                <a:latin typeface="Arial"/>
                <a:ea typeface="Arial"/>
                <a:cs typeface="Arial"/>
              </a:defRPr>
            </a:lvl6pPr>
            <a:lvl7pPr algn="r">
              <a:defRPr sz="1200" b="0">
                <a:solidFill>
                  <a:srgbClr val="52718E"/>
                </a:solidFill>
                <a:latin typeface="Arial"/>
                <a:ea typeface="Arial"/>
                <a:cs typeface="Arial"/>
              </a:defRPr>
            </a:lvl7pPr>
            <a:lvl8pPr algn="r">
              <a:defRPr sz="1200" b="0">
                <a:solidFill>
                  <a:srgbClr val="52718E"/>
                </a:solidFill>
                <a:latin typeface="Arial"/>
                <a:ea typeface="Arial"/>
                <a:cs typeface="Arial"/>
              </a:defRPr>
            </a:lvl8pPr>
            <a:lvl9pPr algn="r">
              <a:defRPr sz="1200" b="0">
                <a:solidFill>
                  <a:srgbClr val="52718E"/>
                </a:solidFill>
                <a:latin typeface="Arial"/>
                <a:ea typeface="Arial"/>
                <a:cs typeface="Arial"/>
              </a:defRPr>
            </a:lvl9pPr>
          </a:lstStyle>
          <a:p xmlns:a="http://schemas.openxmlformats.org/drawingml/2006/main">
            <a:pPr algn="r">
              <a:lnSpc>
                <a:spcPct val="113000"/>
              </a:lnSpc>
              <a:buNone/>
              <a:defRPr sz="1200" b="0">
                <a:solidFill>
                  <a:srgbClr val="52718E"/>
                </a:solidFill>
                <a:latin typeface="Arial"/>
                <a:ea typeface="Arial"/>
                <a:cs typeface="Arial"/>
              </a:defRPr>
            </a:pPr>
            <a:r>
              <a:rPr sz="1200" b="0">
                <a:solidFill>
                  <a:srgbClr val="52718E"/>
                </a:solidFill>
                <a:latin typeface="Arial"/>
                <a:ea typeface="Arial"/>
                <a:cs typeface="Arial"/>
              </a:rPr>
              <a:t>15</a:t>
            </a:r>
          </a:p>
        </p:txBody>
      </p:sp>
      <p:sp>
        <p:nvSpPr>
          <p:cNvPr id="4" name="text-152">
            <a:extLst xmlns:a="http://schemas.openxmlformats.org/drawingml/2006/main">
              <a:ext uri="{FF2B5EF4-FFF2-40B4-BE49-F238E27FC236}">
                <a16:creationId xmlns:a16="http://schemas.microsoft.com/office/drawing/2014/main" id="{A3093A47-1192-46F4-92C8-329C20D0F789}"/>
              </a:ext>
            </a:extLst>
          </p:cNvPr>
          <p:cNvSpPr>
            <a:spLocks xmlns:a="http://schemas.openxmlformats.org/drawingml/2006/main" noGrp="1"/>
          </p:cNvSpPr>
          <p:nvPr/>
        </p:nvSpPr>
        <p:spPr>
          <a:xfrm xmlns:a="http://schemas.openxmlformats.org/drawingml/2006/main">
            <a:off x="1476375" y="190500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D2648"/>
                </a:solidFill>
                <a:latin typeface="Arial"/>
                <a:ea typeface="Arial"/>
                <a:cs typeface="Arial"/>
              </a:defRPr>
            </a:defPPr>
            <a:lvl1pPr algn="l">
              <a:defRPr sz="2025" b="0">
                <a:solidFill>
                  <a:srgbClr val="0D2648"/>
                </a:solidFill>
                <a:latin typeface="Arial"/>
                <a:ea typeface="Arial"/>
                <a:cs typeface="Arial"/>
              </a:defRPr>
            </a:lvl1pPr>
            <a:lvl2pPr algn="l">
              <a:defRPr sz="2025" b="0">
                <a:solidFill>
                  <a:srgbClr val="0D2648"/>
                </a:solidFill>
                <a:latin typeface="Arial"/>
                <a:ea typeface="Arial"/>
                <a:cs typeface="Arial"/>
              </a:defRPr>
            </a:lvl2pPr>
            <a:lvl3pPr algn="l">
              <a:defRPr sz="2025" b="0">
                <a:solidFill>
                  <a:srgbClr val="0D2648"/>
                </a:solidFill>
                <a:latin typeface="Arial"/>
                <a:ea typeface="Arial"/>
                <a:cs typeface="Arial"/>
              </a:defRPr>
            </a:lvl3pPr>
            <a:lvl4pPr algn="l">
              <a:defRPr sz="2025" b="0">
                <a:solidFill>
                  <a:srgbClr val="0D2648"/>
                </a:solidFill>
                <a:latin typeface="Arial"/>
                <a:ea typeface="Arial"/>
                <a:cs typeface="Arial"/>
              </a:defRPr>
            </a:lvl4pPr>
            <a:lvl5pPr algn="l">
              <a:defRPr sz="2025" b="0">
                <a:solidFill>
                  <a:srgbClr val="0D2648"/>
                </a:solidFill>
                <a:latin typeface="Arial"/>
                <a:ea typeface="Arial"/>
                <a:cs typeface="Arial"/>
              </a:defRPr>
            </a:lvl5pPr>
            <a:lvl6pPr algn="l">
              <a:defRPr sz="2025" b="0">
                <a:solidFill>
                  <a:srgbClr val="0D2648"/>
                </a:solidFill>
                <a:latin typeface="Arial"/>
                <a:ea typeface="Arial"/>
                <a:cs typeface="Arial"/>
              </a:defRPr>
            </a:lvl6pPr>
            <a:lvl7pPr algn="l">
              <a:defRPr sz="2025" b="0">
                <a:solidFill>
                  <a:srgbClr val="0D2648"/>
                </a:solidFill>
                <a:latin typeface="Arial"/>
                <a:ea typeface="Arial"/>
                <a:cs typeface="Arial"/>
              </a:defRPr>
            </a:lvl7pPr>
            <a:lvl8pPr algn="l">
              <a:defRPr sz="2025" b="0">
                <a:solidFill>
                  <a:srgbClr val="0D2648"/>
                </a:solidFill>
                <a:latin typeface="Arial"/>
                <a:ea typeface="Arial"/>
                <a:cs typeface="Arial"/>
              </a:defRPr>
            </a:lvl8pPr>
            <a:lvl9pPr algn="l">
              <a:defRPr sz="2025" b="0">
                <a:solidFill>
                  <a:srgbClr val="0D2648"/>
                </a:solidFill>
                <a:latin typeface="Arial"/>
                <a:ea typeface="Arial"/>
                <a:cs typeface="Arial"/>
              </a:defRPr>
            </a:lvl9pPr>
          </a:lstStyle>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01.  Hoàn thành EDA và tiền xử lý, giữ nguyên dataset gốc.</a:t>
            </a:r>
          </a:p>
        </p:txBody>
      </p:sp>
      <p:sp>
        <p:nvSpPr>
          <p:cNvPr id="5" name="text-153">
            <a:extLst xmlns:a="http://schemas.openxmlformats.org/drawingml/2006/main">
              <a:ext uri="{FF2B5EF4-FFF2-40B4-BE49-F238E27FC236}">
                <a16:creationId xmlns:a16="http://schemas.microsoft.com/office/drawing/2014/main" id="{C66A2CAF-6551-411F-AB25-48AFCA4EE90C}"/>
              </a:ext>
            </a:extLst>
          </p:cNvPr>
          <p:cNvSpPr>
            <a:spLocks xmlns:a="http://schemas.openxmlformats.org/drawingml/2006/main" noGrp="1"/>
          </p:cNvSpPr>
          <p:nvPr/>
        </p:nvSpPr>
        <p:spPr>
          <a:xfrm xmlns:a="http://schemas.openxmlformats.org/drawingml/2006/main">
            <a:off x="1476375" y="2600325"/>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D2648"/>
                </a:solidFill>
                <a:latin typeface="Arial"/>
                <a:ea typeface="Arial"/>
                <a:cs typeface="Arial"/>
              </a:defRPr>
            </a:defPPr>
            <a:lvl1pPr algn="l">
              <a:defRPr sz="2025" b="0">
                <a:solidFill>
                  <a:srgbClr val="0D2648"/>
                </a:solidFill>
                <a:latin typeface="Arial"/>
                <a:ea typeface="Arial"/>
                <a:cs typeface="Arial"/>
              </a:defRPr>
            </a:lvl1pPr>
            <a:lvl2pPr algn="l">
              <a:defRPr sz="2025" b="0">
                <a:solidFill>
                  <a:srgbClr val="0D2648"/>
                </a:solidFill>
                <a:latin typeface="Arial"/>
                <a:ea typeface="Arial"/>
                <a:cs typeface="Arial"/>
              </a:defRPr>
            </a:lvl2pPr>
            <a:lvl3pPr algn="l">
              <a:defRPr sz="2025" b="0">
                <a:solidFill>
                  <a:srgbClr val="0D2648"/>
                </a:solidFill>
                <a:latin typeface="Arial"/>
                <a:ea typeface="Arial"/>
                <a:cs typeface="Arial"/>
              </a:defRPr>
            </a:lvl3pPr>
            <a:lvl4pPr algn="l">
              <a:defRPr sz="2025" b="0">
                <a:solidFill>
                  <a:srgbClr val="0D2648"/>
                </a:solidFill>
                <a:latin typeface="Arial"/>
                <a:ea typeface="Arial"/>
                <a:cs typeface="Arial"/>
              </a:defRPr>
            </a:lvl4pPr>
            <a:lvl5pPr algn="l">
              <a:defRPr sz="2025" b="0">
                <a:solidFill>
                  <a:srgbClr val="0D2648"/>
                </a:solidFill>
                <a:latin typeface="Arial"/>
                <a:ea typeface="Arial"/>
                <a:cs typeface="Arial"/>
              </a:defRPr>
            </a:lvl5pPr>
            <a:lvl6pPr algn="l">
              <a:defRPr sz="2025" b="0">
                <a:solidFill>
                  <a:srgbClr val="0D2648"/>
                </a:solidFill>
                <a:latin typeface="Arial"/>
                <a:ea typeface="Arial"/>
                <a:cs typeface="Arial"/>
              </a:defRPr>
            </a:lvl6pPr>
            <a:lvl7pPr algn="l">
              <a:defRPr sz="2025" b="0">
                <a:solidFill>
                  <a:srgbClr val="0D2648"/>
                </a:solidFill>
                <a:latin typeface="Arial"/>
                <a:ea typeface="Arial"/>
                <a:cs typeface="Arial"/>
              </a:defRPr>
            </a:lvl7pPr>
            <a:lvl8pPr algn="l">
              <a:defRPr sz="2025" b="0">
                <a:solidFill>
                  <a:srgbClr val="0D2648"/>
                </a:solidFill>
                <a:latin typeface="Arial"/>
                <a:ea typeface="Arial"/>
                <a:cs typeface="Arial"/>
              </a:defRPr>
            </a:lvl8pPr>
            <a:lvl9pPr algn="l">
              <a:defRPr sz="2025" b="0">
                <a:solidFill>
                  <a:srgbClr val="0D2648"/>
                </a:solidFill>
                <a:latin typeface="Arial"/>
                <a:ea typeface="Arial"/>
                <a:cs typeface="Arial"/>
              </a:defRPr>
            </a:lvl9pPr>
          </a:lstStyle>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02.  Huấn luyện và so sánh Logistic Regression, Random Forest, XGBoost.</a:t>
            </a:r>
          </a:p>
        </p:txBody>
      </p:sp>
      <p:sp>
        <p:nvSpPr>
          <p:cNvPr id="6" name="text-154">
            <a:extLst xmlns:a="http://schemas.openxmlformats.org/drawingml/2006/main">
              <a:ext uri="{FF2B5EF4-FFF2-40B4-BE49-F238E27FC236}">
                <a16:creationId xmlns:a16="http://schemas.microsoft.com/office/drawing/2014/main" id="{9EE3B934-7F2A-418F-90A3-D1F4A9621C57}"/>
              </a:ext>
            </a:extLst>
          </p:cNvPr>
          <p:cNvSpPr>
            <a:spLocks xmlns:a="http://schemas.openxmlformats.org/drawingml/2006/main" noGrp="1"/>
          </p:cNvSpPr>
          <p:nvPr/>
        </p:nvSpPr>
        <p:spPr>
          <a:xfrm xmlns:a="http://schemas.openxmlformats.org/drawingml/2006/main">
            <a:off x="1476375" y="329565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D2648"/>
                </a:solidFill>
                <a:latin typeface="Arial"/>
                <a:ea typeface="Arial"/>
                <a:cs typeface="Arial"/>
              </a:defRPr>
            </a:defPPr>
            <a:lvl1pPr algn="l">
              <a:defRPr sz="2025" b="0">
                <a:solidFill>
                  <a:srgbClr val="0D2648"/>
                </a:solidFill>
                <a:latin typeface="Arial"/>
                <a:ea typeface="Arial"/>
                <a:cs typeface="Arial"/>
              </a:defRPr>
            </a:lvl1pPr>
            <a:lvl2pPr algn="l">
              <a:defRPr sz="2025" b="0">
                <a:solidFill>
                  <a:srgbClr val="0D2648"/>
                </a:solidFill>
                <a:latin typeface="Arial"/>
                <a:ea typeface="Arial"/>
                <a:cs typeface="Arial"/>
              </a:defRPr>
            </a:lvl2pPr>
            <a:lvl3pPr algn="l">
              <a:defRPr sz="2025" b="0">
                <a:solidFill>
                  <a:srgbClr val="0D2648"/>
                </a:solidFill>
                <a:latin typeface="Arial"/>
                <a:ea typeface="Arial"/>
                <a:cs typeface="Arial"/>
              </a:defRPr>
            </a:lvl3pPr>
            <a:lvl4pPr algn="l">
              <a:defRPr sz="2025" b="0">
                <a:solidFill>
                  <a:srgbClr val="0D2648"/>
                </a:solidFill>
                <a:latin typeface="Arial"/>
                <a:ea typeface="Arial"/>
                <a:cs typeface="Arial"/>
              </a:defRPr>
            </a:lvl4pPr>
            <a:lvl5pPr algn="l">
              <a:defRPr sz="2025" b="0">
                <a:solidFill>
                  <a:srgbClr val="0D2648"/>
                </a:solidFill>
                <a:latin typeface="Arial"/>
                <a:ea typeface="Arial"/>
                <a:cs typeface="Arial"/>
              </a:defRPr>
            </a:lvl5pPr>
            <a:lvl6pPr algn="l">
              <a:defRPr sz="2025" b="0">
                <a:solidFill>
                  <a:srgbClr val="0D2648"/>
                </a:solidFill>
                <a:latin typeface="Arial"/>
                <a:ea typeface="Arial"/>
                <a:cs typeface="Arial"/>
              </a:defRPr>
            </a:lvl6pPr>
            <a:lvl7pPr algn="l">
              <a:defRPr sz="2025" b="0">
                <a:solidFill>
                  <a:srgbClr val="0D2648"/>
                </a:solidFill>
                <a:latin typeface="Arial"/>
                <a:ea typeface="Arial"/>
                <a:cs typeface="Arial"/>
              </a:defRPr>
            </a:lvl7pPr>
            <a:lvl8pPr algn="l">
              <a:defRPr sz="2025" b="0">
                <a:solidFill>
                  <a:srgbClr val="0D2648"/>
                </a:solidFill>
                <a:latin typeface="Arial"/>
                <a:ea typeface="Arial"/>
                <a:cs typeface="Arial"/>
              </a:defRPr>
            </a:lvl8pPr>
            <a:lvl9pPr algn="l">
              <a:defRPr sz="2025" b="0">
                <a:solidFill>
                  <a:srgbClr val="0D2648"/>
                </a:solidFill>
                <a:latin typeface="Arial"/>
                <a:ea typeface="Arial"/>
                <a:cs typeface="Arial"/>
              </a:defRPr>
            </a:lvl9pPr>
          </a:lstStyle>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03.  Chọn Random Forest bằng validation, chốt ngưỡng 0,37.</a:t>
            </a:r>
          </a:p>
        </p:txBody>
      </p:sp>
      <p:sp>
        <p:nvSpPr>
          <p:cNvPr id="7" name="text-155">
            <a:extLst xmlns:a="http://schemas.openxmlformats.org/drawingml/2006/main">
              <a:ext uri="{FF2B5EF4-FFF2-40B4-BE49-F238E27FC236}">
                <a16:creationId xmlns:a16="http://schemas.microsoft.com/office/drawing/2014/main" id="{D8326CBF-B272-44EA-B551-F6A5FE8D86B8}"/>
              </a:ext>
            </a:extLst>
          </p:cNvPr>
          <p:cNvSpPr>
            <a:spLocks xmlns:a="http://schemas.openxmlformats.org/drawingml/2006/main" noGrp="1"/>
          </p:cNvSpPr>
          <p:nvPr/>
        </p:nvSpPr>
        <p:spPr>
          <a:xfrm xmlns:a="http://schemas.openxmlformats.org/drawingml/2006/main">
            <a:off x="1476375" y="3990975"/>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D2648"/>
                </a:solidFill>
                <a:latin typeface="Arial"/>
                <a:ea typeface="Arial"/>
                <a:cs typeface="Arial"/>
              </a:defRPr>
            </a:defPPr>
            <a:lvl1pPr algn="l">
              <a:defRPr sz="2025" b="0">
                <a:solidFill>
                  <a:srgbClr val="0D2648"/>
                </a:solidFill>
                <a:latin typeface="Arial"/>
                <a:ea typeface="Arial"/>
                <a:cs typeface="Arial"/>
              </a:defRPr>
            </a:lvl1pPr>
            <a:lvl2pPr algn="l">
              <a:defRPr sz="2025" b="0">
                <a:solidFill>
                  <a:srgbClr val="0D2648"/>
                </a:solidFill>
                <a:latin typeface="Arial"/>
                <a:ea typeface="Arial"/>
                <a:cs typeface="Arial"/>
              </a:defRPr>
            </a:lvl2pPr>
            <a:lvl3pPr algn="l">
              <a:defRPr sz="2025" b="0">
                <a:solidFill>
                  <a:srgbClr val="0D2648"/>
                </a:solidFill>
                <a:latin typeface="Arial"/>
                <a:ea typeface="Arial"/>
                <a:cs typeface="Arial"/>
              </a:defRPr>
            </a:lvl3pPr>
            <a:lvl4pPr algn="l">
              <a:defRPr sz="2025" b="0">
                <a:solidFill>
                  <a:srgbClr val="0D2648"/>
                </a:solidFill>
                <a:latin typeface="Arial"/>
                <a:ea typeface="Arial"/>
                <a:cs typeface="Arial"/>
              </a:defRPr>
            </a:lvl4pPr>
            <a:lvl5pPr algn="l">
              <a:defRPr sz="2025" b="0">
                <a:solidFill>
                  <a:srgbClr val="0D2648"/>
                </a:solidFill>
                <a:latin typeface="Arial"/>
                <a:ea typeface="Arial"/>
                <a:cs typeface="Arial"/>
              </a:defRPr>
            </a:lvl5pPr>
            <a:lvl6pPr algn="l">
              <a:defRPr sz="2025" b="0">
                <a:solidFill>
                  <a:srgbClr val="0D2648"/>
                </a:solidFill>
                <a:latin typeface="Arial"/>
                <a:ea typeface="Arial"/>
                <a:cs typeface="Arial"/>
              </a:defRPr>
            </a:lvl6pPr>
            <a:lvl7pPr algn="l">
              <a:defRPr sz="2025" b="0">
                <a:solidFill>
                  <a:srgbClr val="0D2648"/>
                </a:solidFill>
                <a:latin typeface="Arial"/>
                <a:ea typeface="Arial"/>
                <a:cs typeface="Arial"/>
              </a:defRPr>
            </a:lvl7pPr>
            <a:lvl8pPr algn="l">
              <a:defRPr sz="2025" b="0">
                <a:solidFill>
                  <a:srgbClr val="0D2648"/>
                </a:solidFill>
                <a:latin typeface="Arial"/>
                <a:ea typeface="Arial"/>
                <a:cs typeface="Arial"/>
              </a:defRPr>
            </a:lvl8pPr>
            <a:lvl9pPr algn="l">
              <a:defRPr sz="2025" b="0">
                <a:solidFill>
                  <a:srgbClr val="0D2648"/>
                </a:solidFill>
                <a:latin typeface="Arial"/>
                <a:ea typeface="Arial"/>
                <a:cs typeface="Arial"/>
              </a:defRPr>
            </a:lvl9pPr>
          </a:lstStyle>
          <a:p xmlns:a="http://schemas.openxmlformats.org/drawingml/2006/main">
            <a:pPr algn="l">
              <a:lnSpc>
                <a:spcPct val="113000"/>
              </a:lnSpc>
              <a:buNone/>
              <a:defRPr sz="2025" b="0">
                <a:solidFill>
                  <a:srgbClr val="0D2648"/>
                </a:solidFill>
                <a:latin typeface="Arial"/>
                <a:ea typeface="Arial"/>
                <a:cs typeface="Arial"/>
              </a:defRPr>
            </a:pPr>
            <a:r>
              <a:rPr sz="2025" b="0">
                <a:solidFill>
                  <a:srgbClr val="0D2648"/>
                </a:solidFill>
                <a:latin typeface="Arial"/>
                <a:ea typeface="Arial"/>
                <a:cs typeface="Arial"/>
              </a:rPr>
              <a:t>04.  Đánh giá test độc lập và hoàn thiện demo Streamlit.</a:t>
            </a:r>
          </a:p>
        </p:txBody>
      </p:sp>
      <p:sp>
        <p:nvSpPr>
          <p:cNvPr id="8" name="text-156">
            <a:extLst xmlns:a="http://schemas.openxmlformats.org/drawingml/2006/main">
              <a:ext uri="{FF2B5EF4-FFF2-40B4-BE49-F238E27FC236}">
                <a16:creationId xmlns:a16="http://schemas.microsoft.com/office/drawing/2014/main" id="{17B6A6E6-21CF-422E-A74E-8C2B89B3E79E}"/>
              </a:ext>
            </a:extLst>
          </p:cNvPr>
          <p:cNvSpPr>
            <a:spLocks xmlns:a="http://schemas.openxmlformats.org/drawingml/2006/main" noGrp="1"/>
          </p:cNvSpPr>
          <p:nvPr/>
        </p:nvSpPr>
        <p:spPr>
          <a:xfrm xmlns:a="http://schemas.openxmlformats.org/drawingml/2006/main">
            <a:off x="1381125" y="4943475"/>
            <a:ext cx="942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113E7A"/>
                </a:solidFill>
                <a:latin typeface="Arial"/>
                <a:ea typeface="Arial"/>
                <a:cs typeface="Arial"/>
              </a:defRPr>
            </a:defPPr>
            <a:lvl1pPr algn="ctr">
              <a:defRPr sz="2100" b="1">
                <a:solidFill>
                  <a:srgbClr val="113E7A"/>
                </a:solidFill>
                <a:latin typeface="Arial"/>
                <a:ea typeface="Arial"/>
                <a:cs typeface="Arial"/>
              </a:defRPr>
            </a:lvl1pPr>
            <a:lvl2pPr algn="ctr">
              <a:defRPr sz="2100" b="1">
                <a:solidFill>
                  <a:srgbClr val="113E7A"/>
                </a:solidFill>
                <a:latin typeface="Arial"/>
                <a:ea typeface="Arial"/>
                <a:cs typeface="Arial"/>
              </a:defRPr>
            </a:lvl2pPr>
            <a:lvl3pPr algn="ctr">
              <a:defRPr sz="2100" b="1">
                <a:solidFill>
                  <a:srgbClr val="113E7A"/>
                </a:solidFill>
                <a:latin typeface="Arial"/>
                <a:ea typeface="Arial"/>
                <a:cs typeface="Arial"/>
              </a:defRPr>
            </a:lvl3pPr>
            <a:lvl4pPr algn="ctr">
              <a:defRPr sz="2100" b="1">
                <a:solidFill>
                  <a:srgbClr val="113E7A"/>
                </a:solidFill>
                <a:latin typeface="Arial"/>
                <a:ea typeface="Arial"/>
                <a:cs typeface="Arial"/>
              </a:defRPr>
            </a:lvl4pPr>
            <a:lvl5pPr algn="ctr">
              <a:defRPr sz="2100" b="1">
                <a:solidFill>
                  <a:srgbClr val="113E7A"/>
                </a:solidFill>
                <a:latin typeface="Arial"/>
                <a:ea typeface="Arial"/>
                <a:cs typeface="Arial"/>
              </a:defRPr>
            </a:lvl5pPr>
            <a:lvl6pPr algn="ctr">
              <a:defRPr sz="2100" b="1">
                <a:solidFill>
                  <a:srgbClr val="113E7A"/>
                </a:solidFill>
                <a:latin typeface="Arial"/>
                <a:ea typeface="Arial"/>
                <a:cs typeface="Arial"/>
              </a:defRPr>
            </a:lvl6pPr>
            <a:lvl7pPr algn="ctr">
              <a:defRPr sz="2100" b="1">
                <a:solidFill>
                  <a:srgbClr val="113E7A"/>
                </a:solidFill>
                <a:latin typeface="Arial"/>
                <a:ea typeface="Arial"/>
                <a:cs typeface="Arial"/>
              </a:defRPr>
            </a:lvl7pPr>
            <a:lvl8pPr algn="ctr">
              <a:defRPr sz="2100" b="1">
                <a:solidFill>
                  <a:srgbClr val="113E7A"/>
                </a:solidFill>
                <a:latin typeface="Arial"/>
                <a:ea typeface="Arial"/>
                <a:cs typeface="Arial"/>
              </a:defRPr>
            </a:lvl8pPr>
            <a:lvl9pPr algn="ctr">
              <a:defRPr sz="2100" b="1">
                <a:solidFill>
                  <a:srgbClr val="113E7A"/>
                </a:solidFill>
                <a:latin typeface="Arial"/>
                <a:ea typeface="Arial"/>
                <a:cs typeface="Arial"/>
              </a:defRPr>
            </a:lvl9pPr>
          </a:lstStyle>
          <a:p xmlns:a="http://schemas.openxmlformats.org/drawingml/2006/main">
            <a:pPr algn="ctr">
              <a:lnSpc>
                <a:spcPct val="113000"/>
              </a:lnSpc>
              <a:buNone/>
              <a:defRPr sz="2100" b="1">
                <a:solidFill>
                  <a:srgbClr val="113E7A"/>
                </a:solidFill>
                <a:latin typeface="Arial"/>
                <a:ea typeface="Arial"/>
                <a:cs typeface="Arial"/>
              </a:defRPr>
            </a:pPr>
            <a:r>
              <a:rPr sz="2100" b="1">
                <a:solidFill>
                  <a:srgbClr val="113E7A"/>
                </a:solidFill>
                <a:latin typeface="Arial"/>
                <a:ea typeface="Arial"/>
                <a:cs typeface="Arial"/>
              </a:rPr>
              <a:t>Hệ thống hỗ trợ ưu tiên kiểm tra các giao dịch đáng nghi ngờ.</a:t>
            </a:r>
          </a:p>
        </p:txBody>
      </p:sp>
      <p:sp>
        <p:nvSpPr>
          <p:cNvPr id="9" name="text-157">
            <a:extLst xmlns:a="http://schemas.openxmlformats.org/drawingml/2006/main">
              <a:ext uri="{FF2B5EF4-FFF2-40B4-BE49-F238E27FC236}">
                <a16:creationId xmlns:a16="http://schemas.microsoft.com/office/drawing/2014/main" id="{17D9E72C-A1D1-4FAF-B9DD-432A826DADA5}"/>
              </a:ext>
            </a:extLst>
          </p:cNvPr>
          <p:cNvSpPr>
            <a:spLocks xmlns:a="http://schemas.openxmlformats.org/drawingml/2006/main" noGrp="1"/>
          </p:cNvSpPr>
          <p:nvPr/>
        </p:nvSpPr>
        <p:spPr>
          <a:xfrm xmlns:a="http://schemas.openxmlformats.org/drawingml/2006/main">
            <a:off x="1381125" y="5743575"/>
            <a:ext cx="942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a:solidFill>
                  <a:srgbClr val="113E7A"/>
                </a:solidFill>
                <a:latin typeface="Arial"/>
                <a:ea typeface="Arial"/>
                <a:cs typeface="Arial"/>
              </a:defRPr>
            </a:defPPr>
            <a:lvl1pPr algn="ctr">
              <a:defRPr sz="2550" b="1">
                <a:solidFill>
                  <a:srgbClr val="113E7A"/>
                </a:solidFill>
                <a:latin typeface="Arial"/>
                <a:ea typeface="Arial"/>
                <a:cs typeface="Arial"/>
              </a:defRPr>
            </a:lvl1pPr>
            <a:lvl2pPr algn="ctr">
              <a:defRPr sz="2550" b="1">
                <a:solidFill>
                  <a:srgbClr val="113E7A"/>
                </a:solidFill>
                <a:latin typeface="Arial"/>
                <a:ea typeface="Arial"/>
                <a:cs typeface="Arial"/>
              </a:defRPr>
            </a:lvl2pPr>
            <a:lvl3pPr algn="ctr">
              <a:defRPr sz="2550" b="1">
                <a:solidFill>
                  <a:srgbClr val="113E7A"/>
                </a:solidFill>
                <a:latin typeface="Arial"/>
                <a:ea typeface="Arial"/>
                <a:cs typeface="Arial"/>
              </a:defRPr>
            </a:lvl3pPr>
            <a:lvl4pPr algn="ctr">
              <a:defRPr sz="2550" b="1">
                <a:solidFill>
                  <a:srgbClr val="113E7A"/>
                </a:solidFill>
                <a:latin typeface="Arial"/>
                <a:ea typeface="Arial"/>
                <a:cs typeface="Arial"/>
              </a:defRPr>
            </a:lvl4pPr>
            <a:lvl5pPr algn="ctr">
              <a:defRPr sz="2550" b="1">
                <a:solidFill>
                  <a:srgbClr val="113E7A"/>
                </a:solidFill>
                <a:latin typeface="Arial"/>
                <a:ea typeface="Arial"/>
                <a:cs typeface="Arial"/>
              </a:defRPr>
            </a:lvl5pPr>
            <a:lvl6pPr algn="ctr">
              <a:defRPr sz="2550" b="1">
                <a:solidFill>
                  <a:srgbClr val="113E7A"/>
                </a:solidFill>
                <a:latin typeface="Arial"/>
                <a:ea typeface="Arial"/>
                <a:cs typeface="Arial"/>
              </a:defRPr>
            </a:lvl6pPr>
            <a:lvl7pPr algn="ctr">
              <a:defRPr sz="2550" b="1">
                <a:solidFill>
                  <a:srgbClr val="113E7A"/>
                </a:solidFill>
                <a:latin typeface="Arial"/>
                <a:ea typeface="Arial"/>
                <a:cs typeface="Arial"/>
              </a:defRPr>
            </a:lvl7pPr>
            <a:lvl8pPr algn="ctr">
              <a:defRPr sz="2550" b="1">
                <a:solidFill>
                  <a:srgbClr val="113E7A"/>
                </a:solidFill>
                <a:latin typeface="Arial"/>
                <a:ea typeface="Arial"/>
                <a:cs typeface="Arial"/>
              </a:defRPr>
            </a:lvl8pPr>
            <a:lvl9pPr algn="ctr">
              <a:defRPr sz="2550" b="1">
                <a:solidFill>
                  <a:srgbClr val="113E7A"/>
                </a:solidFill>
                <a:latin typeface="Arial"/>
                <a:ea typeface="Arial"/>
                <a:cs typeface="Arial"/>
              </a:defRPr>
            </a:lvl9pPr>
          </a:lstStyle>
          <a:p xmlns:a="http://schemas.openxmlformats.org/drawingml/2006/main">
            <a:pPr algn="ctr">
              <a:lnSpc>
                <a:spcPct val="113000"/>
              </a:lnSpc>
              <a:buNone/>
              <a:defRPr sz="2550" b="1">
                <a:solidFill>
                  <a:srgbClr val="113E7A"/>
                </a:solidFill>
                <a:latin typeface="Arial"/>
                <a:ea typeface="Arial"/>
                <a:cs typeface="Arial"/>
              </a:defRPr>
            </a:pPr>
            <a:r>
              <a:rPr sz="2550" b="1">
                <a:solidFill>
                  <a:srgbClr val="113E7A"/>
                </a:solidFill>
                <a:latin typeface="Arial"/>
                <a:ea typeface="Arial"/>
                <a:cs typeface="Arial"/>
              </a:rPr>
              <a:t>Cảm ơn thầy/cô và các bạn đã lắng nghe!</a:t>
            </a:r>
          </a:p>
        </p:txBody>
      </p:sp>
    </p:spTree>
    <p:extLst>
      <p:ext uri="{BB962C8B-B14F-4D97-AF65-F5344CB8AC3E}">
        <p14:creationId xmlns:p14="http://schemas.microsoft.com/office/powerpoint/2010/main" val="853575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2026-10-24T10:45:52.3510000Z</dcterms:created>
  <dcterms:modified xsi:type="dcterms:W3CDTF">2026-10-24T10:45:52.3510000Z</dcterms:modified>
</coreProperties>
</file>